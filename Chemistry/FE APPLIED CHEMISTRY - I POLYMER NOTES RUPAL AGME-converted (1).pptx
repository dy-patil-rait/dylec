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10058400" cy="7772400"/>
  <p:notesSz cx="10058400" cy="7772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45720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53440" y="1577339"/>
            <a:ext cx="8353425" cy="12700"/>
          </a:xfrm>
          <a:custGeom>
            <a:avLst/>
            <a:gdLst/>
            <a:ahLst/>
            <a:cxnLst/>
            <a:rect l="l" t="t" r="r" b="b"/>
            <a:pathLst>
              <a:path w="8353425" h="12700">
                <a:moveTo>
                  <a:pt x="8353044" y="12192"/>
                </a:moveTo>
                <a:lnTo>
                  <a:pt x="0" y="12192"/>
                </a:lnTo>
                <a:lnTo>
                  <a:pt x="0" y="0"/>
                </a:lnTo>
                <a:lnTo>
                  <a:pt x="8353044" y="0"/>
                </a:lnTo>
                <a:lnTo>
                  <a:pt x="8353044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153" y="1029689"/>
            <a:ext cx="8072092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F3F3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fld id="{81D60167-4931-47E6-BA6A-407CBD079E47}" type="slidenum">
              <a:rPr dirty="0" spc="7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E1C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F3F3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fld id="{81D60167-4931-47E6-BA6A-407CBD079E47}" type="slidenum">
              <a:rPr dirty="0" spc="7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E1C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F3F3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fld id="{81D60167-4931-47E6-BA6A-407CBD079E47}" type="slidenum">
              <a:rPr dirty="0" spc="7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E1C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F3F3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fld id="{81D60167-4931-47E6-BA6A-407CBD079E47}" type="slidenum">
              <a:rPr dirty="0" spc="7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F3F3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fld id="{81D60167-4931-47E6-BA6A-407CBD079E47}" type="slidenum">
              <a:rPr dirty="0" spc="7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3439" y="1577339"/>
            <a:ext cx="8353425" cy="12700"/>
          </a:xfrm>
          <a:custGeom>
            <a:avLst/>
            <a:gdLst/>
            <a:ahLst/>
            <a:cxnLst/>
            <a:rect l="l" t="t" r="r" b="b"/>
            <a:pathLst>
              <a:path w="8353425" h="12700">
                <a:moveTo>
                  <a:pt x="8353044" y="12192"/>
                </a:moveTo>
                <a:lnTo>
                  <a:pt x="0" y="12192"/>
                </a:lnTo>
                <a:lnTo>
                  <a:pt x="0" y="0"/>
                </a:lnTo>
                <a:lnTo>
                  <a:pt x="8353044" y="0"/>
                </a:lnTo>
                <a:lnTo>
                  <a:pt x="8353044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835" y="688358"/>
            <a:ext cx="8380729" cy="909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9E1C3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077" y="1477750"/>
            <a:ext cx="8125459" cy="5073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4586" y="6861366"/>
            <a:ext cx="3919854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03779" y="6880117"/>
            <a:ext cx="249555" cy="23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F3F3F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fld id="{81D60167-4931-47E6-BA6A-407CBD079E47}" type="slidenum">
              <a:rPr dirty="0" spc="7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7.jpg"/><Relationship Id="rId4" Type="http://schemas.openxmlformats.org/officeDocument/2006/relationships/image" Target="../media/image10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7.jpg"/><Relationship Id="rId4" Type="http://schemas.openxmlformats.org/officeDocument/2006/relationships/image" Target="../media/image1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7.jpg"/><Relationship Id="rId4" Type="http://schemas.openxmlformats.org/officeDocument/2006/relationships/image" Target="../media/image1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7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image" Target="../media/image7.jpg"/><Relationship Id="rId4" Type="http://schemas.openxmlformats.org/officeDocument/2006/relationships/image" Target="../media/image19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20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7.jpg"/><Relationship Id="rId5" Type="http://schemas.openxmlformats.org/officeDocument/2006/relationships/image" Target="../media/image23.jpg"/><Relationship Id="rId6" Type="http://schemas.openxmlformats.org/officeDocument/2006/relationships/image" Target="../media/image24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7.jpg"/><Relationship Id="rId4" Type="http://schemas.openxmlformats.org/officeDocument/2006/relationships/image" Target="../media/image27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Relationship Id="rId3" Type="http://schemas.openxmlformats.org/officeDocument/2006/relationships/image" Target="../media/image7.jpg"/><Relationship Id="rId4" Type="http://schemas.openxmlformats.org/officeDocument/2006/relationships/image" Target="../media/image29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30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13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7.jpg"/><Relationship Id="rId5" Type="http://schemas.openxmlformats.org/officeDocument/2006/relationships/image" Target="../media/image34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7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13.jp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7.jp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Relationship Id="rId3" Type="http://schemas.openxmlformats.org/officeDocument/2006/relationships/image" Target="../media/image7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Relationship Id="rId3" Type="http://schemas.openxmlformats.org/officeDocument/2006/relationships/image" Target="../media/image7.jpg"/><Relationship Id="rId4" Type="http://schemas.openxmlformats.org/officeDocument/2006/relationships/image" Target="../media/image41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7.jp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6858000"/>
            <a:chOff x="457200" y="45720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" y="457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9E1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590544" y="2157983"/>
              <a:ext cx="3023616" cy="13380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9E1C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20142" y="4380154"/>
            <a:ext cx="7661275" cy="1195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0395" marR="5080" indent="-608330">
              <a:lnSpc>
                <a:spcPct val="120000"/>
              </a:lnSpc>
              <a:spcBef>
                <a:spcPts val="95"/>
              </a:spcBef>
              <a:tabLst>
                <a:tab pos="285115" algn="l"/>
              </a:tabLst>
            </a:pPr>
            <a:r>
              <a:rPr dirty="0" u="heavy" sz="3200" spc="-214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</a:t>
            </a:r>
            <a:r>
              <a:rPr dirty="0" sz="3200" spc="-214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u="heavy" sz="32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ubject </a:t>
            </a:r>
            <a:r>
              <a:rPr dirty="0" u="heavy" sz="32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Name: APPLIED </a:t>
            </a:r>
            <a:r>
              <a:rPr dirty="0" u="heavy" sz="3200" spc="-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CHEMISTRY</a:t>
            </a:r>
            <a:r>
              <a:rPr dirty="0" u="heavy" sz="3200" spc="-2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32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-1 </a:t>
            </a:r>
            <a:r>
              <a:rPr dirty="0" sz="32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Arial"/>
                <a:cs typeface="Arial"/>
              </a:rPr>
              <a:t>Unit </a:t>
            </a:r>
            <a:r>
              <a:rPr dirty="0" sz="3200" b="1">
                <a:solidFill>
                  <a:srgbClr val="FFFFFF"/>
                </a:solidFill>
                <a:latin typeface="Arial"/>
                <a:cs typeface="Arial"/>
              </a:rPr>
              <a:t>No:2 </a:t>
            </a:r>
            <a:r>
              <a:rPr dirty="0" sz="3200" spc="-5" b="1">
                <a:solidFill>
                  <a:srgbClr val="FFFFFF"/>
                </a:solidFill>
                <a:latin typeface="Arial"/>
                <a:cs typeface="Arial"/>
              </a:rPr>
              <a:t>Unit Name:</a:t>
            </a:r>
            <a:r>
              <a:rPr dirty="0" sz="32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200" spc="-40" b="1">
                <a:solidFill>
                  <a:srgbClr val="FFFFFF"/>
                </a:solidFill>
                <a:latin typeface="Arial"/>
                <a:cs typeface="Arial"/>
              </a:rPr>
              <a:t>POLYMERS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3609" y="6484091"/>
            <a:ext cx="56457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Faculty </a:t>
            </a:r>
            <a:r>
              <a:rPr dirty="0" sz="2000" spc="5">
                <a:solidFill>
                  <a:srgbClr val="FFFFFF"/>
                </a:solidFill>
                <a:latin typeface="Arial"/>
                <a:cs typeface="Arial"/>
              </a:rPr>
              <a:t>Name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: Mrs. Rupal 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Agme-Jadhav,</a:t>
            </a:r>
            <a:r>
              <a:rPr dirty="0" sz="2000" spc="-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(Ph.D.)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841" y="933751"/>
            <a:ext cx="824230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45">
                <a:latin typeface="Georgia"/>
                <a:cs typeface="Georgia"/>
              </a:rPr>
              <a:t>Index</a:t>
            </a:r>
            <a:r>
              <a:rPr dirty="0" sz="2000" spc="-180">
                <a:latin typeface="Georgia"/>
                <a:cs typeface="Georgia"/>
              </a:rPr>
              <a:t> </a:t>
            </a:r>
            <a:r>
              <a:rPr dirty="0" sz="2000" spc="-85">
                <a:latin typeface="Georgia"/>
                <a:cs typeface="Georgia"/>
              </a:rPr>
              <a:t>-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98219" y="2360676"/>
            <a:ext cx="8063865" cy="504825"/>
            <a:chOff x="998219" y="2360676"/>
            <a:chExt cx="8063865" cy="504825"/>
          </a:xfrm>
        </p:grpSpPr>
        <p:sp>
          <p:nvSpPr>
            <p:cNvPr id="4" name="object 4"/>
            <p:cNvSpPr/>
            <p:nvPr/>
          </p:nvSpPr>
          <p:spPr>
            <a:xfrm>
              <a:off x="998220" y="2368295"/>
              <a:ext cx="8063865" cy="497205"/>
            </a:xfrm>
            <a:custGeom>
              <a:avLst/>
              <a:gdLst/>
              <a:ahLst/>
              <a:cxnLst/>
              <a:rect l="l" t="t" r="r" b="b"/>
              <a:pathLst>
                <a:path w="8063865" h="497205">
                  <a:moveTo>
                    <a:pt x="8063484" y="0"/>
                  </a:moveTo>
                  <a:lnTo>
                    <a:pt x="4030980" y="0"/>
                  </a:lnTo>
                  <a:lnTo>
                    <a:pt x="0" y="0"/>
                  </a:lnTo>
                  <a:lnTo>
                    <a:pt x="0" y="496824"/>
                  </a:lnTo>
                  <a:lnTo>
                    <a:pt x="4030980" y="496824"/>
                  </a:lnTo>
                  <a:lnTo>
                    <a:pt x="8063484" y="496824"/>
                  </a:lnTo>
                  <a:lnTo>
                    <a:pt x="8063484" y="0"/>
                  </a:lnTo>
                  <a:close/>
                </a:path>
              </a:pathLst>
            </a:custGeom>
            <a:solidFill>
              <a:srgbClr val="BF504D">
                <a:alpha val="1992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98220" y="2360676"/>
              <a:ext cx="8063865" cy="13970"/>
            </a:xfrm>
            <a:custGeom>
              <a:avLst/>
              <a:gdLst/>
              <a:ahLst/>
              <a:cxnLst/>
              <a:rect l="l" t="t" r="r" b="b"/>
              <a:pathLst>
                <a:path w="8063865" h="13969">
                  <a:moveTo>
                    <a:pt x="8063484" y="13716"/>
                  </a:moveTo>
                  <a:lnTo>
                    <a:pt x="0" y="13716"/>
                  </a:lnTo>
                  <a:lnTo>
                    <a:pt x="0" y="0"/>
                  </a:lnTo>
                  <a:lnTo>
                    <a:pt x="8063484" y="0"/>
                  </a:lnTo>
                  <a:lnTo>
                    <a:pt x="8063484" y="13716"/>
                  </a:lnTo>
                  <a:close/>
                </a:path>
              </a:pathLst>
            </a:custGeom>
            <a:solidFill>
              <a:srgbClr val="BF5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998220" y="3220211"/>
            <a:ext cx="8063865" cy="489584"/>
          </a:xfrm>
          <a:custGeom>
            <a:avLst/>
            <a:gdLst/>
            <a:ahLst/>
            <a:cxnLst/>
            <a:rect l="l" t="t" r="r" b="b"/>
            <a:pathLst>
              <a:path w="8063865" h="489585">
                <a:moveTo>
                  <a:pt x="8063484" y="0"/>
                </a:moveTo>
                <a:lnTo>
                  <a:pt x="4030980" y="0"/>
                </a:lnTo>
                <a:lnTo>
                  <a:pt x="0" y="0"/>
                </a:lnTo>
                <a:lnTo>
                  <a:pt x="0" y="489204"/>
                </a:lnTo>
                <a:lnTo>
                  <a:pt x="4030980" y="489204"/>
                </a:lnTo>
                <a:lnTo>
                  <a:pt x="8063484" y="489204"/>
                </a:lnTo>
                <a:lnTo>
                  <a:pt x="8063484" y="0"/>
                </a:lnTo>
                <a:close/>
              </a:path>
            </a:pathLst>
          </a:custGeom>
          <a:solidFill>
            <a:srgbClr val="BF504D">
              <a:alpha val="19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98220" y="1863852"/>
            <a:ext cx="8063865" cy="13970"/>
          </a:xfrm>
          <a:custGeom>
            <a:avLst/>
            <a:gdLst/>
            <a:ahLst/>
            <a:cxnLst/>
            <a:rect l="l" t="t" r="r" b="b"/>
            <a:pathLst>
              <a:path w="8063865" h="13969">
                <a:moveTo>
                  <a:pt x="8063484" y="13716"/>
                </a:moveTo>
                <a:lnTo>
                  <a:pt x="0" y="13716"/>
                </a:lnTo>
                <a:lnTo>
                  <a:pt x="0" y="0"/>
                </a:lnTo>
                <a:lnTo>
                  <a:pt x="8063484" y="0"/>
                </a:lnTo>
                <a:lnTo>
                  <a:pt x="8063484" y="13716"/>
                </a:lnTo>
                <a:close/>
              </a:path>
            </a:pathLst>
          </a:custGeom>
          <a:solidFill>
            <a:srgbClr val="BF50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75464" y="1902918"/>
            <a:ext cx="230124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 </a:t>
            </a:r>
            <a:r>
              <a:rPr dirty="0" sz="1300" spc="65">
                <a:latin typeface="Times New Roman"/>
                <a:cs typeface="Times New Roman"/>
              </a:rPr>
              <a:t>1 </a:t>
            </a:r>
            <a:r>
              <a:rPr dirty="0" sz="1300" spc="-5">
                <a:latin typeface="Times New Roman"/>
                <a:cs typeface="Times New Roman"/>
              </a:rPr>
              <a:t>– </a:t>
            </a:r>
            <a:r>
              <a:rPr dirty="0" sz="1300" spc="30">
                <a:latin typeface="Times New Roman"/>
                <a:cs typeface="Times New Roman"/>
              </a:rPr>
              <a:t>Polymers </a:t>
            </a:r>
            <a:r>
              <a:rPr dirty="0" sz="1300" spc="15">
                <a:latin typeface="Times New Roman"/>
                <a:cs typeface="Times New Roman"/>
              </a:rPr>
              <a:t>Sub</a:t>
            </a:r>
            <a:r>
              <a:rPr dirty="0" sz="1300" spc="-55">
                <a:latin typeface="Times New Roman"/>
                <a:cs typeface="Times New Roman"/>
              </a:rPr>
              <a:t> </a:t>
            </a:r>
            <a:r>
              <a:rPr dirty="0" sz="1300" spc="-15">
                <a:latin typeface="Times New Roman"/>
                <a:cs typeface="Times New Roman"/>
              </a:rPr>
              <a:t>Topic:  </a:t>
            </a:r>
            <a:r>
              <a:rPr dirty="0" sz="1300" spc="45">
                <a:latin typeface="Times New Roman"/>
                <a:cs typeface="Times New Roman"/>
              </a:rPr>
              <a:t>Rubbers(Introduction)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72130" y="199742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5" b="1">
                <a:latin typeface="Trebuchet MS"/>
                <a:cs typeface="Trebuchet MS"/>
              </a:rPr>
              <a:t>2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8164" y="2399744"/>
            <a:ext cx="383032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 </a:t>
            </a:r>
            <a:r>
              <a:rPr dirty="0" sz="1300" spc="65">
                <a:latin typeface="Times New Roman"/>
                <a:cs typeface="Times New Roman"/>
              </a:rPr>
              <a:t>2 </a:t>
            </a:r>
            <a:r>
              <a:rPr dirty="0" sz="1300" spc="-5">
                <a:latin typeface="Times New Roman"/>
                <a:cs typeface="Times New Roman"/>
              </a:rPr>
              <a:t>– </a:t>
            </a:r>
            <a:r>
              <a:rPr dirty="0" sz="1300" spc="10">
                <a:latin typeface="Times New Roman"/>
                <a:cs typeface="Times New Roman"/>
              </a:rPr>
              <a:t>Classification </a:t>
            </a:r>
            <a:r>
              <a:rPr dirty="0" sz="1300" spc="-65">
                <a:latin typeface="Times New Roman"/>
                <a:cs typeface="Times New Roman"/>
              </a:rPr>
              <a:t>Of </a:t>
            </a:r>
            <a:r>
              <a:rPr dirty="0" sz="1300" spc="15">
                <a:latin typeface="Times New Roman"/>
                <a:cs typeface="Times New Roman"/>
              </a:rPr>
              <a:t>Polymers, </a:t>
            </a:r>
            <a:r>
              <a:rPr dirty="0" sz="1300" spc="25">
                <a:latin typeface="Times New Roman"/>
                <a:cs typeface="Times New Roman"/>
              </a:rPr>
              <a:t>Compunding</a:t>
            </a:r>
            <a:r>
              <a:rPr dirty="0" sz="1300" spc="-215">
                <a:latin typeface="Times New Roman"/>
                <a:cs typeface="Times New Roman"/>
              </a:rPr>
              <a:t> </a:t>
            </a:r>
            <a:r>
              <a:rPr dirty="0" sz="1300" spc="-65">
                <a:latin typeface="Times New Roman"/>
                <a:cs typeface="Times New Roman"/>
              </a:rPr>
              <a:t>Of  </a:t>
            </a:r>
            <a:r>
              <a:rPr dirty="0" sz="1300" spc="25">
                <a:latin typeface="Times New Roman"/>
                <a:cs typeface="Times New Roman"/>
              </a:rPr>
              <a:t>Plastics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4830" y="2494256"/>
            <a:ext cx="965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5464" y="2925583"/>
            <a:ext cx="24123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 </a:t>
            </a:r>
            <a:r>
              <a:rPr dirty="0" sz="1300" spc="65">
                <a:latin typeface="Times New Roman"/>
                <a:cs typeface="Times New Roman"/>
              </a:rPr>
              <a:t>3 </a:t>
            </a:r>
            <a:r>
              <a:rPr dirty="0" sz="1300" spc="-5">
                <a:latin typeface="Times New Roman"/>
                <a:cs typeface="Times New Roman"/>
              </a:rPr>
              <a:t>– </a:t>
            </a:r>
            <a:r>
              <a:rPr dirty="0" sz="1300" spc="30">
                <a:latin typeface="Times New Roman"/>
                <a:cs typeface="Times New Roman"/>
              </a:rPr>
              <a:t>Fabrication</a:t>
            </a:r>
            <a:r>
              <a:rPr dirty="0" sz="1300" spc="-235">
                <a:latin typeface="Times New Roman"/>
                <a:cs typeface="Times New Roman"/>
              </a:rPr>
              <a:t> </a:t>
            </a:r>
            <a:r>
              <a:rPr dirty="0" sz="1300" spc="-65">
                <a:latin typeface="Times New Roman"/>
                <a:cs typeface="Times New Roman"/>
              </a:rPr>
              <a:t>Of </a:t>
            </a:r>
            <a:r>
              <a:rPr dirty="0" sz="1300" spc="25">
                <a:latin typeface="Times New Roman"/>
                <a:cs typeface="Times New Roman"/>
              </a:rPr>
              <a:t>Plastics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72130" y="2921002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5464" y="3347669"/>
            <a:ext cx="3742054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 </a:t>
            </a:r>
            <a:r>
              <a:rPr dirty="0" sz="1300" spc="65">
                <a:latin typeface="Times New Roman"/>
                <a:cs typeface="Times New Roman"/>
              </a:rPr>
              <a:t>4 </a:t>
            </a:r>
            <a:r>
              <a:rPr dirty="0" sz="1300" spc="-5">
                <a:latin typeface="Times New Roman"/>
                <a:cs typeface="Times New Roman"/>
              </a:rPr>
              <a:t>– </a:t>
            </a:r>
            <a:r>
              <a:rPr dirty="0" sz="1300" spc="45">
                <a:latin typeface="Times New Roman"/>
                <a:cs typeface="Times New Roman"/>
              </a:rPr>
              <a:t>Preperation,Properties </a:t>
            </a:r>
            <a:r>
              <a:rPr dirty="0" sz="1300" spc="-125">
                <a:latin typeface="Times New Roman"/>
                <a:cs typeface="Times New Roman"/>
              </a:rPr>
              <a:t>&amp; </a:t>
            </a:r>
            <a:r>
              <a:rPr dirty="0" sz="1300" spc="10">
                <a:latin typeface="Times New Roman"/>
                <a:cs typeface="Times New Roman"/>
              </a:rPr>
              <a:t>Uses </a:t>
            </a:r>
            <a:r>
              <a:rPr dirty="0" sz="1300" spc="-70">
                <a:latin typeface="Times New Roman"/>
                <a:cs typeface="Times New Roman"/>
              </a:rPr>
              <a:t>Of</a:t>
            </a:r>
            <a:r>
              <a:rPr dirty="0" sz="1300" spc="-220">
                <a:latin typeface="Times New Roman"/>
                <a:cs typeface="Times New Roman"/>
              </a:rPr>
              <a:t> </a:t>
            </a:r>
            <a:r>
              <a:rPr dirty="0" sz="1300" spc="25">
                <a:latin typeface="Times New Roman"/>
                <a:cs typeface="Times New Roman"/>
              </a:rPr>
              <a:t>Plastics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72130" y="3343088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5464" y="3740903"/>
            <a:ext cx="36982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 </a:t>
            </a:r>
            <a:r>
              <a:rPr dirty="0" sz="1300" spc="65">
                <a:latin typeface="Times New Roman"/>
                <a:cs typeface="Times New Roman"/>
              </a:rPr>
              <a:t>5 </a:t>
            </a:r>
            <a:r>
              <a:rPr dirty="0" sz="1300" spc="-5">
                <a:latin typeface="Times New Roman"/>
                <a:cs typeface="Times New Roman"/>
              </a:rPr>
              <a:t>– Glass </a:t>
            </a:r>
            <a:r>
              <a:rPr dirty="0" sz="1300" spc="30">
                <a:latin typeface="Times New Roman"/>
                <a:cs typeface="Times New Roman"/>
              </a:rPr>
              <a:t>Transition </a:t>
            </a:r>
            <a:r>
              <a:rPr dirty="0" sz="1300" spc="45">
                <a:latin typeface="Times New Roman"/>
                <a:cs typeface="Times New Roman"/>
              </a:rPr>
              <a:t>Temprature</a:t>
            </a:r>
            <a:r>
              <a:rPr dirty="0" sz="1300" spc="-155">
                <a:latin typeface="Times New Roman"/>
                <a:cs typeface="Times New Roman"/>
              </a:rPr>
              <a:t> </a:t>
            </a:r>
            <a:r>
              <a:rPr dirty="0" sz="1300" spc="-125">
                <a:latin typeface="Times New Roman"/>
                <a:cs typeface="Times New Roman"/>
              </a:rPr>
              <a:t>&amp; </a:t>
            </a:r>
            <a:r>
              <a:rPr dirty="0" sz="1300" spc="30">
                <a:latin typeface="Times New Roman"/>
                <a:cs typeface="Times New Roman"/>
              </a:rPr>
              <a:t>Polymers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18" name="object 18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003779" y="6871236"/>
            <a:ext cx="1244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98219" y="4206240"/>
            <a:ext cx="8063865" cy="2341245"/>
            <a:chOff x="998219" y="4206240"/>
            <a:chExt cx="8063865" cy="2341245"/>
          </a:xfrm>
        </p:grpSpPr>
        <p:sp>
          <p:nvSpPr>
            <p:cNvPr id="24" name="object 24"/>
            <p:cNvSpPr/>
            <p:nvPr/>
          </p:nvSpPr>
          <p:spPr>
            <a:xfrm>
              <a:off x="998220" y="4206239"/>
              <a:ext cx="8063865" cy="2334895"/>
            </a:xfrm>
            <a:custGeom>
              <a:avLst/>
              <a:gdLst/>
              <a:ahLst/>
              <a:cxnLst/>
              <a:rect l="l" t="t" r="r" b="b"/>
              <a:pathLst>
                <a:path w="8063865" h="2334895">
                  <a:moveTo>
                    <a:pt x="8063484" y="1837944"/>
                  </a:moveTo>
                  <a:lnTo>
                    <a:pt x="4030980" y="1837944"/>
                  </a:lnTo>
                  <a:lnTo>
                    <a:pt x="0" y="1837944"/>
                  </a:lnTo>
                  <a:lnTo>
                    <a:pt x="0" y="2334768"/>
                  </a:lnTo>
                  <a:lnTo>
                    <a:pt x="4030980" y="2334768"/>
                  </a:lnTo>
                  <a:lnTo>
                    <a:pt x="8063484" y="2334768"/>
                  </a:lnTo>
                  <a:lnTo>
                    <a:pt x="8063484" y="1837944"/>
                  </a:lnTo>
                  <a:close/>
                </a:path>
                <a:path w="8063865" h="2334895">
                  <a:moveTo>
                    <a:pt x="8063484" y="993648"/>
                  </a:moveTo>
                  <a:lnTo>
                    <a:pt x="4030980" y="993648"/>
                  </a:lnTo>
                  <a:lnTo>
                    <a:pt x="0" y="993648"/>
                  </a:lnTo>
                  <a:lnTo>
                    <a:pt x="0" y="1348752"/>
                  </a:lnTo>
                  <a:lnTo>
                    <a:pt x="4030980" y="1348752"/>
                  </a:lnTo>
                  <a:lnTo>
                    <a:pt x="8063484" y="1348752"/>
                  </a:lnTo>
                  <a:lnTo>
                    <a:pt x="8063484" y="993648"/>
                  </a:lnTo>
                  <a:close/>
                </a:path>
                <a:path w="8063865" h="2334895">
                  <a:moveTo>
                    <a:pt x="8063484" y="0"/>
                  </a:moveTo>
                  <a:lnTo>
                    <a:pt x="4030980" y="0"/>
                  </a:lnTo>
                  <a:lnTo>
                    <a:pt x="0" y="0"/>
                  </a:lnTo>
                  <a:lnTo>
                    <a:pt x="0" y="496824"/>
                  </a:lnTo>
                  <a:lnTo>
                    <a:pt x="4030980" y="496824"/>
                  </a:lnTo>
                  <a:lnTo>
                    <a:pt x="8063484" y="496824"/>
                  </a:lnTo>
                  <a:lnTo>
                    <a:pt x="8063484" y="0"/>
                  </a:lnTo>
                  <a:close/>
                </a:path>
              </a:pathLst>
            </a:custGeom>
            <a:solidFill>
              <a:srgbClr val="BF504D">
                <a:alpha val="1992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98219" y="6534912"/>
              <a:ext cx="8063865" cy="12700"/>
            </a:xfrm>
            <a:custGeom>
              <a:avLst/>
              <a:gdLst/>
              <a:ahLst/>
              <a:cxnLst/>
              <a:rect l="l" t="t" r="r" b="b"/>
              <a:pathLst>
                <a:path w="8063865" h="12700">
                  <a:moveTo>
                    <a:pt x="8063483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8063483" y="0"/>
                  </a:lnTo>
                  <a:lnTo>
                    <a:pt x="8063483" y="12191"/>
                  </a:lnTo>
                  <a:close/>
                </a:path>
              </a:pathLst>
            </a:custGeom>
            <a:solidFill>
              <a:srgbClr val="BF50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075464" y="3939006"/>
            <a:ext cx="15951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25">
                <a:latin typeface="Times New Roman"/>
                <a:cs typeface="Times New Roman"/>
              </a:rPr>
              <a:t>In </a:t>
            </a:r>
            <a:r>
              <a:rPr dirty="0" sz="1300" spc="15">
                <a:latin typeface="Times New Roman"/>
                <a:cs typeface="Times New Roman"/>
              </a:rPr>
              <a:t>Medicine </a:t>
            </a:r>
            <a:r>
              <a:rPr dirty="0" sz="1300" spc="-125">
                <a:latin typeface="Times New Roman"/>
                <a:cs typeface="Times New Roman"/>
              </a:rPr>
              <a:t>&amp;</a:t>
            </a:r>
            <a:r>
              <a:rPr dirty="0" sz="1300" spc="-175">
                <a:latin typeface="Times New Roman"/>
                <a:cs typeface="Times New Roman"/>
              </a:rPr>
              <a:t> </a:t>
            </a:r>
            <a:r>
              <a:rPr dirty="0" sz="1300" spc="30">
                <a:latin typeface="Times New Roman"/>
                <a:cs typeface="Times New Roman"/>
              </a:rPr>
              <a:t>Surgery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72130" y="3835334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5464" y="4336741"/>
            <a:ext cx="37788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 </a:t>
            </a:r>
            <a:r>
              <a:rPr dirty="0" sz="1300" spc="65">
                <a:latin typeface="Times New Roman"/>
                <a:cs typeface="Times New Roman"/>
              </a:rPr>
              <a:t>6 </a:t>
            </a:r>
            <a:r>
              <a:rPr dirty="0" sz="1300" spc="-5">
                <a:latin typeface="Times New Roman"/>
                <a:cs typeface="Times New Roman"/>
              </a:rPr>
              <a:t>– </a:t>
            </a:r>
            <a:r>
              <a:rPr dirty="0" sz="1300" spc="20">
                <a:latin typeface="Times New Roman"/>
                <a:cs typeface="Times New Roman"/>
              </a:rPr>
              <a:t>Conducting </a:t>
            </a:r>
            <a:r>
              <a:rPr dirty="0" sz="1300" spc="25">
                <a:latin typeface="Times New Roman"/>
                <a:cs typeface="Times New Roman"/>
              </a:rPr>
              <a:t>Polymer </a:t>
            </a:r>
            <a:r>
              <a:rPr dirty="0" sz="1300" spc="-125">
                <a:latin typeface="Times New Roman"/>
                <a:cs typeface="Times New Roman"/>
              </a:rPr>
              <a:t>&amp; </a:t>
            </a:r>
            <a:r>
              <a:rPr dirty="0" sz="1300" spc="45">
                <a:latin typeface="Times New Roman"/>
                <a:cs typeface="Times New Roman"/>
              </a:rPr>
              <a:t>Industrial</a:t>
            </a:r>
            <a:r>
              <a:rPr dirty="0" sz="1300" spc="-225">
                <a:latin typeface="Times New Roman"/>
                <a:cs typeface="Times New Roman"/>
              </a:rPr>
              <a:t> </a:t>
            </a:r>
            <a:r>
              <a:rPr dirty="0" sz="1300" spc="25">
                <a:latin typeface="Times New Roman"/>
                <a:cs typeface="Times New Roman"/>
              </a:rPr>
              <a:t>Polymer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72130" y="4332160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75464" y="4734555"/>
            <a:ext cx="3681729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 </a:t>
            </a:r>
            <a:r>
              <a:rPr dirty="0" sz="1300" spc="65">
                <a:latin typeface="Times New Roman"/>
                <a:cs typeface="Times New Roman"/>
              </a:rPr>
              <a:t>7 </a:t>
            </a:r>
            <a:r>
              <a:rPr dirty="0" sz="1300" spc="-5">
                <a:latin typeface="Times New Roman"/>
                <a:cs typeface="Times New Roman"/>
              </a:rPr>
              <a:t>– </a:t>
            </a:r>
            <a:r>
              <a:rPr dirty="0" sz="1300" spc="40">
                <a:latin typeface="Times New Roman"/>
                <a:cs typeface="Times New Roman"/>
              </a:rPr>
              <a:t>Natural Rubber </a:t>
            </a:r>
            <a:r>
              <a:rPr dirty="0" sz="1300" spc="-125">
                <a:latin typeface="Times New Roman"/>
                <a:cs typeface="Times New Roman"/>
              </a:rPr>
              <a:t>&amp; </a:t>
            </a:r>
            <a:r>
              <a:rPr dirty="0" sz="1300" spc="30">
                <a:latin typeface="Times New Roman"/>
                <a:cs typeface="Times New Roman"/>
              </a:rPr>
              <a:t>Drawbacks </a:t>
            </a:r>
            <a:r>
              <a:rPr dirty="0" sz="1300" spc="-5">
                <a:latin typeface="Times New Roman"/>
                <a:cs typeface="Times New Roman"/>
              </a:rPr>
              <a:t>of</a:t>
            </a:r>
            <a:r>
              <a:rPr dirty="0" sz="1300" spc="-120">
                <a:latin typeface="Times New Roman"/>
                <a:cs typeface="Times New Roman"/>
              </a:rPr>
              <a:t> </a:t>
            </a:r>
            <a:r>
              <a:rPr dirty="0" sz="1300" spc="40">
                <a:latin typeface="Times New Roman"/>
                <a:cs typeface="Times New Roman"/>
              </a:rPr>
              <a:t>Natural  Rubbers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872130" y="4828986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5464" y="5260314"/>
            <a:ext cx="250317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 </a:t>
            </a:r>
            <a:r>
              <a:rPr dirty="0" sz="1300" spc="65">
                <a:latin typeface="Times New Roman"/>
                <a:cs typeface="Times New Roman"/>
              </a:rPr>
              <a:t>8 </a:t>
            </a:r>
            <a:r>
              <a:rPr dirty="0" sz="1300" spc="5">
                <a:latin typeface="Times New Roman"/>
                <a:cs typeface="Times New Roman"/>
              </a:rPr>
              <a:t>–Vulcanization</a:t>
            </a:r>
            <a:r>
              <a:rPr dirty="0" sz="1300" spc="-200">
                <a:latin typeface="Times New Roman"/>
                <a:cs typeface="Times New Roman"/>
              </a:rPr>
              <a:t> </a:t>
            </a:r>
            <a:r>
              <a:rPr dirty="0" sz="1300" spc="-65">
                <a:latin typeface="Times New Roman"/>
                <a:cs typeface="Times New Roman"/>
              </a:rPr>
              <a:t>Of </a:t>
            </a:r>
            <a:r>
              <a:rPr dirty="0" sz="1300" spc="40">
                <a:latin typeface="Times New Roman"/>
                <a:cs typeface="Times New Roman"/>
              </a:rPr>
              <a:t>Rubber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72130" y="5255743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75464" y="5682490"/>
            <a:ext cx="35693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</a:t>
            </a:r>
            <a:r>
              <a:rPr dirty="0" sz="1300" spc="-70">
                <a:latin typeface="Times New Roman"/>
                <a:cs typeface="Times New Roman"/>
              </a:rPr>
              <a:t> </a:t>
            </a:r>
            <a:r>
              <a:rPr dirty="0" sz="1300" spc="65">
                <a:latin typeface="Times New Roman"/>
                <a:cs typeface="Times New Roman"/>
              </a:rPr>
              <a:t>9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5">
                <a:latin typeface="Times New Roman"/>
                <a:cs typeface="Times New Roman"/>
              </a:rPr>
              <a:t>–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5">
                <a:latin typeface="Times New Roman"/>
                <a:cs typeface="Times New Roman"/>
              </a:rPr>
              <a:t>Buna-S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5">
                <a:latin typeface="Times New Roman"/>
                <a:cs typeface="Times New Roman"/>
              </a:rPr>
              <a:t>Or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35">
                <a:latin typeface="Times New Roman"/>
                <a:cs typeface="Times New Roman"/>
              </a:rPr>
              <a:t>Styrene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40">
                <a:latin typeface="Times New Roman"/>
                <a:cs typeface="Times New Roman"/>
              </a:rPr>
              <a:t>Rubber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50">
                <a:latin typeface="Times New Roman"/>
                <a:cs typeface="Times New Roman"/>
              </a:rPr>
              <a:t>Preperation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72130" y="5677919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88164" y="6077140"/>
            <a:ext cx="341947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dirty="0" sz="1300" spc="30">
                <a:latin typeface="Times New Roman"/>
                <a:cs typeface="Times New Roman"/>
              </a:rPr>
              <a:t>Lecture</a:t>
            </a:r>
            <a:r>
              <a:rPr dirty="0" sz="1300" spc="-70">
                <a:latin typeface="Times New Roman"/>
                <a:cs typeface="Times New Roman"/>
              </a:rPr>
              <a:t> </a:t>
            </a:r>
            <a:r>
              <a:rPr dirty="0" sz="1300" spc="70">
                <a:latin typeface="Times New Roman"/>
                <a:cs typeface="Times New Roman"/>
              </a:rPr>
              <a:t>10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 spc="-5">
                <a:latin typeface="Times New Roman"/>
                <a:cs typeface="Times New Roman"/>
              </a:rPr>
              <a:t>–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40">
                <a:latin typeface="Times New Roman"/>
                <a:cs typeface="Times New Roman"/>
              </a:rPr>
              <a:t>Polyurethene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 spc="40">
                <a:latin typeface="Times New Roman"/>
                <a:cs typeface="Times New Roman"/>
              </a:rPr>
              <a:t>Rubber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5">
                <a:latin typeface="Times New Roman"/>
                <a:cs typeface="Times New Roman"/>
              </a:rPr>
              <a:t>Or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30">
                <a:latin typeface="Times New Roman"/>
                <a:cs typeface="Times New Roman"/>
              </a:rPr>
              <a:t>Isocyanate  </a:t>
            </a:r>
            <a:r>
              <a:rPr dirty="0" sz="1300" spc="40">
                <a:latin typeface="Times New Roman"/>
                <a:cs typeface="Times New Roman"/>
              </a:rPr>
              <a:t>Rubber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50">
                <a:latin typeface="Times New Roman"/>
                <a:cs typeface="Times New Roman"/>
              </a:rPr>
              <a:t>Preperation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84830" y="6171671"/>
            <a:ext cx="965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70"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077" y="999179"/>
            <a:ext cx="58813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90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400" spc="-254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2400" spc="245" b="1">
                <a:solidFill>
                  <a:srgbClr val="FFFFFF"/>
                </a:solidFill>
                <a:latin typeface="Georgia"/>
                <a:cs typeface="Georgia"/>
              </a:rPr>
              <a:t>1 </a:t>
            </a:r>
            <a:r>
              <a:rPr dirty="0" sz="2400" spc="-190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400" spc="-170" b="1">
                <a:solidFill>
                  <a:srgbClr val="FFFFFF"/>
                </a:solidFill>
                <a:latin typeface="Georgia"/>
                <a:cs typeface="Georgia"/>
              </a:rPr>
              <a:t>name:Applied</a:t>
            </a:r>
            <a:r>
              <a:rPr dirty="0" sz="2400" spc="-42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-125" b="1">
                <a:solidFill>
                  <a:srgbClr val="FFFFFF"/>
                </a:solidFill>
                <a:latin typeface="Georgia"/>
                <a:cs typeface="Georgia"/>
              </a:rPr>
              <a:t>Chemistry-1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82367" y="2875168"/>
            <a:ext cx="371538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Lecture </a:t>
            </a:r>
            <a:r>
              <a:rPr dirty="0" sz="4800" spc="-505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4800" spc="490" b="1">
                <a:solidFill>
                  <a:srgbClr val="FFFFFF"/>
                </a:solidFill>
                <a:latin typeface="Georgia"/>
                <a:cs typeface="Georgia"/>
              </a:rPr>
              <a:t>1  </a:t>
            </a: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Introduction</a:t>
            </a:r>
            <a:endParaRPr sz="4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0690" y="1054140"/>
            <a:ext cx="411226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90">
                <a:latin typeface="Georgia"/>
                <a:cs typeface="Georgia"/>
              </a:rPr>
              <a:t>Introduction of</a:t>
            </a:r>
            <a:r>
              <a:rPr dirty="0" sz="2800" spc="-25">
                <a:latin typeface="Georgia"/>
                <a:cs typeface="Georgia"/>
              </a:rPr>
              <a:t> </a:t>
            </a:r>
            <a:r>
              <a:rPr dirty="0" sz="2800" spc="-200">
                <a:latin typeface="Georgia"/>
                <a:cs typeface="Georgia"/>
              </a:rPr>
              <a:t>Polymers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198" y="1986800"/>
            <a:ext cx="7529195" cy="399161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 marR="226695">
              <a:lnSpc>
                <a:spcPct val="8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 word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polymer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derived 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from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classical 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Greek 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words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poly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meaning “many”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mers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meaning</a:t>
            </a:r>
            <a:r>
              <a:rPr dirty="0" sz="2400" spc="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“parts.”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spcBef>
                <a:spcPts val="575"/>
              </a:spcBef>
            </a:pP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Simply stated,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a polymer is a long-chain molecule </a:t>
            </a:r>
            <a:r>
              <a:rPr dirty="0" sz="2400" spc="5" b="1">
                <a:solidFill>
                  <a:srgbClr val="00AF50"/>
                </a:solidFill>
                <a:latin typeface="Times New Roman"/>
                <a:cs typeface="Times New Roman"/>
              </a:rPr>
              <a:t>that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is  composed of a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large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number of </a:t>
            </a:r>
            <a:r>
              <a:rPr dirty="0" sz="2400" b="1" i="1">
                <a:solidFill>
                  <a:srgbClr val="00AF50"/>
                </a:solidFill>
                <a:latin typeface="Times New Roman"/>
                <a:cs typeface="Times New Roman"/>
              </a:rPr>
              <a:t>repeating units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dirty="0" sz="2400" spc="-19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identical 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structure.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Polymerization</a:t>
            </a:r>
            <a:r>
              <a:rPr dirty="0" sz="2400" spc="-45" b="1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F80BC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59055">
              <a:lnSpc>
                <a:spcPct val="80000"/>
              </a:lnSpc>
              <a:spcBef>
                <a:spcPts val="575"/>
              </a:spcBef>
            </a:pP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 b="1">
                <a:solidFill>
                  <a:srgbClr val="4F80BC"/>
                </a:solidFill>
                <a:latin typeface="Times New Roman"/>
                <a:cs typeface="Times New Roman"/>
              </a:rPr>
              <a:t>process </a:t>
            </a:r>
            <a:r>
              <a:rPr dirty="0" sz="2400" b="1">
                <a:solidFill>
                  <a:srgbClr val="4F80BC"/>
                </a:solidFill>
                <a:latin typeface="Times New Roman"/>
                <a:cs typeface="Times New Roman"/>
              </a:rPr>
              <a:t>of </a:t>
            </a: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joining </a:t>
            </a:r>
            <a:r>
              <a:rPr dirty="0" sz="2400" b="1">
                <a:solidFill>
                  <a:srgbClr val="4F80BC"/>
                </a:solidFill>
                <a:latin typeface="Times New Roman"/>
                <a:cs typeface="Times New Roman"/>
              </a:rPr>
              <a:t>a </a:t>
            </a: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large number </a:t>
            </a:r>
            <a:r>
              <a:rPr dirty="0" sz="2400" b="1">
                <a:solidFill>
                  <a:srgbClr val="4F80BC"/>
                </a:solidFill>
                <a:latin typeface="Times New Roman"/>
                <a:cs typeface="Times New Roman"/>
              </a:rPr>
              <a:t>of </a:t>
            </a: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molecules </a:t>
            </a:r>
            <a:r>
              <a:rPr dirty="0" sz="2400" b="1">
                <a:solidFill>
                  <a:srgbClr val="4F80BC"/>
                </a:solidFill>
                <a:latin typeface="Times New Roman"/>
                <a:cs typeface="Times New Roman"/>
              </a:rPr>
              <a:t>of  </a:t>
            </a: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monomers to </a:t>
            </a:r>
            <a:r>
              <a:rPr dirty="0" sz="2400" b="1">
                <a:solidFill>
                  <a:srgbClr val="4F80BC"/>
                </a:solidFill>
                <a:latin typeface="Times New Roman"/>
                <a:cs typeface="Times New Roman"/>
              </a:rPr>
              <a:t>form large molecule of </a:t>
            </a: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polymer </a:t>
            </a:r>
            <a:r>
              <a:rPr dirty="0" sz="2400" spc="10" b="1">
                <a:solidFill>
                  <a:srgbClr val="4F80BC"/>
                </a:solidFill>
                <a:latin typeface="Times New Roman"/>
                <a:cs typeface="Times New Roman"/>
              </a:rPr>
              <a:t>is </a:t>
            </a: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known</a:t>
            </a:r>
            <a:r>
              <a:rPr dirty="0" sz="2400" spc="-145" b="1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F80BC"/>
                </a:solidFill>
                <a:latin typeface="Times New Roman"/>
                <a:cs typeface="Times New Roman"/>
              </a:rPr>
              <a:t>as  </a:t>
            </a:r>
            <a:r>
              <a:rPr dirty="0" sz="2400" spc="-5" b="1">
                <a:solidFill>
                  <a:srgbClr val="4F80BC"/>
                </a:solidFill>
                <a:latin typeface="Times New Roman"/>
                <a:cs typeface="Times New Roman"/>
              </a:rPr>
              <a:t>polymerization.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3439" y="6039611"/>
            <a:ext cx="8747760" cy="1275715"/>
            <a:chOff x="853439" y="6039611"/>
            <a:chExt cx="8747760" cy="1275715"/>
          </a:xfrm>
        </p:grpSpPr>
        <p:sp>
          <p:nvSpPr>
            <p:cNvPr id="5" name="object 5"/>
            <p:cNvSpPr/>
            <p:nvPr/>
          </p:nvSpPr>
          <p:spPr>
            <a:xfrm>
              <a:off x="853439" y="6760463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45451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64649" y="6871236"/>
            <a:ext cx="30981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30">
                <a:solidFill>
                  <a:srgbClr val="3F3F3F"/>
                </a:solidFill>
                <a:latin typeface="Times New Roman"/>
                <a:cs typeface="Times New Roman"/>
              </a:rPr>
              <a:t>Notes</a:t>
            </a:r>
            <a:r>
              <a:rPr dirty="0" sz="1400" spc="-8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5">
                <a:solidFill>
                  <a:srgbClr val="3F3F3F"/>
                </a:solidFill>
                <a:latin typeface="Times New Roman"/>
                <a:cs typeface="Times New Roman"/>
              </a:rPr>
              <a:t>byMrs.</a:t>
            </a:r>
            <a:r>
              <a:rPr dirty="0" sz="1400" spc="-5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25">
                <a:solidFill>
                  <a:srgbClr val="3F3F3F"/>
                </a:solidFill>
                <a:latin typeface="Times New Roman"/>
                <a:cs typeface="Times New Roman"/>
              </a:rPr>
              <a:t>Rupal</a:t>
            </a:r>
            <a:r>
              <a:rPr dirty="0" sz="1400" spc="-6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3F3F3F"/>
                </a:solidFill>
                <a:latin typeface="Times New Roman"/>
                <a:cs typeface="Times New Roman"/>
              </a:rPr>
              <a:t>Agme-Jadhav</a:t>
            </a:r>
            <a:r>
              <a:rPr dirty="0" sz="1400" spc="-8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3F3F3F"/>
                </a:solidFill>
                <a:latin typeface="Times New Roman"/>
                <a:cs typeface="Times New Roman"/>
              </a:rPr>
              <a:t>(Ph.D.)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3779" y="6871236"/>
            <a:ext cx="1244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5777" y="1027060"/>
            <a:ext cx="4167504" cy="357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60"/>
              </a:lnSpc>
            </a:pPr>
            <a:r>
              <a:rPr dirty="0" sz="2400" spc="-300" b="1">
                <a:solidFill>
                  <a:srgbClr val="9E1C33"/>
                </a:solidFill>
                <a:latin typeface="Georgia"/>
                <a:cs typeface="Georgia"/>
              </a:rPr>
              <a:t>CLASSIFICATION </a:t>
            </a:r>
            <a:r>
              <a:rPr dirty="0" sz="2400" spc="-290" b="1">
                <a:solidFill>
                  <a:srgbClr val="9E1C33"/>
                </a:solidFill>
                <a:latin typeface="Georgia"/>
                <a:cs typeface="Georgia"/>
              </a:rPr>
              <a:t>OF</a:t>
            </a:r>
            <a:r>
              <a:rPr dirty="0" sz="2400" spc="-235" b="1">
                <a:solidFill>
                  <a:srgbClr val="9E1C33"/>
                </a:solidFill>
                <a:latin typeface="Georgia"/>
                <a:cs typeface="Georgia"/>
              </a:rPr>
              <a:t> </a:t>
            </a:r>
            <a:r>
              <a:rPr dirty="0" sz="2400" spc="-365" b="1">
                <a:solidFill>
                  <a:srgbClr val="9E1C33"/>
                </a:solidFill>
                <a:latin typeface="Georgia"/>
                <a:cs typeface="Georgia"/>
              </a:rPr>
              <a:t>POLYMER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457200"/>
            <a:ext cx="87873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57200" y="3886200"/>
            <a:ext cx="8787765" cy="3183890"/>
            <a:chOff x="457200" y="3886200"/>
            <a:chExt cx="8787765" cy="3183890"/>
          </a:xfrm>
        </p:grpSpPr>
        <p:sp>
          <p:nvSpPr>
            <p:cNvPr id="7" name="object 7"/>
            <p:cNvSpPr/>
            <p:nvPr/>
          </p:nvSpPr>
          <p:spPr>
            <a:xfrm>
              <a:off x="7311415" y="6338772"/>
              <a:ext cx="1762011" cy="73128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7200" y="3886200"/>
              <a:ext cx="8787384" cy="28575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64613" y="6862346"/>
            <a:ext cx="440626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latin typeface="Arial"/>
                <a:cs typeface="Arial"/>
              </a:rPr>
              <a:t>Notes </a:t>
            </a:r>
            <a:r>
              <a:rPr dirty="0" sz="1800" spc="-15">
                <a:latin typeface="Arial"/>
                <a:cs typeface="Arial"/>
              </a:rPr>
              <a:t>by: </a:t>
            </a:r>
            <a:r>
              <a:rPr dirty="0" sz="1800">
                <a:latin typeface="Arial"/>
                <a:cs typeface="Arial"/>
              </a:rPr>
              <a:t>Mrs. </a:t>
            </a:r>
            <a:r>
              <a:rPr dirty="0" sz="1800" spc="-10">
                <a:latin typeface="Arial"/>
                <a:cs typeface="Arial"/>
              </a:rPr>
              <a:t>Rupal Agme-Jadhav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(Ph.D.)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8379" y="6880117"/>
            <a:ext cx="175260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5</a:t>
            </a:fld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5777" y="1027060"/>
            <a:ext cx="4167504" cy="357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60"/>
              </a:lnSpc>
            </a:pPr>
            <a:r>
              <a:rPr dirty="0" sz="2400" spc="-300" b="1">
                <a:solidFill>
                  <a:srgbClr val="9E1C33"/>
                </a:solidFill>
                <a:latin typeface="Georgia"/>
                <a:cs typeface="Georgia"/>
              </a:rPr>
              <a:t>CLASSIFICATION </a:t>
            </a:r>
            <a:r>
              <a:rPr dirty="0" sz="2400" spc="-290" b="1">
                <a:solidFill>
                  <a:srgbClr val="9E1C33"/>
                </a:solidFill>
                <a:latin typeface="Georgia"/>
                <a:cs typeface="Georgia"/>
              </a:rPr>
              <a:t>OF</a:t>
            </a:r>
            <a:r>
              <a:rPr dirty="0" sz="2400" spc="-235" b="1">
                <a:solidFill>
                  <a:srgbClr val="9E1C33"/>
                </a:solidFill>
                <a:latin typeface="Georgia"/>
                <a:cs typeface="Georgia"/>
              </a:rPr>
              <a:t> </a:t>
            </a:r>
            <a:r>
              <a:rPr dirty="0" sz="2400" spc="-365" b="1">
                <a:solidFill>
                  <a:srgbClr val="9E1C33"/>
                </a:solidFill>
                <a:latin typeface="Georgia"/>
                <a:cs typeface="Georgia"/>
              </a:rPr>
              <a:t>POLYMER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886967"/>
            <a:ext cx="8805672" cy="2999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57200" y="3886200"/>
            <a:ext cx="8722995" cy="3183890"/>
            <a:chOff x="457200" y="3886200"/>
            <a:chExt cx="8722995" cy="3183890"/>
          </a:xfrm>
        </p:grpSpPr>
        <p:sp>
          <p:nvSpPr>
            <p:cNvPr id="7" name="object 7"/>
            <p:cNvSpPr/>
            <p:nvPr/>
          </p:nvSpPr>
          <p:spPr>
            <a:xfrm>
              <a:off x="7311415" y="6338772"/>
              <a:ext cx="1762011" cy="73128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7200" y="3886200"/>
              <a:ext cx="8722860" cy="242925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64613" y="6862346"/>
            <a:ext cx="440626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latin typeface="Arial"/>
                <a:cs typeface="Arial"/>
              </a:rPr>
              <a:t>Notes </a:t>
            </a:r>
            <a:r>
              <a:rPr dirty="0" sz="1800" spc="-15">
                <a:latin typeface="Arial"/>
                <a:cs typeface="Arial"/>
              </a:rPr>
              <a:t>by: </a:t>
            </a:r>
            <a:r>
              <a:rPr dirty="0" sz="1800">
                <a:latin typeface="Arial"/>
                <a:cs typeface="Arial"/>
              </a:rPr>
              <a:t>Mrs. </a:t>
            </a:r>
            <a:r>
              <a:rPr dirty="0" sz="1800" spc="-10">
                <a:latin typeface="Arial"/>
                <a:cs typeface="Arial"/>
              </a:rPr>
              <a:t>Rupal Agme-Jadhav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(Ph.D.)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8379" y="6880117"/>
            <a:ext cx="175260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5</a:t>
            </a:fld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5987" y="594359"/>
            <a:ext cx="8656320" cy="3291840"/>
            <a:chOff x="665987" y="594359"/>
            <a:chExt cx="8656320" cy="3291840"/>
          </a:xfrm>
        </p:grpSpPr>
        <p:sp>
          <p:nvSpPr>
            <p:cNvPr id="3" name="object 3"/>
            <p:cNvSpPr/>
            <p:nvPr/>
          </p:nvSpPr>
          <p:spPr>
            <a:xfrm>
              <a:off x="672083" y="600455"/>
              <a:ext cx="8644128" cy="32857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65988" y="594359"/>
              <a:ext cx="8656320" cy="3291840"/>
            </a:xfrm>
            <a:custGeom>
              <a:avLst/>
              <a:gdLst/>
              <a:ahLst/>
              <a:cxnLst/>
              <a:rect l="l" t="t" r="r" b="b"/>
              <a:pathLst>
                <a:path w="8656320" h="3291840">
                  <a:moveTo>
                    <a:pt x="8656320" y="0"/>
                  </a:moveTo>
                  <a:lnTo>
                    <a:pt x="8644128" y="0"/>
                  </a:lnTo>
                  <a:lnTo>
                    <a:pt x="8644128" y="12192"/>
                  </a:lnTo>
                  <a:lnTo>
                    <a:pt x="8644128" y="784872"/>
                  </a:lnTo>
                  <a:lnTo>
                    <a:pt x="8644128" y="822972"/>
                  </a:lnTo>
                  <a:lnTo>
                    <a:pt x="8644128" y="2261628"/>
                  </a:lnTo>
                  <a:lnTo>
                    <a:pt x="8644128" y="2273820"/>
                  </a:lnTo>
                  <a:lnTo>
                    <a:pt x="8644128" y="2647200"/>
                  </a:lnTo>
                  <a:lnTo>
                    <a:pt x="4299204" y="2647200"/>
                  </a:lnTo>
                  <a:lnTo>
                    <a:pt x="4299204" y="2273820"/>
                  </a:lnTo>
                  <a:lnTo>
                    <a:pt x="8644128" y="2273820"/>
                  </a:lnTo>
                  <a:lnTo>
                    <a:pt x="8644128" y="2261628"/>
                  </a:lnTo>
                  <a:lnTo>
                    <a:pt x="4299204" y="2261628"/>
                  </a:lnTo>
                  <a:lnTo>
                    <a:pt x="4299204" y="822972"/>
                  </a:lnTo>
                  <a:lnTo>
                    <a:pt x="8644128" y="822972"/>
                  </a:lnTo>
                  <a:lnTo>
                    <a:pt x="8644128" y="784872"/>
                  </a:lnTo>
                  <a:lnTo>
                    <a:pt x="4299204" y="784872"/>
                  </a:lnTo>
                  <a:lnTo>
                    <a:pt x="4299204" y="12192"/>
                  </a:lnTo>
                  <a:lnTo>
                    <a:pt x="8644128" y="12192"/>
                  </a:lnTo>
                  <a:lnTo>
                    <a:pt x="8644128" y="0"/>
                  </a:lnTo>
                  <a:lnTo>
                    <a:pt x="4285488" y="0"/>
                  </a:lnTo>
                  <a:lnTo>
                    <a:pt x="4285488" y="12192"/>
                  </a:lnTo>
                  <a:lnTo>
                    <a:pt x="4285488" y="784872"/>
                  </a:lnTo>
                  <a:lnTo>
                    <a:pt x="4285488" y="822972"/>
                  </a:lnTo>
                  <a:lnTo>
                    <a:pt x="4285488" y="2261628"/>
                  </a:lnTo>
                  <a:lnTo>
                    <a:pt x="4285488" y="2273820"/>
                  </a:lnTo>
                  <a:lnTo>
                    <a:pt x="4285488" y="2647200"/>
                  </a:lnTo>
                  <a:lnTo>
                    <a:pt x="12192" y="2647200"/>
                  </a:lnTo>
                  <a:lnTo>
                    <a:pt x="12192" y="2273820"/>
                  </a:lnTo>
                  <a:lnTo>
                    <a:pt x="4285488" y="2273820"/>
                  </a:lnTo>
                  <a:lnTo>
                    <a:pt x="4285488" y="2261628"/>
                  </a:lnTo>
                  <a:lnTo>
                    <a:pt x="12192" y="2261628"/>
                  </a:lnTo>
                  <a:lnTo>
                    <a:pt x="12192" y="822972"/>
                  </a:lnTo>
                  <a:lnTo>
                    <a:pt x="4285488" y="822972"/>
                  </a:lnTo>
                  <a:lnTo>
                    <a:pt x="4285488" y="784872"/>
                  </a:lnTo>
                  <a:lnTo>
                    <a:pt x="12192" y="784872"/>
                  </a:lnTo>
                  <a:lnTo>
                    <a:pt x="12192" y="12192"/>
                  </a:lnTo>
                  <a:lnTo>
                    <a:pt x="4285488" y="12192"/>
                  </a:lnTo>
                  <a:lnTo>
                    <a:pt x="4285488" y="0"/>
                  </a:lnTo>
                  <a:lnTo>
                    <a:pt x="0" y="0"/>
                  </a:lnTo>
                  <a:lnTo>
                    <a:pt x="0" y="12192"/>
                  </a:lnTo>
                  <a:lnTo>
                    <a:pt x="0" y="3291840"/>
                  </a:lnTo>
                  <a:lnTo>
                    <a:pt x="12192" y="3291840"/>
                  </a:lnTo>
                  <a:lnTo>
                    <a:pt x="12192" y="2659392"/>
                  </a:lnTo>
                  <a:lnTo>
                    <a:pt x="4285488" y="2659392"/>
                  </a:lnTo>
                  <a:lnTo>
                    <a:pt x="4285488" y="3291840"/>
                  </a:lnTo>
                  <a:lnTo>
                    <a:pt x="4299204" y="3291840"/>
                  </a:lnTo>
                  <a:lnTo>
                    <a:pt x="4299204" y="2659392"/>
                  </a:lnTo>
                  <a:lnTo>
                    <a:pt x="8644128" y="2659392"/>
                  </a:lnTo>
                  <a:lnTo>
                    <a:pt x="8644128" y="3291840"/>
                  </a:lnTo>
                  <a:lnTo>
                    <a:pt x="8656320" y="3291840"/>
                  </a:lnTo>
                  <a:lnTo>
                    <a:pt x="8656320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750786" y="618180"/>
            <a:ext cx="2322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Trebuchet MS"/>
                <a:cs typeface="Trebuchet MS"/>
              </a:rPr>
              <a:t>Addition</a:t>
            </a:r>
            <a:r>
              <a:rPr dirty="0" sz="1800" spc="-200" b="1">
                <a:latin typeface="Trebuchet MS"/>
                <a:cs typeface="Trebuchet MS"/>
              </a:rPr>
              <a:t> </a:t>
            </a:r>
            <a:r>
              <a:rPr dirty="0" sz="1800" spc="-110" b="1">
                <a:latin typeface="Trebuchet MS"/>
                <a:cs typeface="Trebuchet MS"/>
              </a:rPr>
              <a:t>polymerization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6244" y="618180"/>
            <a:ext cx="145351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800" spc="-95" b="1">
                <a:latin typeface="Trebuchet MS"/>
                <a:cs typeface="Trebuchet MS"/>
              </a:rPr>
              <a:t>Condensation  </a:t>
            </a:r>
            <a:r>
              <a:rPr dirty="0" sz="1800" spc="-80" b="1">
                <a:latin typeface="Trebuchet MS"/>
                <a:cs typeface="Trebuchet MS"/>
              </a:rPr>
              <a:t>p</a:t>
            </a:r>
            <a:r>
              <a:rPr dirty="0" sz="1800" spc="-55" b="1">
                <a:latin typeface="Trebuchet MS"/>
                <a:cs typeface="Trebuchet MS"/>
              </a:rPr>
              <a:t>o</a:t>
            </a:r>
            <a:r>
              <a:rPr dirty="0" sz="1800" spc="-85" b="1">
                <a:latin typeface="Trebuchet MS"/>
                <a:cs typeface="Trebuchet MS"/>
              </a:rPr>
              <a:t>l</a:t>
            </a:r>
            <a:r>
              <a:rPr dirty="0" sz="1800" spc="-120" b="1">
                <a:latin typeface="Trebuchet MS"/>
                <a:cs typeface="Trebuchet MS"/>
              </a:rPr>
              <a:t>y</a:t>
            </a:r>
            <a:r>
              <a:rPr dirty="0" sz="1800" spc="-95" b="1">
                <a:latin typeface="Trebuchet MS"/>
                <a:cs typeface="Trebuchet MS"/>
              </a:rPr>
              <a:t>m</a:t>
            </a:r>
            <a:r>
              <a:rPr dirty="0" sz="1800" spc="-120" b="1">
                <a:latin typeface="Trebuchet MS"/>
                <a:cs typeface="Trebuchet MS"/>
              </a:rPr>
              <a:t>e</a:t>
            </a:r>
            <a:r>
              <a:rPr dirty="0" sz="1800" spc="-140" b="1">
                <a:latin typeface="Trebuchet MS"/>
                <a:cs typeface="Trebuchet MS"/>
              </a:rPr>
              <a:t>r</a:t>
            </a:r>
            <a:r>
              <a:rPr dirty="0" sz="1800" spc="-110" b="1">
                <a:latin typeface="Trebuchet MS"/>
                <a:cs typeface="Trebuchet MS"/>
              </a:rPr>
              <a:t>i</a:t>
            </a:r>
            <a:r>
              <a:rPr dirty="0" sz="1800" spc="-254" b="1">
                <a:latin typeface="Trebuchet MS"/>
                <a:cs typeface="Trebuchet MS"/>
              </a:rPr>
              <a:t>z</a:t>
            </a:r>
            <a:r>
              <a:rPr dirty="0" sz="1800" spc="-100" b="1">
                <a:latin typeface="Trebuchet MS"/>
                <a:cs typeface="Trebuchet MS"/>
              </a:rPr>
              <a:t>a</a:t>
            </a:r>
            <a:r>
              <a:rPr dirty="0" sz="1800" spc="-85" b="1">
                <a:latin typeface="Trebuchet MS"/>
                <a:cs typeface="Trebuchet MS"/>
              </a:rPr>
              <a:t>t</a:t>
            </a:r>
            <a:r>
              <a:rPr dirty="0" sz="1800" spc="-110" b="1">
                <a:latin typeface="Trebuchet MS"/>
                <a:cs typeface="Trebuchet MS"/>
              </a:rPr>
              <a:t>i</a:t>
            </a:r>
            <a:r>
              <a:rPr dirty="0" sz="1800" spc="-55" b="1">
                <a:latin typeface="Trebuchet MS"/>
                <a:cs typeface="Trebuchet MS"/>
              </a:rPr>
              <a:t>o</a:t>
            </a:r>
            <a:r>
              <a:rPr dirty="0" sz="1800" spc="-100" b="1">
                <a:latin typeface="Trebuchet MS"/>
                <a:cs typeface="Trebuchet MS"/>
              </a:rPr>
              <a:t>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0786" y="1422855"/>
            <a:ext cx="3599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The monomer must </a:t>
            </a:r>
            <a:r>
              <a:rPr dirty="0" sz="1800" b="1">
                <a:latin typeface="Times New Roman"/>
                <a:cs typeface="Times New Roman"/>
              </a:rPr>
              <a:t>have at </a:t>
            </a:r>
            <a:r>
              <a:rPr dirty="0" sz="1800" spc="-5" b="1">
                <a:latin typeface="Times New Roman"/>
                <a:cs typeface="Times New Roman"/>
              </a:rPr>
              <a:t>least</a:t>
            </a:r>
            <a:r>
              <a:rPr dirty="0" sz="1800" spc="-90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one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786" y="1697219"/>
            <a:ext cx="14452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multiple</a:t>
            </a:r>
            <a:r>
              <a:rPr dirty="0" sz="1800" spc="-80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bond.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244" y="1422855"/>
            <a:ext cx="36169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The monomer must </a:t>
            </a:r>
            <a:r>
              <a:rPr dirty="0" sz="1800" b="1">
                <a:latin typeface="Times New Roman"/>
                <a:cs typeface="Times New Roman"/>
              </a:rPr>
              <a:t>have at </a:t>
            </a:r>
            <a:r>
              <a:rPr dirty="0" sz="1800" spc="-5" b="1">
                <a:latin typeface="Times New Roman"/>
                <a:cs typeface="Times New Roman"/>
              </a:rPr>
              <a:t>least</a:t>
            </a:r>
            <a:r>
              <a:rPr dirty="0" sz="1800" spc="-85" b="1">
                <a:latin typeface="Times New Roman"/>
                <a:cs typeface="Times New Roman"/>
              </a:rPr>
              <a:t> </a:t>
            </a:r>
            <a:r>
              <a:rPr dirty="0" sz="1800" spc="5" b="1">
                <a:latin typeface="Times New Roman"/>
                <a:cs typeface="Times New Roman"/>
              </a:rPr>
              <a:t>two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6244" y="1697219"/>
            <a:ext cx="3808729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Times New Roman"/>
                <a:cs typeface="Times New Roman"/>
              </a:rPr>
              <a:t>identical </a:t>
            </a:r>
            <a:r>
              <a:rPr dirty="0" sz="1800" b="1">
                <a:latin typeface="Times New Roman"/>
                <a:cs typeface="Times New Roman"/>
              </a:rPr>
              <a:t>or </a:t>
            </a:r>
            <a:r>
              <a:rPr dirty="0" sz="1800" spc="-10" b="1">
                <a:latin typeface="Times New Roman"/>
                <a:cs typeface="Times New Roman"/>
              </a:rPr>
              <a:t>different </a:t>
            </a:r>
            <a:r>
              <a:rPr dirty="0" sz="1800" spc="-5" b="1">
                <a:latin typeface="Times New Roman"/>
                <a:cs typeface="Times New Roman"/>
              </a:rPr>
              <a:t>functional </a:t>
            </a:r>
            <a:r>
              <a:rPr dirty="0" sz="1800" spc="-10" b="1">
                <a:latin typeface="Times New Roman"/>
                <a:cs typeface="Times New Roman"/>
              </a:rPr>
              <a:t>groups  </a:t>
            </a:r>
            <a:r>
              <a:rPr dirty="0" sz="1800" b="1">
                <a:latin typeface="Times New Roman"/>
                <a:cs typeface="Times New Roman"/>
              </a:rPr>
              <a:t>which can </a:t>
            </a:r>
            <a:r>
              <a:rPr dirty="0" sz="1800" spc="-5" b="1">
                <a:latin typeface="Times New Roman"/>
                <a:cs typeface="Times New Roman"/>
              </a:rPr>
              <a:t>interact </a:t>
            </a:r>
            <a:r>
              <a:rPr dirty="0" sz="1800" spc="5" b="1">
                <a:latin typeface="Times New Roman"/>
                <a:cs typeface="Times New Roman"/>
              </a:rPr>
              <a:t>with each </a:t>
            </a:r>
            <a:r>
              <a:rPr dirty="0" sz="1800" spc="-5" b="1">
                <a:latin typeface="Times New Roman"/>
                <a:cs typeface="Times New Roman"/>
              </a:rPr>
              <a:t>other </a:t>
            </a:r>
            <a:r>
              <a:rPr dirty="0" sz="1800" spc="5" b="1">
                <a:latin typeface="Times New Roman"/>
                <a:cs typeface="Times New Roman"/>
              </a:rPr>
              <a:t>to  </a:t>
            </a:r>
            <a:r>
              <a:rPr dirty="0" sz="1800" spc="-5" b="1">
                <a:latin typeface="Times New Roman"/>
                <a:cs typeface="Times New Roman"/>
              </a:rPr>
              <a:t>undergo condensation.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786" y="2773198"/>
            <a:ext cx="2679700" cy="80010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800" b="1">
                <a:latin typeface="Times New Roman"/>
                <a:cs typeface="Times New Roman"/>
              </a:rPr>
              <a:t>It is a </a:t>
            </a:r>
            <a:r>
              <a:rPr dirty="0" sz="1800" spc="-5" b="1">
                <a:latin typeface="Times New Roman"/>
                <a:cs typeface="Times New Roman"/>
              </a:rPr>
              <a:t>fast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800" b="1">
                <a:latin typeface="Times New Roman"/>
                <a:cs typeface="Times New Roman"/>
              </a:rPr>
              <a:t>It is an </a:t>
            </a:r>
            <a:r>
              <a:rPr dirty="0" sz="1800" spc="-5" b="1">
                <a:latin typeface="Times New Roman"/>
                <a:cs typeface="Times New Roman"/>
              </a:rPr>
              <a:t>exothermic</a:t>
            </a:r>
            <a:r>
              <a:rPr dirty="0" sz="1800" spc="-105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7025" y="2773198"/>
            <a:ext cx="2819400" cy="80010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800" spc="-10" b="1">
                <a:latin typeface="Times New Roman"/>
                <a:cs typeface="Times New Roman"/>
              </a:rPr>
              <a:t>It </a:t>
            </a:r>
            <a:r>
              <a:rPr dirty="0" sz="1800" b="1">
                <a:latin typeface="Times New Roman"/>
                <a:cs typeface="Times New Roman"/>
              </a:rPr>
              <a:t>is a slow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800" spc="-10" b="1">
                <a:latin typeface="Times New Roman"/>
                <a:cs typeface="Times New Roman"/>
              </a:rPr>
              <a:t>It </a:t>
            </a:r>
            <a:r>
              <a:rPr dirty="0" sz="1800" b="1">
                <a:latin typeface="Times New Roman"/>
                <a:cs typeface="Times New Roman"/>
              </a:rPr>
              <a:t>is an </a:t>
            </a:r>
            <a:r>
              <a:rPr dirty="0" sz="1800" spc="-5" b="1">
                <a:latin typeface="Times New Roman"/>
                <a:cs typeface="Times New Roman"/>
              </a:rPr>
              <a:t>endothermic</a:t>
            </a:r>
            <a:r>
              <a:rPr dirty="0" sz="1800" spc="-80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665987" y="3886200"/>
            <a:ext cx="8656320" cy="3183890"/>
            <a:chOff x="665987" y="3886200"/>
            <a:chExt cx="8656320" cy="3183890"/>
          </a:xfrm>
        </p:grpSpPr>
        <p:sp>
          <p:nvSpPr>
            <p:cNvPr id="16" name="object 16"/>
            <p:cNvSpPr/>
            <p:nvPr/>
          </p:nvSpPr>
          <p:spPr>
            <a:xfrm>
              <a:off x="7311415" y="6338772"/>
              <a:ext cx="1762011" cy="73128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72083" y="3886200"/>
              <a:ext cx="8644128" cy="268224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5988" y="3886199"/>
              <a:ext cx="8656320" cy="2688590"/>
            </a:xfrm>
            <a:custGeom>
              <a:avLst/>
              <a:gdLst/>
              <a:ahLst/>
              <a:cxnLst/>
              <a:rect l="l" t="t" r="r" b="b"/>
              <a:pathLst>
                <a:path w="8656320" h="2688590">
                  <a:moveTo>
                    <a:pt x="8656320" y="0"/>
                  </a:moveTo>
                  <a:lnTo>
                    <a:pt x="8644128" y="0"/>
                  </a:lnTo>
                  <a:lnTo>
                    <a:pt x="8644128" y="35064"/>
                  </a:lnTo>
                  <a:lnTo>
                    <a:pt x="8644128" y="47256"/>
                  </a:lnTo>
                  <a:lnTo>
                    <a:pt x="8644128" y="2676144"/>
                  </a:lnTo>
                  <a:lnTo>
                    <a:pt x="4299204" y="2676144"/>
                  </a:lnTo>
                  <a:lnTo>
                    <a:pt x="4299204" y="2010168"/>
                  </a:lnTo>
                  <a:lnTo>
                    <a:pt x="8644128" y="2010168"/>
                  </a:lnTo>
                  <a:lnTo>
                    <a:pt x="8644128" y="1996452"/>
                  </a:lnTo>
                  <a:lnTo>
                    <a:pt x="4299204" y="1996452"/>
                  </a:lnTo>
                  <a:lnTo>
                    <a:pt x="4299204" y="1028712"/>
                  </a:lnTo>
                  <a:lnTo>
                    <a:pt x="8644128" y="1028712"/>
                  </a:lnTo>
                  <a:lnTo>
                    <a:pt x="8644128" y="1014996"/>
                  </a:lnTo>
                  <a:lnTo>
                    <a:pt x="4299204" y="1014996"/>
                  </a:lnTo>
                  <a:lnTo>
                    <a:pt x="4299204" y="47256"/>
                  </a:lnTo>
                  <a:lnTo>
                    <a:pt x="8644128" y="47256"/>
                  </a:lnTo>
                  <a:lnTo>
                    <a:pt x="8644128" y="35064"/>
                  </a:lnTo>
                  <a:lnTo>
                    <a:pt x="4299204" y="35064"/>
                  </a:lnTo>
                  <a:lnTo>
                    <a:pt x="4299204" y="0"/>
                  </a:lnTo>
                  <a:lnTo>
                    <a:pt x="4285488" y="0"/>
                  </a:lnTo>
                  <a:lnTo>
                    <a:pt x="4285488" y="2676144"/>
                  </a:lnTo>
                  <a:lnTo>
                    <a:pt x="12192" y="2676144"/>
                  </a:lnTo>
                  <a:lnTo>
                    <a:pt x="12192" y="2010168"/>
                  </a:lnTo>
                  <a:lnTo>
                    <a:pt x="4285488" y="2010168"/>
                  </a:lnTo>
                  <a:lnTo>
                    <a:pt x="4285488" y="1996452"/>
                  </a:lnTo>
                  <a:lnTo>
                    <a:pt x="12192" y="1996452"/>
                  </a:lnTo>
                  <a:lnTo>
                    <a:pt x="12192" y="1028712"/>
                  </a:lnTo>
                  <a:lnTo>
                    <a:pt x="4285488" y="1028712"/>
                  </a:lnTo>
                  <a:lnTo>
                    <a:pt x="4285488" y="1014996"/>
                  </a:lnTo>
                  <a:lnTo>
                    <a:pt x="12192" y="1014996"/>
                  </a:lnTo>
                  <a:lnTo>
                    <a:pt x="12192" y="47256"/>
                  </a:lnTo>
                  <a:lnTo>
                    <a:pt x="4285488" y="47256"/>
                  </a:lnTo>
                  <a:lnTo>
                    <a:pt x="4285488" y="35064"/>
                  </a:lnTo>
                  <a:lnTo>
                    <a:pt x="12192" y="35064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2688348"/>
                  </a:lnTo>
                  <a:lnTo>
                    <a:pt x="12192" y="2688348"/>
                  </a:lnTo>
                  <a:lnTo>
                    <a:pt x="4285488" y="2688336"/>
                  </a:lnTo>
                  <a:lnTo>
                    <a:pt x="4299204" y="2688348"/>
                  </a:lnTo>
                  <a:lnTo>
                    <a:pt x="8644128" y="2688336"/>
                  </a:lnTo>
                  <a:lnTo>
                    <a:pt x="8656320" y="2688348"/>
                  </a:lnTo>
                  <a:lnTo>
                    <a:pt x="8656320" y="35064"/>
                  </a:lnTo>
                  <a:lnTo>
                    <a:pt x="8656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50786" y="3951178"/>
            <a:ext cx="39414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It is </a:t>
            </a:r>
            <a:r>
              <a:rPr dirty="0" sz="1800" spc="-5" b="1">
                <a:latin typeface="Times New Roman"/>
                <a:cs typeface="Times New Roman"/>
              </a:rPr>
              <a:t>generally </a:t>
            </a:r>
            <a:r>
              <a:rPr dirty="0" sz="1800" spc="-10" b="1">
                <a:latin typeface="Times New Roman"/>
                <a:cs typeface="Times New Roman"/>
              </a:rPr>
              <a:t>produces </a:t>
            </a:r>
            <a:r>
              <a:rPr dirty="0" sz="1800" spc="-5" b="1">
                <a:latin typeface="Times New Roman"/>
                <a:cs typeface="Times New Roman"/>
              </a:rPr>
              <a:t>linear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polymers.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64613" y="6862346"/>
            <a:ext cx="440626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latin typeface="Arial"/>
                <a:cs typeface="Arial"/>
              </a:rPr>
              <a:t>Notes </a:t>
            </a:r>
            <a:r>
              <a:rPr dirty="0" sz="1800" spc="-15">
                <a:latin typeface="Arial"/>
                <a:cs typeface="Arial"/>
              </a:rPr>
              <a:t>by: </a:t>
            </a:r>
            <a:r>
              <a:rPr dirty="0" sz="1800">
                <a:latin typeface="Arial"/>
                <a:cs typeface="Arial"/>
              </a:rPr>
              <a:t>Mrs. </a:t>
            </a:r>
            <a:r>
              <a:rPr dirty="0" sz="1800" spc="-10">
                <a:latin typeface="Arial"/>
                <a:cs typeface="Arial"/>
              </a:rPr>
              <a:t>Rupal Agme-Jadhav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(Ph.D.)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8379" y="6880117"/>
            <a:ext cx="175260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5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36244" y="3951178"/>
            <a:ext cx="4145279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It produces three </a:t>
            </a:r>
            <a:r>
              <a:rPr dirty="0" sz="1800" spc="-5" b="1">
                <a:latin typeface="Times New Roman"/>
                <a:cs typeface="Times New Roman"/>
              </a:rPr>
              <a:t>dimensional </a:t>
            </a:r>
            <a:r>
              <a:rPr dirty="0" sz="1800" spc="-10" b="1">
                <a:latin typeface="Times New Roman"/>
                <a:cs typeface="Times New Roman"/>
              </a:rPr>
              <a:t>cross </a:t>
            </a:r>
            <a:r>
              <a:rPr dirty="0" sz="1800" spc="-5" b="1">
                <a:latin typeface="Times New Roman"/>
                <a:cs typeface="Times New Roman"/>
              </a:rPr>
              <a:t>linked  polymers.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0786" y="4925069"/>
            <a:ext cx="40760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latin typeface="Trebuchet MS"/>
                <a:cs typeface="Trebuchet MS"/>
              </a:rPr>
              <a:t>Mostly</a:t>
            </a:r>
            <a:r>
              <a:rPr dirty="0" sz="1800" spc="-400" b="1">
                <a:latin typeface="Trebuchet MS"/>
                <a:cs typeface="Trebuchet MS"/>
              </a:rPr>
              <a:t> </a:t>
            </a:r>
            <a:r>
              <a:rPr dirty="0" sz="1800" spc="-100" b="1">
                <a:latin typeface="Trebuchet MS"/>
                <a:cs typeface="Trebuchet MS"/>
              </a:rPr>
              <a:t>thermoplastics </a:t>
            </a:r>
            <a:r>
              <a:rPr dirty="0" sz="1800" spc="-120" b="1">
                <a:latin typeface="Trebuchet MS"/>
                <a:cs typeface="Trebuchet MS"/>
              </a:rPr>
              <a:t>are </a:t>
            </a:r>
            <a:r>
              <a:rPr dirty="0" sz="1800" spc="-90" b="1">
                <a:latin typeface="Trebuchet MS"/>
                <a:cs typeface="Trebuchet MS"/>
              </a:rPr>
              <a:t>obtained </a:t>
            </a:r>
            <a:r>
              <a:rPr dirty="0" sz="1800" spc="-95" b="1">
                <a:latin typeface="Trebuchet MS"/>
                <a:cs typeface="Trebuchet MS"/>
              </a:rPr>
              <a:t>by </a:t>
            </a:r>
            <a:r>
              <a:rPr dirty="0" sz="1800" spc="-90" b="1">
                <a:latin typeface="Trebuchet MS"/>
                <a:cs typeface="Trebuchet MS"/>
              </a:rPr>
              <a:t>this  </a:t>
            </a:r>
            <a:r>
              <a:rPr dirty="0" sz="1800" spc="-105" b="1">
                <a:latin typeface="Trebuchet MS"/>
                <a:cs typeface="Trebuchet MS"/>
              </a:rPr>
              <a:t>method.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36244" y="4925069"/>
            <a:ext cx="3312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0" b="1">
                <a:latin typeface="Trebuchet MS"/>
                <a:cs typeface="Trebuchet MS"/>
              </a:rPr>
              <a:t>Give </a:t>
            </a:r>
            <a:r>
              <a:rPr dirty="0" sz="1800" spc="-105" b="1">
                <a:latin typeface="Trebuchet MS"/>
                <a:cs typeface="Trebuchet MS"/>
              </a:rPr>
              <a:t>rise </a:t>
            </a:r>
            <a:r>
              <a:rPr dirty="0" sz="1800" spc="-80" b="1">
                <a:latin typeface="Trebuchet MS"/>
                <a:cs typeface="Trebuchet MS"/>
              </a:rPr>
              <a:t>to </a:t>
            </a:r>
            <a:r>
              <a:rPr dirty="0" sz="1800" spc="-100" b="1">
                <a:latin typeface="Trebuchet MS"/>
                <a:cs typeface="Trebuchet MS"/>
              </a:rPr>
              <a:t>thermosetting</a:t>
            </a:r>
            <a:r>
              <a:rPr dirty="0" sz="1800" spc="-305" b="1">
                <a:latin typeface="Trebuchet MS"/>
                <a:cs typeface="Trebuchet MS"/>
              </a:rPr>
              <a:t> </a:t>
            </a:r>
            <a:r>
              <a:rPr dirty="0" sz="1800" spc="-110" b="1">
                <a:latin typeface="Trebuchet MS"/>
                <a:cs typeface="Trebuchet MS"/>
              </a:rPr>
              <a:t>plastics.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0786" y="5906551"/>
            <a:ext cx="729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 b="1">
                <a:latin typeface="Trebuchet MS"/>
                <a:cs typeface="Trebuchet MS"/>
              </a:rPr>
              <a:t>Eg.</a:t>
            </a:r>
            <a:r>
              <a:rPr dirty="0" sz="1800" spc="-215" b="1">
                <a:latin typeface="Trebuchet MS"/>
                <a:cs typeface="Trebuchet MS"/>
              </a:rPr>
              <a:t> </a:t>
            </a:r>
            <a:r>
              <a:rPr dirty="0" sz="1800" spc="-120" b="1">
                <a:latin typeface="Trebuchet MS"/>
                <a:cs typeface="Trebuchet MS"/>
              </a:rPr>
              <a:t>PVC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37025" y="5906551"/>
            <a:ext cx="2164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0" b="1">
                <a:latin typeface="Trebuchet MS"/>
                <a:cs typeface="Trebuchet MS"/>
              </a:rPr>
              <a:t>Eg. </a:t>
            </a:r>
            <a:r>
              <a:rPr dirty="0" sz="1800" spc="-110" b="1">
                <a:latin typeface="Trebuchet MS"/>
                <a:cs typeface="Trebuchet MS"/>
              </a:rPr>
              <a:t>Polyesters </a:t>
            </a:r>
            <a:r>
              <a:rPr dirty="0" sz="1800" spc="-200" b="1">
                <a:latin typeface="Trebuchet MS"/>
                <a:cs typeface="Trebuchet MS"/>
              </a:rPr>
              <a:t>,</a:t>
            </a:r>
            <a:r>
              <a:rPr dirty="0" sz="1800" spc="-254" b="1">
                <a:latin typeface="Trebuchet MS"/>
                <a:cs typeface="Trebuchet MS"/>
              </a:rPr>
              <a:t> </a:t>
            </a:r>
            <a:r>
              <a:rPr dirty="0" sz="1800" spc="-105" b="1">
                <a:latin typeface="Trebuchet MS"/>
                <a:cs typeface="Trebuchet MS"/>
              </a:rPr>
              <a:t>nylons.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64153"/>
            <a:ext cx="52228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COMPOUNDING </a:t>
            </a:r>
            <a:r>
              <a:rPr dirty="0" sz="2800" spc="-20"/>
              <a:t>OF</a:t>
            </a:r>
            <a:r>
              <a:rPr dirty="0" sz="2800" spc="-65"/>
              <a:t> </a:t>
            </a:r>
            <a:r>
              <a:rPr dirty="0" sz="2800" spc="-10"/>
              <a:t>PLASTICS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03793" y="1765820"/>
            <a:ext cx="7799070" cy="404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66666"/>
              <a:buFont typeface="Georgia"/>
              <a:buChar char=""/>
              <a:tabLst>
                <a:tab pos="223520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It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process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 mixing certain additives in 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required 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proportions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main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plastics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order </a:t>
            </a:r>
            <a:r>
              <a:rPr dirty="0" sz="2400" spc="5" b="1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modify certain  existing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properties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&amp; </a:t>
            </a:r>
            <a:r>
              <a:rPr dirty="0" sz="2400" spc="5" b="1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incorporate new properties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, so that 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new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plastic obtained is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commercially</a:t>
            </a:r>
            <a:r>
              <a:rPr dirty="0" sz="24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exploited.</a:t>
            </a:r>
            <a:endParaRPr sz="2400">
              <a:latin typeface="Times New Roman"/>
              <a:cs typeface="Times New Roman"/>
            </a:endParaRPr>
          </a:p>
          <a:p>
            <a:pPr marL="12700" marR="400685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323850" algn="l"/>
              </a:tabLst>
            </a:pP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main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ingredients (additives)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used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in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process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of 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com[pounding </a:t>
            </a:r>
            <a:r>
              <a:rPr dirty="0" sz="2400" spc="-20" b="1">
                <a:solidFill>
                  <a:srgbClr val="00AF50"/>
                </a:solidFill>
                <a:latin typeface="Times New Roman"/>
                <a:cs typeface="Times New Roman"/>
              </a:rPr>
              <a:t>are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as</a:t>
            </a:r>
            <a:r>
              <a:rPr dirty="0" sz="2400" spc="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"/>
            </a:pPr>
            <a:endParaRPr sz="3500">
              <a:latin typeface="Times New Roman"/>
              <a:cs typeface="Times New Roman"/>
            </a:endParaRPr>
          </a:p>
          <a:p>
            <a:pPr lvl="1" marL="425450" indent="-262890">
              <a:lnSpc>
                <a:spcPct val="100000"/>
              </a:lnSpc>
              <a:buAutoNum type="romanLcParenR"/>
              <a:tabLst>
                <a:tab pos="426084" algn="l"/>
                <a:tab pos="1592580" algn="l"/>
                <a:tab pos="299466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Binders	</a:t>
            </a:r>
            <a:r>
              <a:rPr dirty="0" sz="2400" b="1">
                <a:latin typeface="Times New Roman"/>
                <a:cs typeface="Times New Roman"/>
              </a:rPr>
              <a:t>ii)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Fillers	iii) </a:t>
            </a:r>
            <a:r>
              <a:rPr dirty="0" sz="2400" spc="-5" b="1">
                <a:latin typeface="Times New Roman"/>
                <a:cs typeface="Times New Roman"/>
              </a:rPr>
              <a:t>Plasticizers </a:t>
            </a:r>
            <a:r>
              <a:rPr dirty="0" sz="2400" b="1">
                <a:latin typeface="Times New Roman"/>
                <a:cs typeface="Times New Roman"/>
              </a:rPr>
              <a:t>iv)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Catalyst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tabLst>
                <a:tab pos="2098675" algn="l"/>
                <a:tab pos="4098290" algn="l"/>
              </a:tabLst>
            </a:pPr>
            <a:r>
              <a:rPr dirty="0" sz="2400" b="1">
                <a:latin typeface="Times New Roman"/>
                <a:cs typeface="Times New Roman"/>
              </a:rPr>
              <a:t>iv) </a:t>
            </a:r>
            <a:r>
              <a:rPr dirty="0" sz="2400" spc="-5" b="1">
                <a:latin typeface="Times New Roman"/>
                <a:cs typeface="Times New Roman"/>
              </a:rPr>
              <a:t>Stabilizers	</a:t>
            </a:r>
            <a:r>
              <a:rPr dirty="0" sz="2400" b="1">
                <a:latin typeface="Times New Roman"/>
                <a:cs typeface="Times New Roman"/>
              </a:rPr>
              <a:t>v)</a:t>
            </a:r>
            <a:r>
              <a:rPr dirty="0" sz="2400" spc="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Lubricants	</a:t>
            </a:r>
            <a:r>
              <a:rPr dirty="0" sz="2400" b="1">
                <a:latin typeface="Times New Roman"/>
                <a:cs typeface="Times New Roman"/>
              </a:rPr>
              <a:t>viii) Dyes &amp;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pigments.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8379" y="6880117"/>
            <a:ext cx="175260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8</a:t>
            </a:fld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4649" y="6880117"/>
            <a:ext cx="2875280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15">
                <a:solidFill>
                  <a:srgbClr val="3F3F3F"/>
                </a:solidFill>
                <a:latin typeface="Times New Roman"/>
                <a:cs typeface="Times New Roman"/>
              </a:rPr>
              <a:t>NotesMrs. </a:t>
            </a:r>
            <a:r>
              <a:rPr dirty="0" sz="1400" spc="25">
                <a:solidFill>
                  <a:srgbClr val="3F3F3F"/>
                </a:solidFill>
                <a:latin typeface="Times New Roman"/>
                <a:cs typeface="Times New Roman"/>
              </a:rPr>
              <a:t>Rupal </a:t>
            </a:r>
            <a:r>
              <a:rPr dirty="0" sz="1400" spc="10">
                <a:solidFill>
                  <a:srgbClr val="3F3F3F"/>
                </a:solidFill>
                <a:latin typeface="Times New Roman"/>
                <a:cs typeface="Times New Roman"/>
              </a:rPr>
              <a:t>Agme-Jadhav</a:t>
            </a:r>
            <a:r>
              <a:rPr dirty="0" sz="1400" spc="-27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3F3F3F"/>
                </a:solidFill>
                <a:latin typeface="Times New Roman"/>
                <a:cs typeface="Times New Roman"/>
              </a:rPr>
              <a:t>(Ph.D.)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64153"/>
            <a:ext cx="52228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COMPOUNDING </a:t>
            </a:r>
            <a:r>
              <a:rPr dirty="0" sz="2800" spc="-20"/>
              <a:t>OF</a:t>
            </a:r>
            <a:r>
              <a:rPr dirty="0" sz="2800" spc="-65"/>
              <a:t> </a:t>
            </a:r>
            <a:r>
              <a:rPr dirty="0" sz="2800" spc="-10"/>
              <a:t>PLASTICS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853439" y="6039611"/>
            <a:ext cx="8747760" cy="1275715"/>
            <a:chOff x="853439" y="6039611"/>
            <a:chExt cx="8747760" cy="1275715"/>
          </a:xfrm>
        </p:grpSpPr>
        <p:sp>
          <p:nvSpPr>
            <p:cNvPr id="4" name="object 4"/>
            <p:cNvSpPr/>
            <p:nvPr/>
          </p:nvSpPr>
          <p:spPr>
            <a:xfrm>
              <a:off x="853439" y="6760463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45451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3779" y="6871236"/>
            <a:ext cx="1244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3793" y="1692657"/>
            <a:ext cx="7639050" cy="45612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527685" algn="l"/>
              </a:tabLst>
            </a:pPr>
            <a:r>
              <a:rPr dirty="0" sz="2400" b="1">
                <a:latin typeface="Times New Roman"/>
                <a:cs typeface="Times New Roman"/>
              </a:rPr>
              <a:t>i)	</a:t>
            </a:r>
            <a:r>
              <a:rPr dirty="0" sz="2400" spc="-5" b="1">
                <a:latin typeface="Times New Roman"/>
                <a:cs typeface="Times New Roman"/>
              </a:rPr>
              <a:t>Binders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601980" algn="l"/>
                <a:tab pos="602615" algn="l"/>
              </a:tabLst>
            </a:pPr>
            <a:r>
              <a:rPr dirty="0"/>
              <a:t>	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Generally plastic is classified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depending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on </a:t>
            </a:r>
            <a:r>
              <a:rPr dirty="0" sz="2400" spc="5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type</a:t>
            </a:r>
            <a:r>
              <a:rPr dirty="0" sz="2400" spc="-16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of 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binder used </a:t>
            </a:r>
            <a:r>
              <a:rPr dirty="0" sz="2400" spc="5" b="1">
                <a:solidFill>
                  <a:srgbClr val="00AF50"/>
                </a:solidFill>
                <a:latin typeface="Times New Roman"/>
                <a:cs typeface="Times New Roman"/>
              </a:rPr>
              <a:t>for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its</a:t>
            </a:r>
            <a:r>
              <a:rPr dirty="0" sz="2400" spc="-114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manufacture.</a:t>
            </a:r>
            <a:endParaRPr sz="2400">
              <a:latin typeface="Times New Roman"/>
              <a:cs typeface="Times New Roman"/>
            </a:endParaRPr>
          </a:p>
          <a:p>
            <a:pPr marL="527685" marR="917575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The main function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of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binder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is </a:t>
            </a:r>
            <a:r>
              <a:rPr dirty="0" sz="2400" spc="5" b="1">
                <a:solidFill>
                  <a:srgbClr val="00AF5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hold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other 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constituents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of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plastic</a:t>
            </a:r>
            <a:r>
              <a:rPr dirty="0" sz="2400" spc="-4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00AF50"/>
                </a:solidFill>
                <a:latin typeface="Times New Roman"/>
                <a:cs typeface="Times New Roman"/>
              </a:rPr>
              <a:t>together.</a:t>
            </a:r>
            <a:endParaRPr sz="2400">
              <a:latin typeface="Times New Roman"/>
              <a:cs typeface="Times New Roman"/>
            </a:endParaRPr>
          </a:p>
          <a:p>
            <a:pPr marL="527685" marR="133985" indent="-51562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 binder used may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be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natural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or synthetic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resins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or  cellulose</a:t>
            </a:r>
            <a:r>
              <a:rPr dirty="0" sz="2400" spc="-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derivatives.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latin typeface="Times New Roman"/>
                <a:cs typeface="Times New Roman"/>
              </a:rPr>
              <a:t>ii) Fillers :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reduce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 cost of the</a:t>
            </a:r>
            <a:r>
              <a:rPr dirty="0" sz="2400" spc="-14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plastics.</a:t>
            </a:r>
            <a:endParaRPr sz="2400">
              <a:latin typeface="Times New Roman"/>
              <a:cs typeface="Times New Roman"/>
            </a:endParaRPr>
          </a:p>
          <a:p>
            <a:pPr marL="527685" marR="502920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impart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better tensile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strength hardness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</a:t>
            </a:r>
            <a:r>
              <a:rPr dirty="0" sz="2400" spc="-15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  plastics.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  <a:tab pos="1109345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Eg.	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Carborundum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quartz</a:t>
            </a:r>
            <a:r>
              <a:rPr dirty="0" sz="2400" spc="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4649" y="6871236"/>
            <a:ext cx="321056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30">
                <a:solidFill>
                  <a:srgbClr val="3F3F3F"/>
                </a:solidFill>
                <a:latin typeface="Times New Roman"/>
                <a:cs typeface="Times New Roman"/>
              </a:rPr>
              <a:t>Notes</a:t>
            </a:r>
            <a:r>
              <a:rPr dirty="0" sz="1400" spc="-8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5">
                <a:solidFill>
                  <a:srgbClr val="3F3F3F"/>
                </a:solidFill>
                <a:latin typeface="Times New Roman"/>
                <a:cs typeface="Times New Roman"/>
              </a:rPr>
              <a:t>by:</a:t>
            </a:r>
            <a:r>
              <a:rPr dirty="0" sz="1400" spc="-4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5">
                <a:solidFill>
                  <a:srgbClr val="3F3F3F"/>
                </a:solidFill>
                <a:latin typeface="Times New Roman"/>
                <a:cs typeface="Times New Roman"/>
              </a:rPr>
              <a:t>Prof.</a:t>
            </a:r>
            <a:r>
              <a:rPr dirty="0" sz="1400" spc="-4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25">
                <a:solidFill>
                  <a:srgbClr val="3F3F3F"/>
                </a:solidFill>
                <a:latin typeface="Times New Roman"/>
                <a:cs typeface="Times New Roman"/>
              </a:rPr>
              <a:t>Rupal</a:t>
            </a:r>
            <a:r>
              <a:rPr dirty="0" sz="1400" spc="-6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3F3F3F"/>
                </a:solidFill>
                <a:latin typeface="Times New Roman"/>
                <a:cs typeface="Times New Roman"/>
              </a:rPr>
              <a:t>Agme-Jadhav</a:t>
            </a:r>
            <a:r>
              <a:rPr dirty="0" sz="1400" spc="-8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3F3F3F"/>
                </a:solidFill>
                <a:latin typeface="Times New Roman"/>
                <a:cs typeface="Times New Roman"/>
              </a:rPr>
              <a:t>(Ph.D.)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64153"/>
            <a:ext cx="52228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COMPOUNDING </a:t>
            </a:r>
            <a:r>
              <a:rPr dirty="0" sz="2800" spc="-20"/>
              <a:t>OF</a:t>
            </a:r>
            <a:r>
              <a:rPr dirty="0" sz="2800" spc="-65"/>
              <a:t> </a:t>
            </a:r>
            <a:r>
              <a:rPr dirty="0" sz="2800" spc="-10"/>
              <a:t>PLASTICS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853439" y="6039611"/>
            <a:ext cx="8747760" cy="1275715"/>
            <a:chOff x="853439" y="6039611"/>
            <a:chExt cx="8747760" cy="1275715"/>
          </a:xfrm>
        </p:grpSpPr>
        <p:sp>
          <p:nvSpPr>
            <p:cNvPr id="4" name="object 4"/>
            <p:cNvSpPr/>
            <p:nvPr/>
          </p:nvSpPr>
          <p:spPr>
            <a:xfrm>
              <a:off x="853439" y="6760463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45451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3793" y="1692657"/>
            <a:ext cx="7811134" cy="44881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latin typeface="Times New Roman"/>
                <a:cs typeface="Times New Roman"/>
              </a:rPr>
              <a:t>iii) </a:t>
            </a:r>
            <a:r>
              <a:rPr dirty="0" sz="2400" spc="-5" b="1">
                <a:latin typeface="Times New Roman"/>
                <a:cs typeface="Times New Roman"/>
              </a:rPr>
              <a:t>Plasticizers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The </a:t>
            </a:r>
            <a:r>
              <a:rPr dirty="0" sz="2400" b="1">
                <a:latin typeface="Times New Roman"/>
                <a:cs typeface="Times New Roman"/>
              </a:rPr>
              <a:t>important </a:t>
            </a:r>
            <a:r>
              <a:rPr dirty="0" sz="2400" spc="-5" b="1">
                <a:latin typeface="Times New Roman"/>
                <a:cs typeface="Times New Roman"/>
              </a:rPr>
              <a:t>function </a:t>
            </a:r>
            <a:r>
              <a:rPr dirty="0" sz="2400" b="1">
                <a:latin typeface="Times New Roman"/>
                <a:cs typeface="Times New Roman"/>
              </a:rPr>
              <a:t>of </a:t>
            </a:r>
            <a:r>
              <a:rPr dirty="0" sz="2400" spc="-5" b="1">
                <a:latin typeface="Times New Roman"/>
                <a:cs typeface="Times New Roman"/>
              </a:rPr>
              <a:t>plasticizer </a:t>
            </a:r>
            <a:r>
              <a:rPr dirty="0" sz="2400" b="1">
                <a:latin typeface="Times New Roman"/>
                <a:cs typeface="Times New Roman"/>
              </a:rPr>
              <a:t>is </a:t>
            </a:r>
            <a:r>
              <a:rPr dirty="0" sz="2400" spc="-5" b="1">
                <a:latin typeface="Times New Roman"/>
                <a:cs typeface="Times New Roman"/>
              </a:rPr>
              <a:t>to improve  </a:t>
            </a:r>
            <a:r>
              <a:rPr dirty="0" sz="2400" b="1">
                <a:latin typeface="Times New Roman"/>
                <a:cs typeface="Times New Roman"/>
              </a:rPr>
              <a:t>plasticity and </a:t>
            </a:r>
            <a:r>
              <a:rPr dirty="0" sz="2400" spc="-15" b="1">
                <a:latin typeface="Times New Roman"/>
                <a:cs typeface="Times New Roman"/>
              </a:rPr>
              <a:t>flexibility, </a:t>
            </a:r>
            <a:r>
              <a:rPr dirty="0" sz="2400" spc="10" b="1">
                <a:latin typeface="Times New Roman"/>
                <a:cs typeface="Times New Roman"/>
              </a:rPr>
              <a:t>so </a:t>
            </a:r>
            <a:r>
              <a:rPr dirty="0" sz="2400" b="1">
                <a:latin typeface="Times New Roman"/>
                <a:cs typeface="Times New Roman"/>
              </a:rPr>
              <a:t>as </a:t>
            </a:r>
            <a:r>
              <a:rPr dirty="0" sz="2400" spc="-5" b="1">
                <a:latin typeface="Times New Roman"/>
                <a:cs typeface="Times New Roman"/>
              </a:rPr>
              <a:t>to </a:t>
            </a:r>
            <a:r>
              <a:rPr dirty="0" sz="2400" spc="-15" b="1">
                <a:latin typeface="Times New Roman"/>
                <a:cs typeface="Times New Roman"/>
              </a:rPr>
              <a:t>reduce </a:t>
            </a:r>
            <a:r>
              <a:rPr dirty="0" sz="2400" b="1">
                <a:latin typeface="Times New Roman"/>
                <a:cs typeface="Times New Roman"/>
              </a:rPr>
              <a:t>the </a:t>
            </a:r>
            <a:r>
              <a:rPr dirty="0" sz="2400" spc="-10" b="1">
                <a:latin typeface="Times New Roman"/>
                <a:cs typeface="Times New Roman"/>
              </a:rPr>
              <a:t>tempreature  </a:t>
            </a:r>
            <a:r>
              <a:rPr dirty="0" sz="2400" b="1">
                <a:latin typeface="Times New Roman"/>
                <a:cs typeface="Times New Roman"/>
              </a:rPr>
              <a:t>and </a:t>
            </a:r>
            <a:r>
              <a:rPr dirty="0" sz="2400" spc="-20" b="1">
                <a:latin typeface="Times New Roman"/>
                <a:cs typeface="Times New Roman"/>
              </a:rPr>
              <a:t>pressure </a:t>
            </a:r>
            <a:r>
              <a:rPr dirty="0" sz="2400" spc="-15" b="1">
                <a:latin typeface="Times New Roman"/>
                <a:cs typeface="Times New Roman"/>
              </a:rPr>
              <a:t>required </a:t>
            </a:r>
            <a:r>
              <a:rPr dirty="0" sz="2400" spc="-5" b="1">
                <a:latin typeface="Times New Roman"/>
                <a:cs typeface="Times New Roman"/>
              </a:rPr>
              <a:t>for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moulding.</a:t>
            </a:r>
            <a:endParaRPr sz="2400">
              <a:latin typeface="Times New Roman"/>
              <a:cs typeface="Times New Roman"/>
            </a:endParaRPr>
          </a:p>
          <a:p>
            <a:pPr marL="527685" marR="603250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Most </a:t>
            </a:r>
            <a:r>
              <a:rPr dirty="0" sz="2400" b="1">
                <a:latin typeface="Times New Roman"/>
                <a:cs typeface="Times New Roman"/>
              </a:rPr>
              <a:t>commonly used </a:t>
            </a:r>
            <a:r>
              <a:rPr dirty="0" sz="2400" spc="-5" b="1">
                <a:latin typeface="Times New Roman"/>
                <a:cs typeface="Times New Roman"/>
              </a:rPr>
              <a:t>plasticizers </a:t>
            </a:r>
            <a:r>
              <a:rPr dirty="0" sz="2400" spc="-20" b="1">
                <a:latin typeface="Times New Roman"/>
                <a:cs typeface="Times New Roman"/>
              </a:rPr>
              <a:t>are </a:t>
            </a:r>
            <a:r>
              <a:rPr dirty="0" sz="2400" b="1">
                <a:latin typeface="Times New Roman"/>
                <a:cs typeface="Times New Roman"/>
              </a:rPr>
              <a:t>vegetable oils,  </a:t>
            </a:r>
            <a:r>
              <a:rPr dirty="0" sz="2400" spc="-30" b="1">
                <a:latin typeface="Times New Roman"/>
                <a:cs typeface="Times New Roman"/>
              </a:rPr>
              <a:t>camphor, </a:t>
            </a:r>
            <a:r>
              <a:rPr dirty="0" sz="2400" b="1">
                <a:latin typeface="Times New Roman"/>
                <a:cs typeface="Times New Roman"/>
              </a:rPr>
              <a:t>triphenyl </a:t>
            </a:r>
            <a:r>
              <a:rPr dirty="0" sz="2400" spc="-5" b="1">
                <a:latin typeface="Times New Roman"/>
                <a:cs typeface="Times New Roman"/>
              </a:rPr>
              <a:t>phosphate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latin typeface="Times New Roman"/>
                <a:cs typeface="Times New Roman"/>
              </a:rPr>
              <a:t>iv) Catalyst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27685" marR="60960" indent="-51562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Accelerators 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are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added </a:t>
            </a:r>
            <a:r>
              <a:rPr dirty="0" sz="2400" spc="10" b="1">
                <a:solidFill>
                  <a:srgbClr val="001F60"/>
                </a:solidFill>
                <a:latin typeface="Times New Roman"/>
                <a:cs typeface="Times New Roman"/>
              </a:rPr>
              <a:t>in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case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 thermosetting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plastics  to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increase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the polymerization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 fusible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resin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during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moulding</a:t>
            </a:r>
            <a:r>
              <a:rPr dirty="0" sz="2400" spc="-3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process.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Eg: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hydrogen peroxide,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benzoyl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peroxide.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3779" y="6871236"/>
            <a:ext cx="374459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3405" algn="l"/>
              </a:tabLst>
            </a:pP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10	</a:t>
            </a:r>
            <a:r>
              <a:rPr dirty="0" sz="1400" spc="30">
                <a:solidFill>
                  <a:srgbClr val="3F3F3F"/>
                </a:solidFill>
                <a:latin typeface="Times New Roman"/>
                <a:cs typeface="Times New Roman"/>
              </a:rPr>
              <a:t>Notes</a:t>
            </a:r>
            <a:r>
              <a:rPr dirty="0" sz="1400" spc="-7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5">
                <a:solidFill>
                  <a:srgbClr val="3F3F3F"/>
                </a:solidFill>
                <a:latin typeface="Times New Roman"/>
                <a:cs typeface="Times New Roman"/>
              </a:rPr>
              <a:t>by:</a:t>
            </a:r>
            <a:r>
              <a:rPr dirty="0" sz="1400" spc="-3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3F3F3F"/>
                </a:solidFill>
                <a:latin typeface="Times New Roman"/>
                <a:cs typeface="Times New Roman"/>
              </a:rPr>
              <a:t>Mrs.</a:t>
            </a:r>
            <a:r>
              <a:rPr dirty="0" sz="1400" spc="-3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20">
                <a:solidFill>
                  <a:srgbClr val="3F3F3F"/>
                </a:solidFill>
                <a:latin typeface="Times New Roman"/>
                <a:cs typeface="Times New Roman"/>
              </a:rPr>
              <a:t>Rupal</a:t>
            </a:r>
            <a:r>
              <a:rPr dirty="0" sz="1400" spc="-6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3F3F3F"/>
                </a:solidFill>
                <a:latin typeface="Times New Roman"/>
                <a:cs typeface="Times New Roman"/>
              </a:rPr>
              <a:t>Agme-Jadhav</a:t>
            </a:r>
            <a:r>
              <a:rPr dirty="0" sz="1400" spc="-8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3F3F3F"/>
                </a:solidFill>
                <a:latin typeface="Times New Roman"/>
                <a:cs typeface="Times New Roman"/>
              </a:rPr>
              <a:t>(Ph.D.)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64153"/>
            <a:ext cx="52228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COMPOUNDING </a:t>
            </a:r>
            <a:r>
              <a:rPr dirty="0" sz="2800" spc="-20"/>
              <a:t>OF</a:t>
            </a:r>
            <a:r>
              <a:rPr dirty="0" sz="2800" spc="-65"/>
              <a:t> </a:t>
            </a:r>
            <a:r>
              <a:rPr dirty="0" sz="2800" spc="-10"/>
              <a:t>PLASTICS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03793" y="1692657"/>
            <a:ext cx="7621270" cy="37566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latin typeface="Times New Roman"/>
                <a:cs typeface="Times New Roman"/>
              </a:rPr>
              <a:t>v) </a:t>
            </a:r>
            <a:r>
              <a:rPr dirty="0" sz="2400" spc="-5" b="1">
                <a:latin typeface="Times New Roman"/>
                <a:cs typeface="Times New Roman"/>
              </a:rPr>
              <a:t>Stabilizers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spc="-105" b="1">
                <a:latin typeface="Times New Roman"/>
                <a:cs typeface="Times New Roman"/>
              </a:rPr>
              <a:t>To </a:t>
            </a:r>
            <a:r>
              <a:rPr dirty="0" sz="2400" spc="-5" b="1">
                <a:latin typeface="Times New Roman"/>
                <a:cs typeface="Times New Roman"/>
              </a:rPr>
              <a:t>improve </a:t>
            </a:r>
            <a:r>
              <a:rPr dirty="0" sz="2400" spc="5" b="1">
                <a:latin typeface="Times New Roman"/>
                <a:cs typeface="Times New Roman"/>
              </a:rPr>
              <a:t>the </a:t>
            </a:r>
            <a:r>
              <a:rPr dirty="0" sz="2400" spc="-5" b="1">
                <a:latin typeface="Times New Roman"/>
                <a:cs typeface="Times New Roman"/>
              </a:rPr>
              <a:t>thermal </a:t>
            </a:r>
            <a:r>
              <a:rPr dirty="0" sz="2400" b="1">
                <a:latin typeface="Times New Roman"/>
                <a:cs typeface="Times New Roman"/>
              </a:rPr>
              <a:t>stability </a:t>
            </a:r>
            <a:r>
              <a:rPr dirty="0" sz="2400" spc="-5" b="1">
                <a:latin typeface="Times New Roman"/>
                <a:cs typeface="Times New Roman"/>
              </a:rPr>
              <a:t>during</a:t>
            </a:r>
            <a:r>
              <a:rPr dirty="0" sz="2400" spc="2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processing.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b="1">
                <a:latin typeface="Times New Roman"/>
                <a:cs typeface="Times New Roman"/>
              </a:rPr>
              <a:t>Eg. Alkaline </a:t>
            </a:r>
            <a:r>
              <a:rPr dirty="0" sz="2400" spc="-5" b="1">
                <a:latin typeface="Times New Roman"/>
                <a:cs typeface="Times New Roman"/>
              </a:rPr>
              <a:t>earth </a:t>
            </a:r>
            <a:r>
              <a:rPr dirty="0" sz="2400" b="1">
                <a:latin typeface="Times New Roman"/>
                <a:cs typeface="Times New Roman"/>
              </a:rPr>
              <a:t>oxides, organometallic </a:t>
            </a:r>
            <a:r>
              <a:rPr dirty="0" sz="2400" spc="-5" b="1">
                <a:latin typeface="Times New Roman"/>
                <a:cs typeface="Times New Roman"/>
              </a:rPr>
              <a:t>salts</a:t>
            </a:r>
            <a:r>
              <a:rPr dirty="0" sz="2400" spc="-254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latin typeface="Times New Roman"/>
                <a:cs typeface="Times New Roman"/>
              </a:rPr>
              <a:t>vi) </a:t>
            </a:r>
            <a:r>
              <a:rPr dirty="0" sz="2400" spc="-5" b="1">
                <a:latin typeface="Times New Roman"/>
                <a:cs typeface="Times New Roman"/>
              </a:rPr>
              <a:t>Lubricants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These additives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promote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 good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finish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 plastic  materials, in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addition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improving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flow 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characteristics and friction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reduction in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processing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machines.</a:t>
            </a:r>
            <a:endParaRPr sz="24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Eg: </a:t>
            </a:r>
            <a:r>
              <a:rPr dirty="0" sz="2400" spc="-30" b="1">
                <a:solidFill>
                  <a:srgbClr val="001F60"/>
                </a:solidFill>
                <a:latin typeface="Times New Roman"/>
                <a:cs typeface="Times New Roman"/>
              </a:rPr>
              <a:t>Waxes,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oils,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oleates</a:t>
            </a:r>
            <a:r>
              <a:rPr dirty="0" sz="2400" spc="-114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3779" y="6871236"/>
            <a:ext cx="37712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3405" algn="l"/>
              </a:tabLst>
            </a:pP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11	</a:t>
            </a:r>
            <a:r>
              <a:rPr dirty="0" sz="1400" spc="30">
                <a:solidFill>
                  <a:srgbClr val="3F3F3F"/>
                </a:solidFill>
                <a:latin typeface="Times New Roman"/>
                <a:cs typeface="Times New Roman"/>
              </a:rPr>
              <a:t>Notes</a:t>
            </a:r>
            <a:r>
              <a:rPr dirty="0" sz="1400" spc="-8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5">
                <a:solidFill>
                  <a:srgbClr val="3F3F3F"/>
                </a:solidFill>
                <a:latin typeface="Times New Roman"/>
                <a:cs typeface="Times New Roman"/>
              </a:rPr>
              <a:t>by:</a:t>
            </a:r>
            <a:r>
              <a:rPr dirty="0" sz="1400" spc="-4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5">
                <a:solidFill>
                  <a:srgbClr val="3F3F3F"/>
                </a:solidFill>
                <a:latin typeface="Times New Roman"/>
                <a:cs typeface="Times New Roman"/>
              </a:rPr>
              <a:t>Prof.</a:t>
            </a:r>
            <a:r>
              <a:rPr dirty="0" sz="1400" spc="-4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25">
                <a:solidFill>
                  <a:srgbClr val="3F3F3F"/>
                </a:solidFill>
                <a:latin typeface="Times New Roman"/>
                <a:cs typeface="Times New Roman"/>
              </a:rPr>
              <a:t>Rupal</a:t>
            </a:r>
            <a:r>
              <a:rPr dirty="0" sz="1400" spc="-6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3F3F3F"/>
                </a:solidFill>
                <a:latin typeface="Times New Roman"/>
                <a:cs typeface="Times New Roman"/>
              </a:rPr>
              <a:t>Agme-Jadhav</a:t>
            </a:r>
            <a:r>
              <a:rPr dirty="0" sz="1400" spc="-8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3F3F3F"/>
                </a:solidFill>
                <a:latin typeface="Times New Roman"/>
                <a:cs typeface="Times New Roman"/>
              </a:rPr>
              <a:t>(Ph.D.)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64153"/>
            <a:ext cx="52228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/>
              <a:t>COMPOUNDING </a:t>
            </a:r>
            <a:r>
              <a:rPr dirty="0" sz="2800" spc="-20"/>
              <a:t>OF</a:t>
            </a:r>
            <a:r>
              <a:rPr dirty="0" sz="2800" spc="-65"/>
              <a:t> </a:t>
            </a:r>
            <a:r>
              <a:rPr dirty="0" sz="2800" spc="-10"/>
              <a:t>PLASTICS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03793" y="1692657"/>
            <a:ext cx="7751445" cy="207391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latin typeface="Times New Roman"/>
                <a:cs typeface="Times New Roman"/>
              </a:rPr>
              <a:t>vii) </a:t>
            </a:r>
            <a:r>
              <a:rPr dirty="0" sz="2400" spc="-5" b="1">
                <a:latin typeface="Times New Roman"/>
                <a:cs typeface="Times New Roman"/>
              </a:rPr>
              <a:t>Dyes </a:t>
            </a:r>
            <a:r>
              <a:rPr dirty="0" sz="2400" b="1">
                <a:latin typeface="Times New Roman"/>
                <a:cs typeface="Times New Roman"/>
              </a:rPr>
              <a:t>&amp; </a:t>
            </a:r>
            <a:r>
              <a:rPr dirty="0" sz="2400" spc="-5" b="1">
                <a:latin typeface="Times New Roman"/>
                <a:cs typeface="Times New Roman"/>
              </a:rPr>
              <a:t>pigment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27685" marR="124460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are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added for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providing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decorative colours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2400" spc="-10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  plastic.</a:t>
            </a:r>
            <a:endParaRPr sz="2400">
              <a:latin typeface="Times New Roman"/>
              <a:cs typeface="Times New Roman"/>
            </a:endParaRPr>
          </a:p>
          <a:p>
            <a:pPr marL="527685" marR="5080" indent="-51562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527685" algn="l"/>
                <a:tab pos="528320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The main colouring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materials 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are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organic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dyestuffs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and  opaque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inorganic</a:t>
            </a:r>
            <a:r>
              <a:rPr dirty="0" sz="2400" spc="-4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pigments.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3439" y="6039611"/>
            <a:ext cx="8747760" cy="1275715"/>
            <a:chOff x="853439" y="6039611"/>
            <a:chExt cx="8747760" cy="1275715"/>
          </a:xfrm>
        </p:grpSpPr>
        <p:sp>
          <p:nvSpPr>
            <p:cNvPr id="5" name="object 5"/>
            <p:cNvSpPr/>
            <p:nvPr/>
          </p:nvSpPr>
          <p:spPr>
            <a:xfrm>
              <a:off x="853439" y="6760463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45451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03779" y="6871236"/>
            <a:ext cx="371982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3405" algn="l"/>
              </a:tabLst>
            </a:pP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12	</a:t>
            </a:r>
            <a:r>
              <a:rPr dirty="0" sz="1400" spc="30">
                <a:solidFill>
                  <a:srgbClr val="3F3F3F"/>
                </a:solidFill>
                <a:latin typeface="Times New Roman"/>
                <a:cs typeface="Times New Roman"/>
              </a:rPr>
              <a:t>Notes</a:t>
            </a:r>
            <a:r>
              <a:rPr dirty="0" sz="1400" spc="-7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45">
                <a:solidFill>
                  <a:srgbClr val="3F3F3F"/>
                </a:solidFill>
                <a:latin typeface="Times New Roman"/>
                <a:cs typeface="Times New Roman"/>
              </a:rPr>
              <a:t>by.</a:t>
            </a:r>
            <a:r>
              <a:rPr dirty="0" sz="1400" spc="-5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3F3F3F"/>
                </a:solidFill>
                <a:latin typeface="Times New Roman"/>
                <a:cs typeface="Times New Roman"/>
              </a:rPr>
              <a:t>Mrs.</a:t>
            </a:r>
            <a:r>
              <a:rPr dirty="0" sz="1400" spc="-3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25">
                <a:solidFill>
                  <a:srgbClr val="3F3F3F"/>
                </a:solidFill>
                <a:latin typeface="Times New Roman"/>
                <a:cs typeface="Times New Roman"/>
              </a:rPr>
              <a:t>Rupal</a:t>
            </a:r>
            <a:r>
              <a:rPr dirty="0" sz="1400" spc="-80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3F3F3F"/>
                </a:solidFill>
                <a:latin typeface="Times New Roman"/>
                <a:cs typeface="Times New Roman"/>
              </a:rPr>
              <a:t>Agme-Jadhav</a:t>
            </a:r>
            <a:r>
              <a:rPr dirty="0" sz="1400" spc="-7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1400" spc="-5">
                <a:solidFill>
                  <a:srgbClr val="3F3F3F"/>
                </a:solidFill>
                <a:latin typeface="Times New Roman"/>
                <a:cs typeface="Times New Roman"/>
              </a:rPr>
              <a:t>(Ph.D.)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077" y="999179"/>
            <a:ext cx="58813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90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400" spc="-254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2400" spc="245" b="1">
                <a:solidFill>
                  <a:srgbClr val="FFFFFF"/>
                </a:solidFill>
                <a:latin typeface="Georgia"/>
                <a:cs typeface="Georgia"/>
              </a:rPr>
              <a:t>1 </a:t>
            </a:r>
            <a:r>
              <a:rPr dirty="0" sz="2400" spc="-190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400" spc="-170" b="1">
                <a:solidFill>
                  <a:srgbClr val="FFFFFF"/>
                </a:solidFill>
                <a:latin typeface="Georgia"/>
                <a:cs typeface="Georgia"/>
              </a:rPr>
              <a:t>name:Applied</a:t>
            </a:r>
            <a:r>
              <a:rPr dirty="0" sz="2400" spc="-42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-125" b="1">
                <a:solidFill>
                  <a:srgbClr val="FFFFFF"/>
                </a:solidFill>
                <a:latin typeface="Georgia"/>
                <a:cs typeface="Georgia"/>
              </a:rPr>
              <a:t>Chemistry-1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82367" y="2875168"/>
            <a:ext cx="627951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Lecture </a:t>
            </a:r>
            <a:r>
              <a:rPr dirty="0" sz="4800" spc="-505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4800" spc="-165" b="1">
                <a:solidFill>
                  <a:srgbClr val="FFFFFF"/>
                </a:solidFill>
                <a:latin typeface="Georgia"/>
                <a:cs typeface="Georgia"/>
              </a:rPr>
              <a:t>2  </a:t>
            </a:r>
            <a:r>
              <a:rPr dirty="0" sz="4800" spc="-315" b="1">
                <a:solidFill>
                  <a:srgbClr val="FFFFFF"/>
                </a:solidFill>
                <a:latin typeface="Georgia"/>
                <a:cs typeface="Georgia"/>
              </a:rPr>
              <a:t>Fabrication </a:t>
            </a:r>
            <a:r>
              <a:rPr dirty="0" sz="4800" spc="-450" b="1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dirty="0" sz="4800" spc="-15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254" b="1">
                <a:solidFill>
                  <a:srgbClr val="FFFFFF"/>
                </a:solidFill>
                <a:latin typeface="Georgia"/>
                <a:cs typeface="Georgia"/>
              </a:rPr>
              <a:t>Plastics</a:t>
            </a:r>
            <a:endParaRPr sz="4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5879" y="2053773"/>
            <a:ext cx="8319134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Georgia"/>
              <a:buChar char=""/>
              <a:tabLst>
                <a:tab pos="429895" algn="l"/>
                <a:tab pos="430530" algn="l"/>
                <a:tab pos="1598930" algn="l"/>
              </a:tabLst>
            </a:pPr>
            <a:r>
              <a:rPr dirty="0"/>
              <a:t>	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Fabrication or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moulding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 plastics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 technique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giving 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desired	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shape to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the plastic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with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the help of mould.</a:t>
            </a:r>
            <a:endParaRPr sz="2400">
              <a:latin typeface="Times New Roman"/>
              <a:cs typeface="Times New Roman"/>
            </a:endParaRPr>
          </a:p>
          <a:p>
            <a:pPr marL="354965" marR="89535" indent="-3429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355600" algn="l"/>
              </a:tabLst>
            </a:pPr>
            <a:r>
              <a:rPr dirty="0" sz="2400" spc="-5" b="1">
                <a:solidFill>
                  <a:srgbClr val="1F497C"/>
                </a:solidFill>
                <a:latin typeface="Times New Roman"/>
                <a:cs typeface="Times New Roman"/>
              </a:rPr>
              <a:t>This technique </a:t>
            </a:r>
            <a:r>
              <a:rPr dirty="0" sz="2400" b="1">
                <a:solidFill>
                  <a:srgbClr val="1F497C"/>
                </a:solidFill>
                <a:latin typeface="Times New Roman"/>
                <a:cs typeface="Times New Roman"/>
              </a:rPr>
              <a:t>involves </a:t>
            </a:r>
            <a:r>
              <a:rPr dirty="0" sz="2400" spc="-5" b="1">
                <a:solidFill>
                  <a:srgbClr val="1F497C"/>
                </a:solidFill>
                <a:latin typeface="Times New Roman"/>
                <a:cs typeface="Times New Roman"/>
              </a:rPr>
              <a:t>fabrication </a:t>
            </a:r>
            <a:r>
              <a:rPr dirty="0" sz="2400" b="1">
                <a:solidFill>
                  <a:srgbClr val="1F497C"/>
                </a:solidFill>
                <a:latin typeface="Times New Roman"/>
                <a:cs typeface="Times New Roman"/>
              </a:rPr>
              <a:t>of plastic </a:t>
            </a:r>
            <a:r>
              <a:rPr dirty="0" sz="2400" spc="-5" b="1">
                <a:solidFill>
                  <a:srgbClr val="1F497C"/>
                </a:solidFill>
                <a:latin typeface="Times New Roman"/>
                <a:cs typeface="Times New Roman"/>
              </a:rPr>
              <a:t>under heat and  </a:t>
            </a:r>
            <a:r>
              <a:rPr dirty="0" sz="2400" spc="-15" b="1">
                <a:solidFill>
                  <a:srgbClr val="1F497C"/>
                </a:solidFill>
                <a:latin typeface="Times New Roman"/>
                <a:cs typeface="Times New Roman"/>
              </a:rPr>
              <a:t>pressure </a:t>
            </a:r>
            <a:r>
              <a:rPr dirty="0" sz="2400" spc="-5" b="1">
                <a:solidFill>
                  <a:srgbClr val="1F497C"/>
                </a:solidFill>
                <a:latin typeface="Times New Roman"/>
                <a:cs typeface="Times New Roman"/>
              </a:rPr>
              <a:t>and </a:t>
            </a:r>
            <a:r>
              <a:rPr dirty="0" sz="2400" b="1">
                <a:solidFill>
                  <a:srgbClr val="1F497C"/>
                </a:solidFill>
                <a:latin typeface="Times New Roman"/>
                <a:cs typeface="Times New Roman"/>
              </a:rPr>
              <a:t>is </a:t>
            </a:r>
            <a:r>
              <a:rPr dirty="0" sz="2400" spc="-5" b="1">
                <a:solidFill>
                  <a:srgbClr val="1F497C"/>
                </a:solidFill>
                <a:latin typeface="Times New Roman"/>
                <a:cs typeface="Times New Roman"/>
              </a:rPr>
              <a:t>applicable </a:t>
            </a:r>
            <a:r>
              <a:rPr dirty="0" sz="2400" spc="5" b="1">
                <a:solidFill>
                  <a:srgbClr val="1F497C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1F497C"/>
                </a:solidFill>
                <a:latin typeface="Times New Roman"/>
                <a:cs typeface="Times New Roman"/>
              </a:rPr>
              <a:t>both </a:t>
            </a:r>
            <a:r>
              <a:rPr dirty="0" sz="2400" spc="-5" b="1">
                <a:solidFill>
                  <a:srgbClr val="1F497C"/>
                </a:solidFill>
                <a:latin typeface="Times New Roman"/>
                <a:cs typeface="Times New Roman"/>
              </a:rPr>
              <a:t>the types </a:t>
            </a:r>
            <a:r>
              <a:rPr dirty="0" sz="2400" b="1">
                <a:solidFill>
                  <a:srgbClr val="1F497C"/>
                </a:solidFill>
                <a:latin typeface="Times New Roman"/>
                <a:cs typeface="Times New Roman"/>
              </a:rPr>
              <a:t>of </a:t>
            </a:r>
            <a:r>
              <a:rPr dirty="0" sz="2400" spc="-10" b="1">
                <a:solidFill>
                  <a:srgbClr val="1F497C"/>
                </a:solidFill>
                <a:latin typeface="Times New Roman"/>
                <a:cs typeface="Times New Roman"/>
              </a:rPr>
              <a:t>resins </a:t>
            </a:r>
            <a:r>
              <a:rPr dirty="0" sz="2400" spc="-5" b="1">
                <a:solidFill>
                  <a:srgbClr val="1F497C"/>
                </a:solidFill>
                <a:latin typeface="Times New Roman"/>
                <a:cs typeface="Times New Roman"/>
              </a:rPr>
              <a:t>i.e.  </a:t>
            </a:r>
            <a:r>
              <a:rPr dirty="0" sz="2400" b="1">
                <a:solidFill>
                  <a:srgbClr val="1F497C"/>
                </a:solidFill>
                <a:latin typeface="Times New Roman"/>
                <a:cs typeface="Times New Roman"/>
              </a:rPr>
              <a:t>thermosetting &amp;</a:t>
            </a:r>
            <a:r>
              <a:rPr dirty="0" sz="2400" spc="-65" b="1">
                <a:solidFill>
                  <a:srgbClr val="1F497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F497C"/>
                </a:solidFill>
                <a:latin typeface="Times New Roman"/>
                <a:cs typeface="Times New Roman"/>
              </a:rPr>
              <a:t>thermoplastics.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57505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Compression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Moulding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57505" algn="l"/>
              </a:tabLst>
            </a:pPr>
            <a:r>
              <a:rPr dirty="0" sz="2400" spc="-5" b="1">
                <a:solidFill>
                  <a:srgbClr val="00AFEF"/>
                </a:solidFill>
                <a:latin typeface="Times New Roman"/>
                <a:cs typeface="Times New Roman"/>
              </a:rPr>
              <a:t>Injection</a:t>
            </a:r>
            <a:r>
              <a:rPr dirty="0" sz="2400" spc="-20" b="1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AFEF"/>
                </a:solidFill>
                <a:latin typeface="Times New Roman"/>
                <a:cs typeface="Times New Roman"/>
              </a:rPr>
              <a:t>Moulding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57505" algn="l"/>
              </a:tabLst>
            </a:pPr>
            <a:r>
              <a:rPr dirty="0" sz="2400" spc="-25" b="1">
                <a:solidFill>
                  <a:srgbClr val="702FA0"/>
                </a:solidFill>
                <a:latin typeface="Times New Roman"/>
                <a:cs typeface="Times New Roman"/>
              </a:rPr>
              <a:t>Transfer</a:t>
            </a:r>
            <a:r>
              <a:rPr dirty="0" sz="2400" spc="-6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Moulding</a:t>
            </a:r>
            <a:endParaRPr sz="2400">
              <a:latin typeface="Times New Roman"/>
              <a:cs typeface="Times New Roman"/>
            </a:endParaRPr>
          </a:p>
          <a:p>
            <a:pPr marL="356870" indent="-34480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57505" algn="l"/>
              </a:tabLst>
            </a:pP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Extrusion</a:t>
            </a:r>
            <a:r>
              <a:rPr dirty="0" sz="2400" spc="-2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moulding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r>
              <a:rPr dirty="0" spc="75"/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7783" y="1855267"/>
            <a:ext cx="9043670" cy="5215255"/>
            <a:chOff x="557783" y="1855267"/>
            <a:chExt cx="9043670" cy="5215255"/>
          </a:xfrm>
        </p:grpSpPr>
        <p:sp>
          <p:nvSpPr>
            <p:cNvPr id="4" name="object 4"/>
            <p:cNvSpPr/>
            <p:nvPr/>
          </p:nvSpPr>
          <p:spPr>
            <a:xfrm>
              <a:off x="1401976" y="1855267"/>
              <a:ext cx="7457036" cy="20309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311415" y="6338772"/>
              <a:ext cx="1762011" cy="73128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7783" y="3886200"/>
              <a:ext cx="9043416" cy="250088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r>
              <a:rPr dirty="0" spc="75"/>
              <a:t>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5879" y="1602765"/>
            <a:ext cx="8893175" cy="40487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469265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1.	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Compression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Moulding</a:t>
            </a:r>
            <a:endParaRPr sz="2400">
              <a:latin typeface="Times New Roman"/>
              <a:cs typeface="Times New Roman"/>
            </a:endParaRPr>
          </a:p>
          <a:p>
            <a:pPr marL="469265" marR="1769745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This method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is applicable </a:t>
            </a:r>
            <a:r>
              <a:rPr dirty="0" sz="2400" spc="5" b="1">
                <a:solidFill>
                  <a:srgbClr val="00AF5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both thermoplastics</a:t>
            </a:r>
            <a:r>
              <a:rPr dirty="0" sz="2400" spc="-14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&amp;  thermosetting</a:t>
            </a:r>
            <a:r>
              <a:rPr dirty="0" sz="2400" spc="-5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resins.</a:t>
            </a:r>
            <a:endParaRPr sz="2400">
              <a:latin typeface="Times New Roman"/>
              <a:cs typeface="Times New Roman"/>
            </a:endParaRPr>
          </a:p>
          <a:p>
            <a:pPr marL="469265" marR="62611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In this method a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synthetic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plastic material that has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be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moulded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is mixed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with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filler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and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other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ingredients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in</a:t>
            </a:r>
            <a:r>
              <a:rPr dirty="0" sz="2400" spc="-13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proper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proportions and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then placed in the</a:t>
            </a:r>
            <a:r>
              <a:rPr dirty="0" sz="2400" spc="-5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mould.</a:t>
            </a:r>
            <a:endParaRPr sz="2400">
              <a:latin typeface="Times New Roman"/>
              <a:cs typeface="Times New Roman"/>
            </a:endParaRPr>
          </a:p>
          <a:p>
            <a:pPr marL="469265" marR="264795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equipment consist of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lower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moulding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part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&amp;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top moulding  part.</a:t>
            </a:r>
            <a:endParaRPr sz="24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469265" algn="l"/>
                <a:tab pos="469900" algn="l"/>
                <a:tab pos="3730625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 </a:t>
            </a:r>
            <a:r>
              <a:rPr dirty="0" sz="2400" spc="5" b="1">
                <a:solidFill>
                  <a:srgbClr val="702FA0"/>
                </a:solidFill>
                <a:latin typeface="Times New Roman"/>
                <a:cs typeface="Times New Roman"/>
              </a:rPr>
              <a:t>top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moulding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part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then placed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over bottom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moulding</a:t>
            </a:r>
            <a:r>
              <a:rPr dirty="0" sz="2400" spc="-11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part 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in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which</a:t>
            </a:r>
            <a:r>
              <a:rPr dirty="0" sz="2400" spc="1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predetermined	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plastic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ingredients </a:t>
            </a:r>
            <a:r>
              <a:rPr dirty="0" sz="2400" spc="-15" b="1">
                <a:solidFill>
                  <a:srgbClr val="702FA0"/>
                </a:solidFill>
                <a:latin typeface="Times New Roman"/>
                <a:cs typeface="Times New Roman"/>
              </a:rPr>
              <a:t>are</a:t>
            </a:r>
            <a:r>
              <a:rPr dirty="0" sz="2400" spc="-7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taken.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r>
              <a:rPr dirty="0" spc="75"/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5879" y="1602765"/>
            <a:ext cx="8914765" cy="324421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469265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1.	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Compression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Moulding</a:t>
            </a:r>
            <a:endParaRPr sz="24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Then it is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heated with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simultaneous application of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spc="-15" b="1">
                <a:solidFill>
                  <a:srgbClr val="00AF50"/>
                </a:solidFill>
                <a:latin typeface="Times New Roman"/>
                <a:cs typeface="Times New Roman"/>
              </a:rPr>
              <a:t>pressure 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according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specification. ( High </a:t>
            </a:r>
            <a:r>
              <a:rPr dirty="0" sz="2400" spc="-15" b="1">
                <a:solidFill>
                  <a:srgbClr val="00AF50"/>
                </a:solidFill>
                <a:latin typeface="Times New Roman"/>
                <a:cs typeface="Times New Roman"/>
              </a:rPr>
              <a:t>pressure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of 100 </a:t>
            </a:r>
            <a:r>
              <a:rPr dirty="0" sz="2400" spc="5" b="1">
                <a:solidFill>
                  <a:srgbClr val="00AF5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500 kg/cm2  and temp. 100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200c.).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cavities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get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filled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with plastics.</a:t>
            </a:r>
            <a:r>
              <a:rPr dirty="0" sz="2400" spc="-114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Once 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the moulding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is </a:t>
            </a:r>
            <a:r>
              <a:rPr dirty="0" sz="2400" spc="-45" b="1">
                <a:solidFill>
                  <a:srgbClr val="00AF50"/>
                </a:solidFill>
                <a:latin typeface="Times New Roman"/>
                <a:cs typeface="Times New Roman"/>
              </a:rPr>
              <a:t>over,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material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withdrawn after</a:t>
            </a:r>
            <a:r>
              <a:rPr dirty="0" sz="2400" spc="-3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cooling.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Finally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curing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done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either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by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heating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or</a:t>
            </a:r>
            <a:r>
              <a:rPr dirty="0" sz="2400" spc="-14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cooling.</a:t>
            </a:r>
            <a:endParaRPr sz="2400">
              <a:latin typeface="Times New Roman"/>
              <a:cs typeface="Times New Roman"/>
            </a:endParaRPr>
          </a:p>
          <a:p>
            <a:pPr marL="469265" marR="506095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After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this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process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over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,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 moulded article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taken out</a:t>
            </a:r>
            <a:r>
              <a:rPr dirty="0" sz="2400" spc="-114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by 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opening the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mould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parts.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4586" y="6861366"/>
            <a:ext cx="3954779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Prof. Rupal Agme-Jadhav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r>
              <a:rPr dirty="0" spc="75"/>
              <a:t>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879" y="1599640"/>
            <a:ext cx="8961120" cy="41986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469265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1.	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Compression</a:t>
            </a:r>
            <a:r>
              <a:rPr dirty="0" sz="2400" spc="-2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Moulding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Application:</a:t>
            </a:r>
            <a:endParaRPr sz="2400">
              <a:latin typeface="Arial"/>
              <a:cs typeface="Arial"/>
            </a:endParaRPr>
          </a:p>
          <a:p>
            <a:pPr marL="469265" marR="3810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Method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equally applicable for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both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thermosetting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and  thermoplastic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polymer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based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composites.</a:t>
            </a:r>
            <a:endParaRPr sz="2400">
              <a:latin typeface="Arial"/>
              <a:cs typeface="Arial"/>
            </a:endParaRPr>
          </a:p>
          <a:p>
            <a:pPr marL="469265" marR="5080" indent="-457200">
              <a:lnSpc>
                <a:spcPct val="99600"/>
              </a:lnSpc>
              <a:spcBef>
                <a:spcPts val="58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2. A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very </a:t>
            </a:r>
            <a:r>
              <a:rPr dirty="0" sz="2400" spc="5" b="1">
                <a:solidFill>
                  <a:srgbClr val="FF0000"/>
                </a:solidFill>
                <a:latin typeface="Arial"/>
                <a:cs typeface="Arial"/>
              </a:rPr>
              <a:t>wide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application spectrum ranging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kitchen  goods to automobiles, toys, electrical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items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aeroplane  part.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spc="-5" b="1">
                <a:latin typeface="Times New Roman"/>
                <a:cs typeface="Times New Roman"/>
              </a:rPr>
              <a:t>Advantages: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It has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high speed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production.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It has low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loss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of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materials.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r>
              <a:rPr dirty="0" spc="75"/>
              <a:t>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879" y="1602765"/>
            <a:ext cx="8477885" cy="17081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469265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1.	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Compression</a:t>
            </a:r>
            <a:r>
              <a:rPr dirty="0" sz="2400" spc="-2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Moulding</a:t>
            </a:r>
            <a:r>
              <a:rPr dirty="0" sz="2400" spc="-5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latin typeface="Times New Roman"/>
                <a:cs typeface="Times New Roman"/>
              </a:rPr>
              <a:t>Limitation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69265" marR="5080" indent="-18415">
              <a:lnSpc>
                <a:spcPct val="100000"/>
              </a:lnSpc>
              <a:spcBef>
                <a:spcPts val="575"/>
              </a:spcBef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As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a large number of cavities can not be filled</a:t>
            </a:r>
            <a:r>
              <a:rPr dirty="0" sz="2400" spc="-17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simultaneously,  there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limitation design of articles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be</a:t>
            </a:r>
            <a:r>
              <a:rPr dirty="0" sz="2400" spc="-13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moulded.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1</a:t>
            </a:r>
            <a:r>
              <a:rPr dirty="0" spc="75"/>
              <a:t>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6468" y="2314955"/>
            <a:ext cx="8310880" cy="3787140"/>
            <a:chOff x="696468" y="2314955"/>
            <a:chExt cx="8310880" cy="3787140"/>
          </a:xfrm>
        </p:grpSpPr>
        <p:sp>
          <p:nvSpPr>
            <p:cNvPr id="4" name="object 4"/>
            <p:cNvSpPr/>
            <p:nvPr/>
          </p:nvSpPr>
          <p:spPr>
            <a:xfrm>
              <a:off x="696468" y="2314955"/>
              <a:ext cx="8044353" cy="15712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29155" y="3886200"/>
              <a:ext cx="8077594" cy="22158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3779" y="6880117"/>
            <a:ext cx="224154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2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5879" y="1602616"/>
            <a:ext cx="8923020" cy="415925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469265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1.	Injection</a:t>
            </a:r>
            <a:r>
              <a:rPr dirty="0" sz="2400" spc="-4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Moulding</a:t>
            </a:r>
            <a:r>
              <a:rPr dirty="0" sz="2400" spc="-5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90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This method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is applicable </a:t>
            </a:r>
            <a:r>
              <a:rPr dirty="0" sz="2400" spc="5" b="1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thermoplastic</a:t>
            </a:r>
            <a:r>
              <a:rPr dirty="0" sz="2400" spc="-8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resins.</a:t>
            </a:r>
            <a:endParaRPr sz="2400">
              <a:latin typeface="Times New Roman"/>
              <a:cs typeface="Times New Roman"/>
            </a:endParaRPr>
          </a:p>
          <a:p>
            <a:pPr marL="469265" marR="387350" indent="-457200">
              <a:lnSpc>
                <a:spcPts val="2590"/>
              </a:lnSpc>
              <a:spcBef>
                <a:spcPts val="61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plastic materials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with compounding ingredients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in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proper 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proportion 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is taken in a 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tube </a:t>
            </a:r>
            <a:r>
              <a:rPr dirty="0" sz="2400" spc="-10" b="1">
                <a:solidFill>
                  <a:srgbClr val="00AF50"/>
                </a:solidFill>
                <a:latin typeface="Times New Roman"/>
                <a:cs typeface="Times New Roman"/>
              </a:rPr>
              <a:t>through</a:t>
            </a:r>
            <a:r>
              <a:rPr dirty="0" sz="2400" spc="-5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400" spc="-35" b="1">
                <a:solidFill>
                  <a:srgbClr val="00AF50"/>
                </a:solidFill>
                <a:latin typeface="Times New Roman"/>
                <a:cs typeface="Times New Roman"/>
              </a:rPr>
              <a:t>hopper.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54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The tube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is electrically heated , till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material completely</a:t>
            </a:r>
            <a:r>
              <a:rPr dirty="0" sz="2400" spc="-16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melts.</a:t>
            </a:r>
            <a:endParaRPr sz="2400">
              <a:latin typeface="Times New Roman"/>
              <a:cs typeface="Times New Roman"/>
            </a:endParaRPr>
          </a:p>
          <a:p>
            <a:pPr marL="469265" marR="149860" indent="-457200">
              <a:lnSpc>
                <a:spcPts val="2590"/>
              </a:lnSpc>
              <a:spcBef>
                <a:spcPts val="61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molten material is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pushed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into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mould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cavity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through</a:t>
            </a:r>
            <a:r>
              <a:rPr dirty="0" sz="2400" spc="-12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nozzle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with the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help of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archimedian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35" b="1">
                <a:solidFill>
                  <a:srgbClr val="001F60"/>
                </a:solidFill>
                <a:latin typeface="Times New Roman"/>
                <a:cs typeface="Times New Roman"/>
              </a:rPr>
              <a:t>screw.</a:t>
            </a:r>
            <a:endParaRPr sz="2400">
              <a:latin typeface="Times New Roman"/>
              <a:cs typeface="Times New Roman"/>
            </a:endParaRPr>
          </a:p>
          <a:p>
            <a:pPr marL="469265" marR="381635" indent="-457200">
              <a:lnSpc>
                <a:spcPts val="2590"/>
              </a:lnSpc>
              <a:spcBef>
                <a:spcPts val="580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The temperature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at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 b="1">
                <a:solidFill>
                  <a:srgbClr val="BF0000"/>
                </a:solidFill>
                <a:latin typeface="Times New Roman"/>
                <a:cs typeface="Times New Roman"/>
              </a:rPr>
              <a:t>nozzle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is </a:t>
            </a:r>
            <a:r>
              <a:rPr dirty="0" sz="2400" spc="-10" b="1">
                <a:solidFill>
                  <a:srgbClr val="BF0000"/>
                </a:solidFill>
                <a:latin typeface="Times New Roman"/>
                <a:cs typeface="Times New Roman"/>
              </a:rPr>
              <a:t>increased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(between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130-120c) 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which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makes plastic fluid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and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is injected in the</a:t>
            </a:r>
            <a:r>
              <a:rPr dirty="0" sz="2400" spc="-10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mould.</a:t>
            </a:r>
            <a:endParaRPr sz="2400">
              <a:latin typeface="Times New Roman"/>
              <a:cs typeface="Times New Roman"/>
            </a:endParaRPr>
          </a:p>
          <a:p>
            <a:pPr marL="469265" marR="1575435" indent="-457200">
              <a:lnSpc>
                <a:spcPts val="2590"/>
              </a:lnSpc>
              <a:spcBef>
                <a:spcPts val="580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Moulded </a:t>
            </a:r>
            <a:r>
              <a:rPr dirty="0" sz="2400" b="1">
                <a:latin typeface="Times New Roman"/>
                <a:cs typeface="Times New Roman"/>
              </a:rPr>
              <a:t>articles is ejected mechanically </a:t>
            </a:r>
            <a:r>
              <a:rPr dirty="0" sz="2400" spc="-5" b="1">
                <a:latin typeface="Times New Roman"/>
                <a:cs typeface="Times New Roman"/>
              </a:rPr>
              <a:t>without</a:t>
            </a:r>
            <a:r>
              <a:rPr dirty="0" sz="2400" spc="-1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any  deformation.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57" y="1609794"/>
            <a:ext cx="8924925" cy="3948429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469900" algn="l"/>
              </a:tabLst>
            </a:pPr>
            <a:r>
              <a:rPr dirty="0" sz="2200" spc="-5" b="1">
                <a:solidFill>
                  <a:srgbClr val="702FA0"/>
                </a:solidFill>
                <a:latin typeface="Times New Roman"/>
                <a:cs typeface="Times New Roman"/>
              </a:rPr>
              <a:t>1.	Injection</a:t>
            </a:r>
            <a:r>
              <a:rPr dirty="0" sz="220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702FA0"/>
                </a:solidFill>
                <a:latin typeface="Times New Roman"/>
                <a:cs typeface="Times New Roman"/>
              </a:rPr>
              <a:t>Moulding</a:t>
            </a:r>
            <a:r>
              <a:rPr dirty="0" sz="2200" spc="-5" b="1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2200" spc="-5" b="1">
                <a:solidFill>
                  <a:srgbClr val="00AF50"/>
                </a:solidFill>
                <a:latin typeface="Times New Roman"/>
                <a:cs typeface="Times New Roman"/>
              </a:rPr>
              <a:t>Application</a:t>
            </a:r>
            <a:r>
              <a:rPr dirty="0" sz="220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469265" marR="5080" indent="-457200">
              <a:lnSpc>
                <a:spcPts val="2380"/>
              </a:lnSpc>
              <a:spcBef>
                <a:spcPts val="560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200" spc="-5" b="1">
                <a:latin typeface="Times New Roman"/>
                <a:cs typeface="Times New Roman"/>
              </a:rPr>
              <a:t>This </a:t>
            </a:r>
            <a:r>
              <a:rPr dirty="0" sz="2200" spc="-10" b="1">
                <a:latin typeface="Times New Roman"/>
                <a:cs typeface="Times New Roman"/>
              </a:rPr>
              <a:t>method </a:t>
            </a:r>
            <a:r>
              <a:rPr dirty="0" sz="2200" spc="-5" b="1">
                <a:latin typeface="Times New Roman"/>
                <a:cs typeface="Times New Roman"/>
              </a:rPr>
              <a:t>is applicable </a:t>
            </a:r>
            <a:r>
              <a:rPr dirty="0" sz="2200" spc="-10" b="1">
                <a:latin typeface="Times New Roman"/>
                <a:cs typeface="Times New Roman"/>
              </a:rPr>
              <a:t>to </a:t>
            </a:r>
            <a:r>
              <a:rPr dirty="0" sz="2200" b="1">
                <a:latin typeface="Times New Roman"/>
                <a:cs typeface="Times New Roman"/>
              </a:rPr>
              <a:t>shape </a:t>
            </a:r>
            <a:r>
              <a:rPr dirty="0" sz="2200" spc="-5" b="1">
                <a:latin typeface="Times New Roman"/>
                <a:cs typeface="Times New Roman"/>
              </a:rPr>
              <a:t>the articles like telephones, buckets,  dustbins, bottles etc.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Advantages</a:t>
            </a:r>
            <a:r>
              <a:rPr dirty="0" sz="22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26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200" spc="-5" b="1">
                <a:latin typeface="Times New Roman"/>
                <a:cs typeface="Times New Roman"/>
              </a:rPr>
              <a:t>It is </a:t>
            </a:r>
            <a:r>
              <a:rPr dirty="0" sz="2200" spc="-10" b="1">
                <a:latin typeface="Times New Roman"/>
                <a:cs typeface="Times New Roman"/>
              </a:rPr>
              <a:t>widely </a:t>
            </a:r>
            <a:r>
              <a:rPr dirty="0" sz="2200" spc="-5" b="1">
                <a:latin typeface="Times New Roman"/>
                <a:cs typeface="Times New Roman"/>
              </a:rPr>
              <a:t>used </a:t>
            </a:r>
            <a:r>
              <a:rPr dirty="0" sz="2200" b="1">
                <a:latin typeface="Times New Roman"/>
                <a:cs typeface="Times New Roman"/>
              </a:rPr>
              <a:t>for </a:t>
            </a:r>
            <a:r>
              <a:rPr dirty="0" sz="2200" spc="-5" b="1">
                <a:latin typeface="Times New Roman"/>
                <a:cs typeface="Times New Roman"/>
              </a:rPr>
              <a:t>moulding of</a:t>
            </a:r>
            <a:r>
              <a:rPr dirty="0" sz="2200" spc="15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thermoplastics.</a:t>
            </a:r>
            <a:endParaRPr sz="2200">
              <a:latin typeface="Times New Roman"/>
              <a:cs typeface="Times New Roman"/>
            </a:endParaRPr>
          </a:p>
          <a:p>
            <a:pPr marL="469265" indent="-457200">
              <a:lnSpc>
                <a:spcPct val="100000"/>
              </a:lnSpc>
              <a:spcBef>
                <a:spcPts val="26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200" spc="-5" b="1">
                <a:latin typeface="Times New Roman"/>
                <a:cs typeface="Times New Roman"/>
              </a:rPr>
              <a:t>It has high speed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production.</a:t>
            </a:r>
            <a:endParaRPr sz="2200">
              <a:latin typeface="Times New Roman"/>
              <a:cs typeface="Times New Roman"/>
            </a:endParaRPr>
          </a:p>
          <a:p>
            <a:pPr marL="12700" marR="5663565">
              <a:lnSpc>
                <a:spcPct val="110000"/>
              </a:lnSpc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200" spc="-5" b="1">
                <a:latin typeface="Times New Roman"/>
                <a:cs typeface="Times New Roman"/>
              </a:rPr>
              <a:t>It has low </a:t>
            </a:r>
            <a:r>
              <a:rPr dirty="0" sz="2200" spc="-10" b="1">
                <a:latin typeface="Times New Roman"/>
                <a:cs typeface="Times New Roman"/>
              </a:rPr>
              <a:t>finished cost. </a:t>
            </a:r>
            <a:r>
              <a:rPr dirty="0" sz="2200" spc="-10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70BF"/>
                </a:solidFill>
                <a:latin typeface="Times New Roman"/>
                <a:cs typeface="Times New Roman"/>
              </a:rPr>
              <a:t>Limitation</a:t>
            </a:r>
            <a:r>
              <a:rPr dirty="0" sz="2200" spc="-20" b="1">
                <a:solidFill>
                  <a:srgbClr val="0070B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70BF"/>
                </a:solidFill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469265" marR="475615" indent="-55244">
              <a:lnSpc>
                <a:spcPts val="2380"/>
              </a:lnSpc>
              <a:spcBef>
                <a:spcPts val="560"/>
              </a:spcBef>
              <a:tabLst>
                <a:tab pos="8254365" algn="l"/>
              </a:tabLst>
            </a:pPr>
            <a:r>
              <a:rPr dirty="0" sz="2200" spc="-5" b="1">
                <a:latin typeface="Times New Roman"/>
                <a:cs typeface="Times New Roman"/>
              </a:rPr>
              <a:t>A</a:t>
            </a:r>
            <a:r>
              <a:rPr dirty="0" sz="2200" spc="-120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la</a:t>
            </a:r>
            <a:r>
              <a:rPr dirty="0" sz="2200" spc="-15" b="1">
                <a:latin typeface="Times New Roman"/>
                <a:cs typeface="Times New Roman"/>
              </a:rPr>
              <a:t>r</a:t>
            </a:r>
            <a:r>
              <a:rPr dirty="0" sz="2200" spc="15" b="1">
                <a:latin typeface="Times New Roman"/>
                <a:cs typeface="Times New Roman"/>
              </a:rPr>
              <a:t>g</a:t>
            </a:r>
            <a:r>
              <a:rPr dirty="0" sz="2200" spc="-5" b="1">
                <a:latin typeface="Times New Roman"/>
                <a:cs typeface="Times New Roman"/>
              </a:rPr>
              <a:t>e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</a:t>
            </a:r>
            <a:r>
              <a:rPr dirty="0" sz="2200" spc="-20" b="1">
                <a:latin typeface="Times New Roman"/>
                <a:cs typeface="Times New Roman"/>
              </a:rPr>
              <a:t>u</a:t>
            </a:r>
            <a:r>
              <a:rPr dirty="0" sz="2200" spc="-15" b="1">
                <a:latin typeface="Times New Roman"/>
                <a:cs typeface="Times New Roman"/>
              </a:rPr>
              <a:t>m</a:t>
            </a:r>
            <a:r>
              <a:rPr dirty="0" sz="2200" b="1">
                <a:latin typeface="Times New Roman"/>
                <a:cs typeface="Times New Roman"/>
              </a:rPr>
              <a:t>b</a:t>
            </a:r>
            <a:r>
              <a:rPr dirty="0" sz="2200" spc="-15" b="1">
                <a:latin typeface="Times New Roman"/>
                <a:cs typeface="Times New Roman"/>
              </a:rPr>
              <a:t>e</a:t>
            </a:r>
            <a:r>
              <a:rPr dirty="0" sz="2200" spc="-5" b="1">
                <a:latin typeface="Times New Roman"/>
                <a:cs typeface="Times New Roman"/>
              </a:rPr>
              <a:t>r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of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spc="5" b="1">
                <a:latin typeface="Times New Roman"/>
                <a:cs typeface="Times New Roman"/>
              </a:rPr>
              <a:t>c</a:t>
            </a:r>
            <a:r>
              <a:rPr dirty="0" sz="2200" spc="-5" b="1">
                <a:latin typeface="Times New Roman"/>
                <a:cs typeface="Times New Roman"/>
              </a:rPr>
              <a:t>avi</a:t>
            </a:r>
            <a:r>
              <a:rPr dirty="0" sz="2200" spc="-15" b="1">
                <a:latin typeface="Times New Roman"/>
                <a:cs typeface="Times New Roman"/>
              </a:rPr>
              <a:t>t</a:t>
            </a:r>
            <a:r>
              <a:rPr dirty="0" sz="2200" spc="-5" b="1">
                <a:latin typeface="Times New Roman"/>
                <a:cs typeface="Times New Roman"/>
              </a:rPr>
              <a:t>i</a:t>
            </a:r>
            <a:r>
              <a:rPr dirty="0" sz="2200" spc="5" b="1">
                <a:latin typeface="Times New Roman"/>
                <a:cs typeface="Times New Roman"/>
              </a:rPr>
              <a:t>e</a:t>
            </a:r>
            <a:r>
              <a:rPr dirty="0" sz="2200" spc="-5" b="1">
                <a:latin typeface="Times New Roman"/>
                <a:cs typeface="Times New Roman"/>
              </a:rPr>
              <a:t>s</a:t>
            </a:r>
            <a:r>
              <a:rPr dirty="0" sz="2200" b="1">
                <a:latin typeface="Times New Roman"/>
                <a:cs typeface="Times New Roman"/>
              </a:rPr>
              <a:t> </a:t>
            </a:r>
            <a:r>
              <a:rPr dirty="0" sz="2200" spc="-15" b="1">
                <a:latin typeface="Times New Roman"/>
                <a:cs typeface="Times New Roman"/>
              </a:rPr>
              <a:t>c</a:t>
            </a:r>
            <a:r>
              <a:rPr dirty="0" sz="2200" spc="-5" b="1">
                <a:latin typeface="Times New Roman"/>
                <a:cs typeface="Times New Roman"/>
              </a:rPr>
              <a:t>an</a:t>
            </a:r>
            <a:r>
              <a:rPr dirty="0" sz="2200" spc="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</a:t>
            </a:r>
            <a:r>
              <a:rPr dirty="0" sz="2200" spc="-5" b="1">
                <a:latin typeface="Times New Roman"/>
                <a:cs typeface="Times New Roman"/>
              </a:rPr>
              <a:t>ot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</a:t>
            </a:r>
            <a:r>
              <a:rPr dirty="0" sz="2200" spc="-5" b="1">
                <a:latin typeface="Times New Roman"/>
                <a:cs typeface="Times New Roman"/>
              </a:rPr>
              <a:t>e</a:t>
            </a:r>
            <a:r>
              <a:rPr dirty="0" sz="2200" spc="10" b="1">
                <a:latin typeface="Times New Roman"/>
                <a:cs typeface="Times New Roman"/>
              </a:rPr>
              <a:t> </a:t>
            </a:r>
            <a:r>
              <a:rPr dirty="0" sz="2200" spc="-15" b="1">
                <a:latin typeface="Times New Roman"/>
                <a:cs typeface="Times New Roman"/>
              </a:rPr>
              <a:t>f</a:t>
            </a:r>
            <a:r>
              <a:rPr dirty="0" sz="2200" spc="-5" b="1">
                <a:latin typeface="Times New Roman"/>
                <a:cs typeface="Times New Roman"/>
              </a:rPr>
              <a:t>ill</a:t>
            </a:r>
            <a:r>
              <a:rPr dirty="0" sz="2200" spc="-15" b="1">
                <a:latin typeface="Times New Roman"/>
                <a:cs typeface="Times New Roman"/>
              </a:rPr>
              <a:t>e</a:t>
            </a:r>
            <a:r>
              <a:rPr dirty="0" sz="2200" spc="-5" b="1">
                <a:latin typeface="Times New Roman"/>
                <a:cs typeface="Times New Roman"/>
              </a:rPr>
              <a:t>d</a:t>
            </a:r>
            <a:r>
              <a:rPr dirty="0" sz="2200" spc="5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si</a:t>
            </a:r>
            <a:r>
              <a:rPr dirty="0" sz="2200" spc="-15" b="1">
                <a:latin typeface="Times New Roman"/>
                <a:cs typeface="Times New Roman"/>
              </a:rPr>
              <a:t>m</a:t>
            </a:r>
            <a:r>
              <a:rPr dirty="0" sz="2200" b="1">
                <a:latin typeface="Times New Roman"/>
                <a:cs typeface="Times New Roman"/>
              </a:rPr>
              <a:t>u</a:t>
            </a:r>
            <a:r>
              <a:rPr dirty="0" sz="2200" spc="-5" b="1">
                <a:latin typeface="Times New Roman"/>
                <a:cs typeface="Times New Roman"/>
              </a:rPr>
              <a:t>l</a:t>
            </a:r>
            <a:r>
              <a:rPr dirty="0" sz="2200" spc="-15" b="1">
                <a:latin typeface="Times New Roman"/>
                <a:cs typeface="Times New Roman"/>
              </a:rPr>
              <a:t>t</a:t>
            </a:r>
            <a:r>
              <a:rPr dirty="0" sz="2200" spc="-5" b="1">
                <a:latin typeface="Times New Roman"/>
                <a:cs typeface="Times New Roman"/>
              </a:rPr>
              <a:t>a</a:t>
            </a:r>
            <a:r>
              <a:rPr dirty="0" sz="2200" b="1">
                <a:latin typeface="Times New Roman"/>
                <a:cs typeface="Times New Roman"/>
              </a:rPr>
              <a:t>n</a:t>
            </a:r>
            <a:r>
              <a:rPr dirty="0" sz="2200" spc="-15" b="1">
                <a:latin typeface="Times New Roman"/>
                <a:cs typeface="Times New Roman"/>
              </a:rPr>
              <a:t>e</a:t>
            </a:r>
            <a:r>
              <a:rPr dirty="0" sz="2200" spc="-5" b="1">
                <a:latin typeface="Times New Roman"/>
                <a:cs typeface="Times New Roman"/>
              </a:rPr>
              <a:t>o</a:t>
            </a:r>
            <a:r>
              <a:rPr dirty="0" sz="2200" b="1">
                <a:latin typeface="Times New Roman"/>
                <a:cs typeface="Times New Roman"/>
              </a:rPr>
              <a:t>u</a:t>
            </a:r>
            <a:r>
              <a:rPr dirty="0" sz="2200" spc="-5" b="1">
                <a:latin typeface="Times New Roman"/>
                <a:cs typeface="Times New Roman"/>
              </a:rPr>
              <a:t>sl</a:t>
            </a:r>
            <a:r>
              <a:rPr dirty="0" sz="2200" spc="-114" b="1">
                <a:latin typeface="Times New Roman"/>
                <a:cs typeface="Times New Roman"/>
              </a:rPr>
              <a:t>y</a:t>
            </a:r>
            <a:r>
              <a:rPr dirty="0" sz="2200" spc="-5" b="1">
                <a:latin typeface="Times New Roman"/>
                <a:cs typeface="Times New Roman"/>
              </a:rPr>
              <a:t>,</a:t>
            </a:r>
            <a:r>
              <a:rPr dirty="0" sz="2200" spc="-5" b="1">
                <a:latin typeface="Times New Roman"/>
                <a:cs typeface="Times New Roman"/>
              </a:rPr>
              <a:t> </a:t>
            </a:r>
            <a:r>
              <a:rPr dirty="0" sz="2200" spc="-15" b="1">
                <a:latin typeface="Times New Roman"/>
                <a:cs typeface="Times New Roman"/>
              </a:rPr>
              <a:t>t</a:t>
            </a:r>
            <a:r>
              <a:rPr dirty="0" sz="2200" b="1">
                <a:latin typeface="Times New Roman"/>
                <a:cs typeface="Times New Roman"/>
              </a:rPr>
              <a:t>h</a:t>
            </a:r>
            <a:r>
              <a:rPr dirty="0" sz="2200" spc="-15" b="1">
                <a:latin typeface="Times New Roman"/>
                <a:cs typeface="Times New Roman"/>
              </a:rPr>
              <a:t>e</a:t>
            </a:r>
            <a:r>
              <a:rPr dirty="0" sz="2200" spc="-40" b="1">
                <a:latin typeface="Times New Roman"/>
                <a:cs typeface="Times New Roman"/>
              </a:rPr>
              <a:t>r</a:t>
            </a:r>
            <a:r>
              <a:rPr dirty="0" sz="2200" spc="-5" b="1">
                <a:latin typeface="Times New Roman"/>
                <a:cs typeface="Times New Roman"/>
              </a:rPr>
              <a:t>e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5" b="1">
                <a:latin typeface="Times New Roman"/>
                <a:cs typeface="Times New Roman"/>
              </a:rPr>
              <a:t>is  </a:t>
            </a:r>
            <a:r>
              <a:rPr dirty="0" sz="2200" spc="-5" b="1">
                <a:latin typeface="Times New Roman"/>
                <a:cs typeface="Times New Roman"/>
              </a:rPr>
              <a:t>limitation of design of articles </a:t>
            </a:r>
            <a:r>
              <a:rPr dirty="0" sz="2200" spc="-10" b="1">
                <a:latin typeface="Times New Roman"/>
                <a:cs typeface="Times New Roman"/>
              </a:rPr>
              <a:t>to </a:t>
            </a:r>
            <a:r>
              <a:rPr dirty="0" sz="2200" b="1">
                <a:latin typeface="Times New Roman"/>
                <a:cs typeface="Times New Roman"/>
              </a:rPr>
              <a:t>be</a:t>
            </a:r>
            <a:r>
              <a:rPr dirty="0" sz="2200" spc="45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moulded.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879" y="1586720"/>
            <a:ext cx="8973185" cy="427228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785"/>
              </a:spcBef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3. </a:t>
            </a:r>
            <a:r>
              <a:rPr dirty="0" sz="2800" spc="-35" b="1">
                <a:solidFill>
                  <a:srgbClr val="702FA0"/>
                </a:solidFill>
                <a:latin typeface="Times New Roman"/>
                <a:cs typeface="Times New Roman"/>
              </a:rPr>
              <a:t>Transfer</a:t>
            </a:r>
            <a:r>
              <a:rPr dirty="0" sz="280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702FA0"/>
                </a:solidFill>
                <a:latin typeface="Times New Roman"/>
                <a:cs typeface="Times New Roman"/>
              </a:rPr>
              <a:t>Moulding</a:t>
            </a:r>
            <a:r>
              <a:rPr dirty="0" sz="2800" spc="-5" b="1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538480" indent="-526415">
              <a:lnSpc>
                <a:spcPct val="100000"/>
              </a:lnSpc>
              <a:spcBef>
                <a:spcPts val="590"/>
              </a:spcBef>
              <a:buFont typeface="Georgia"/>
              <a:buChar char=""/>
              <a:tabLst>
                <a:tab pos="537845" algn="l"/>
                <a:tab pos="539115" algn="l"/>
                <a:tab pos="6365875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This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method is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applicable</a:t>
            </a:r>
            <a:r>
              <a:rPr dirty="0" sz="2400" spc="5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for</a:t>
            </a:r>
            <a:r>
              <a:rPr dirty="0" sz="2400" spc="-2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thermosetting	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materials.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In this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process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principle of injection moulding </a:t>
            </a:r>
            <a:r>
              <a:rPr dirty="0" sz="2400" spc="10" b="1">
                <a:solidFill>
                  <a:srgbClr val="702FA0"/>
                </a:solidFill>
                <a:latin typeface="Times New Roman"/>
                <a:cs typeface="Times New Roman"/>
              </a:rPr>
              <a:t>is</a:t>
            </a:r>
            <a:r>
              <a:rPr dirty="0" sz="2400" spc="-12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applicable.</a:t>
            </a:r>
            <a:endParaRPr sz="2400">
              <a:latin typeface="Times New Roman"/>
              <a:cs typeface="Times New Roman"/>
            </a:endParaRPr>
          </a:p>
          <a:p>
            <a:pPr marL="469265" marR="40259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equipment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used consists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of electrically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heated tube having 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narrow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opening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called orifice fitted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with</a:t>
            </a:r>
            <a:r>
              <a:rPr dirty="0" sz="2400" spc="-10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30" b="1">
                <a:solidFill>
                  <a:srgbClr val="702FA0"/>
                </a:solidFill>
                <a:latin typeface="Times New Roman"/>
                <a:cs typeface="Times New Roman"/>
              </a:rPr>
              <a:t>plunger.</a:t>
            </a:r>
            <a:endParaRPr sz="2400">
              <a:latin typeface="Times New Roman"/>
              <a:cs typeface="Times New Roman"/>
            </a:endParaRPr>
          </a:p>
          <a:p>
            <a:pPr marL="469265" marR="295275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Then the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predetermined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quantity of plastic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ingredients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</a:t>
            </a:r>
            <a:r>
              <a:rPr dirty="0" sz="2400" spc="-16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taken  in the</a:t>
            </a:r>
            <a:r>
              <a:rPr dirty="0" sz="2400" spc="-3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tube.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 tube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electrically heated till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material is</a:t>
            </a:r>
            <a:r>
              <a:rPr dirty="0" sz="2400" spc="-12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melts.</a:t>
            </a:r>
            <a:endParaRPr sz="24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plastic material is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pushed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into the mould cavity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with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the</a:t>
            </a:r>
            <a:r>
              <a:rPr dirty="0" sz="2400" spc="-114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help  of</a:t>
            </a:r>
            <a:r>
              <a:rPr dirty="0" sz="2400" spc="-1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plunger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5809" y="951886"/>
            <a:ext cx="7099934" cy="4165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15"/>
              </a:lnSpc>
            </a:pPr>
            <a:r>
              <a:rPr dirty="0" sz="2800" spc="-365" b="1">
                <a:solidFill>
                  <a:srgbClr val="9E1C33"/>
                </a:solidFill>
                <a:latin typeface="Georgia"/>
                <a:cs typeface="Georgia"/>
              </a:rPr>
              <a:t>FABRICATION </a:t>
            </a:r>
            <a:r>
              <a:rPr dirty="0" sz="2800" spc="-375" b="1">
                <a:solidFill>
                  <a:srgbClr val="9E1C33"/>
                </a:solidFill>
                <a:latin typeface="Georgia"/>
                <a:cs typeface="Georgia"/>
              </a:rPr>
              <a:t>OR </a:t>
            </a:r>
            <a:r>
              <a:rPr dirty="0" sz="2800" spc="-400" b="1">
                <a:solidFill>
                  <a:srgbClr val="9E1C33"/>
                </a:solidFill>
                <a:latin typeface="Georgia"/>
                <a:cs typeface="Georgia"/>
              </a:rPr>
              <a:t>MOULDOING </a:t>
            </a:r>
            <a:r>
              <a:rPr dirty="0" sz="2800" spc="-340" b="1">
                <a:solidFill>
                  <a:srgbClr val="9E1C33"/>
                </a:solidFill>
                <a:latin typeface="Georgia"/>
                <a:cs typeface="Georgia"/>
              </a:rPr>
              <a:t>OF</a:t>
            </a:r>
            <a:r>
              <a:rPr dirty="0" sz="2800" spc="-265" b="1">
                <a:solidFill>
                  <a:srgbClr val="9E1C33"/>
                </a:solidFill>
                <a:latin typeface="Georgia"/>
                <a:cs typeface="Georgia"/>
              </a:rPr>
              <a:t> </a:t>
            </a:r>
            <a:r>
              <a:rPr dirty="0" sz="2800" spc="-325" b="1">
                <a:solidFill>
                  <a:srgbClr val="9E1C33"/>
                </a:solidFill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048511"/>
            <a:ext cx="8430768" cy="2837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7200" y="3886200"/>
            <a:ext cx="8414139" cy="2144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879" y="1586720"/>
            <a:ext cx="8911590" cy="471106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785"/>
              </a:spcBef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3. </a:t>
            </a:r>
            <a:r>
              <a:rPr dirty="0" sz="2800" spc="-35" b="1">
                <a:solidFill>
                  <a:srgbClr val="FF0000"/>
                </a:solidFill>
                <a:latin typeface="Times New Roman"/>
                <a:cs typeface="Times New Roman"/>
              </a:rPr>
              <a:t>Transfer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 Moulding:</a:t>
            </a:r>
            <a:endParaRPr sz="28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590"/>
              </a:spcBef>
              <a:buClr>
                <a:srgbClr val="702FA0"/>
              </a:buClr>
              <a:buFont typeface="Georgia"/>
              <a:buChar char=""/>
              <a:tabLst>
                <a:tab pos="544195" algn="l"/>
                <a:tab pos="544830" algn="l"/>
              </a:tabLst>
            </a:pPr>
            <a:r>
              <a:rPr dirty="0"/>
              <a:t>	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Due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friction developed at the orifice,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temp. of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</a:t>
            </a:r>
            <a:r>
              <a:rPr dirty="0" sz="2400" spc="-11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material  rises </a:t>
            </a:r>
            <a:r>
              <a:rPr dirty="0" sz="2400" spc="5" b="1">
                <a:solidFill>
                  <a:srgbClr val="702FA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such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an extent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that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the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moulded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materials becomes a  liquid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and flows </a:t>
            </a:r>
            <a:r>
              <a:rPr dirty="0" sz="2400" spc="5" b="1">
                <a:solidFill>
                  <a:srgbClr val="702FA0"/>
                </a:solidFill>
                <a:latin typeface="Times New Roman"/>
                <a:cs typeface="Times New Roman"/>
              </a:rPr>
              <a:t>into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</a:t>
            </a:r>
            <a:r>
              <a:rPr dirty="0" sz="2400" spc="-4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mould.</a:t>
            </a:r>
            <a:endParaRPr sz="2400">
              <a:latin typeface="Times New Roman"/>
              <a:cs typeface="Times New Roman"/>
            </a:endParaRPr>
          </a:p>
          <a:p>
            <a:pPr marL="12700" marR="1925955">
              <a:lnSpc>
                <a:spcPct val="120000"/>
              </a:lnSpc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Then the moulded articles is ejected</a:t>
            </a:r>
            <a:r>
              <a:rPr dirty="0" sz="2400" spc="-13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15" b="1">
                <a:solidFill>
                  <a:srgbClr val="702FA0"/>
                </a:solidFill>
                <a:latin typeface="Times New Roman"/>
                <a:cs typeface="Times New Roman"/>
              </a:rPr>
              <a:t>mechanically. 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Application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69265" marR="55626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This method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applicable </a:t>
            </a:r>
            <a:r>
              <a:rPr dirty="0" sz="2400" spc="5" b="1">
                <a:solidFill>
                  <a:srgbClr val="702FA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shape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articles like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electronic 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components,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pins,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connectors,</a:t>
            </a:r>
            <a:r>
              <a:rPr dirty="0" sz="2400" spc="-5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coils.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spc="-5" b="1">
                <a:latin typeface="Times New Roman"/>
                <a:cs typeface="Times New Roman"/>
              </a:rPr>
              <a:t>Advantages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Articles </a:t>
            </a:r>
            <a:r>
              <a:rPr dirty="0" sz="2400" spc="-15" b="1">
                <a:solidFill>
                  <a:srgbClr val="702FA0"/>
                </a:solidFill>
                <a:latin typeface="Times New Roman"/>
                <a:cs typeface="Times New Roman"/>
              </a:rPr>
              <a:t>free from </a:t>
            </a:r>
            <a:r>
              <a:rPr dirty="0" sz="2400" spc="5" b="1">
                <a:solidFill>
                  <a:srgbClr val="702FA0"/>
                </a:solidFill>
                <a:latin typeface="Times New Roman"/>
                <a:cs typeface="Times New Roman"/>
              </a:rPr>
              <a:t>flow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marks </a:t>
            </a:r>
            <a:r>
              <a:rPr dirty="0" sz="2400" spc="-20" b="1">
                <a:solidFill>
                  <a:srgbClr val="702FA0"/>
                </a:solidFill>
                <a:latin typeface="Times New Roman"/>
                <a:cs typeface="Times New Roman"/>
              </a:rPr>
              <a:t>are</a:t>
            </a:r>
            <a:r>
              <a:rPr dirty="0" sz="2400" spc="-7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produced.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article </a:t>
            </a:r>
            <a:r>
              <a:rPr dirty="0" sz="2400" spc="-15" b="1">
                <a:solidFill>
                  <a:srgbClr val="702FA0"/>
                </a:solidFill>
                <a:latin typeface="Times New Roman"/>
                <a:cs typeface="Times New Roman"/>
              </a:rPr>
              <a:t>produced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have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greater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mechanical</a:t>
            </a:r>
            <a:r>
              <a:rPr dirty="0" sz="2400" spc="-7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strength.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879" y="1586720"/>
            <a:ext cx="8818880" cy="346773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78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4.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Extrusion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 Moulding:</a:t>
            </a:r>
            <a:endParaRPr sz="2800">
              <a:latin typeface="Times New Roman"/>
              <a:cs typeface="Times New Roman"/>
            </a:endParaRPr>
          </a:p>
          <a:p>
            <a:pPr marL="544195" indent="-532130">
              <a:lnSpc>
                <a:spcPct val="100000"/>
              </a:lnSpc>
              <a:spcBef>
                <a:spcPts val="590"/>
              </a:spcBef>
              <a:buFont typeface="Georgia"/>
              <a:buChar char=""/>
              <a:tabLst>
                <a:tab pos="544195" algn="l"/>
                <a:tab pos="544830" algn="l"/>
                <a:tab pos="4987925" algn="l"/>
              </a:tabLst>
            </a:pP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Extrusion moulding</a:t>
            </a:r>
            <a:r>
              <a:rPr dirty="0" sz="2400" spc="1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</a:t>
            </a:r>
            <a:r>
              <a:rPr dirty="0" sz="2400" spc="1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applicable	</a:t>
            </a:r>
            <a:r>
              <a:rPr dirty="0" sz="2400" spc="5" b="1">
                <a:solidFill>
                  <a:srgbClr val="702FA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thermoplastic</a:t>
            </a:r>
            <a:r>
              <a:rPr dirty="0" sz="2400" spc="-4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resins.</a:t>
            </a:r>
            <a:endParaRPr sz="24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It is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mainly used for continuous moulding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of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thermoplastic 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materials into articles of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uniform </a:t>
            </a:r>
            <a:r>
              <a:rPr dirty="0" sz="2400" spc="-15" b="1">
                <a:solidFill>
                  <a:srgbClr val="702FA0"/>
                </a:solidFill>
                <a:latin typeface="Times New Roman"/>
                <a:cs typeface="Times New Roman"/>
              </a:rPr>
              <a:t>cross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section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like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cables, </a:t>
            </a:r>
            <a:r>
              <a:rPr dirty="0" sz="2400" spc="-15" b="1">
                <a:solidFill>
                  <a:srgbClr val="702FA0"/>
                </a:solidFill>
                <a:latin typeface="Times New Roman"/>
                <a:cs typeface="Times New Roman"/>
              </a:rPr>
              <a:t>wires, 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rods,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sheets</a:t>
            </a:r>
            <a:r>
              <a:rPr dirty="0" sz="2400" spc="5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There are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two ways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in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which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this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method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can be carried</a:t>
            </a:r>
            <a:r>
              <a:rPr dirty="0" sz="2400" spc="2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out.</a:t>
            </a:r>
            <a:endParaRPr sz="2400">
              <a:latin typeface="Times New Roman"/>
              <a:cs typeface="Times New Roman"/>
            </a:endParaRPr>
          </a:p>
          <a:p>
            <a:pPr lvl="1" marL="614680" indent="-2997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15315" algn="l"/>
              </a:tabLst>
            </a:pPr>
            <a:r>
              <a:rPr dirty="0" sz="2400" spc="-30" b="1">
                <a:solidFill>
                  <a:srgbClr val="001F60"/>
                </a:solidFill>
                <a:latin typeface="Times New Roman"/>
                <a:cs typeface="Times New Roman"/>
              </a:rPr>
              <a:t>Vertical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Extrusion Moulding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: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For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cables , 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wires</a:t>
            </a:r>
            <a:r>
              <a:rPr dirty="0" sz="2400" spc="-3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lvl="1" marL="696595" indent="-3054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97230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Horizontal Extrusion Moulding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: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For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rods,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pipes, sheets</a:t>
            </a:r>
            <a:r>
              <a:rPr dirty="0" sz="2400" spc="-4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0248" y="1635251"/>
            <a:ext cx="8641080" cy="4323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09" y="921501"/>
            <a:ext cx="71253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65">
                <a:latin typeface="Georgia"/>
                <a:cs typeface="Georgia"/>
              </a:rPr>
              <a:t>FABRICATION </a:t>
            </a:r>
            <a:r>
              <a:rPr dirty="0" sz="2800" spc="-375">
                <a:latin typeface="Georgia"/>
                <a:cs typeface="Georgia"/>
              </a:rPr>
              <a:t>OR </a:t>
            </a:r>
            <a:r>
              <a:rPr dirty="0" sz="2800" spc="-400">
                <a:latin typeface="Georgia"/>
                <a:cs typeface="Georgia"/>
              </a:rPr>
              <a:t>MOULDOING </a:t>
            </a:r>
            <a:r>
              <a:rPr dirty="0" sz="2800" spc="-340">
                <a:latin typeface="Georgia"/>
                <a:cs typeface="Georgia"/>
              </a:rPr>
              <a:t>OF</a:t>
            </a:r>
            <a:r>
              <a:rPr dirty="0" sz="2800" spc="-265">
                <a:latin typeface="Georgia"/>
                <a:cs typeface="Georgia"/>
              </a:rPr>
              <a:t> </a:t>
            </a:r>
            <a:r>
              <a:rPr dirty="0" sz="2800" spc="-325">
                <a:latin typeface="Georgia"/>
                <a:cs typeface="Georgia"/>
              </a:rPr>
              <a:t>PLASTICS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879" y="1586720"/>
            <a:ext cx="8983345" cy="376047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algn="just" marL="86995">
              <a:lnSpc>
                <a:spcPct val="100000"/>
              </a:lnSpc>
              <a:spcBef>
                <a:spcPts val="78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4.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Extrusion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 Moulding:</a:t>
            </a:r>
            <a:endParaRPr sz="2800">
              <a:latin typeface="Times New Roman"/>
              <a:cs typeface="Times New Roman"/>
            </a:endParaRPr>
          </a:p>
          <a:p>
            <a:pPr algn="just" marL="469265" marR="5080" indent="-457200">
              <a:lnSpc>
                <a:spcPct val="100000"/>
              </a:lnSpc>
              <a:spcBef>
                <a:spcPts val="590"/>
              </a:spcBef>
              <a:buClr>
                <a:srgbClr val="702FA0"/>
              </a:buClr>
              <a:buFont typeface="Georgia"/>
              <a:buChar char=""/>
              <a:tabLst>
                <a:tab pos="544830" algn="l"/>
              </a:tabLst>
            </a:pPr>
            <a:r>
              <a:rPr dirty="0"/>
              <a:t>	</a:t>
            </a:r>
            <a:r>
              <a:rPr dirty="0" sz="2400" b="1">
                <a:latin typeface="Times New Roman"/>
                <a:cs typeface="Times New Roman"/>
              </a:rPr>
              <a:t>In this method, </a:t>
            </a:r>
            <a:r>
              <a:rPr dirty="0" sz="2400" spc="-5" b="1">
                <a:latin typeface="Times New Roman"/>
                <a:cs typeface="Times New Roman"/>
              </a:rPr>
              <a:t>predetermined </a:t>
            </a:r>
            <a:r>
              <a:rPr dirty="0" sz="2400" b="1">
                <a:latin typeface="Times New Roman"/>
                <a:cs typeface="Times New Roman"/>
              </a:rPr>
              <a:t>quantity of plastic </a:t>
            </a:r>
            <a:r>
              <a:rPr dirty="0" sz="2400" spc="-10" b="1">
                <a:latin typeface="Times New Roman"/>
                <a:cs typeface="Times New Roman"/>
              </a:rPr>
              <a:t>ingredients </a:t>
            </a:r>
            <a:r>
              <a:rPr dirty="0" sz="2400" spc="-15" b="1">
                <a:latin typeface="Times New Roman"/>
                <a:cs typeface="Times New Roman"/>
              </a:rPr>
              <a:t>are  </a:t>
            </a:r>
            <a:r>
              <a:rPr dirty="0" sz="2400" spc="-5" b="1">
                <a:latin typeface="Times New Roman"/>
                <a:cs typeface="Times New Roman"/>
              </a:rPr>
              <a:t>heated </a:t>
            </a:r>
            <a:r>
              <a:rPr dirty="0" sz="2400" spc="5" b="1">
                <a:latin typeface="Times New Roman"/>
                <a:cs typeface="Times New Roman"/>
              </a:rPr>
              <a:t>to </a:t>
            </a:r>
            <a:r>
              <a:rPr dirty="0" sz="2400" b="1">
                <a:latin typeface="Times New Roman"/>
                <a:cs typeface="Times New Roman"/>
              </a:rPr>
              <a:t>plastic condition &amp; </a:t>
            </a:r>
            <a:r>
              <a:rPr dirty="0" sz="2400" spc="-5" b="1">
                <a:latin typeface="Times New Roman"/>
                <a:cs typeface="Times New Roman"/>
              </a:rPr>
              <a:t>then pushed </a:t>
            </a:r>
            <a:r>
              <a:rPr dirty="0" sz="2400" spc="-10" b="1">
                <a:latin typeface="Times New Roman"/>
                <a:cs typeface="Times New Roman"/>
              </a:rPr>
              <a:t>by screw </a:t>
            </a:r>
            <a:r>
              <a:rPr dirty="0" sz="2400" spc="-5" b="1">
                <a:latin typeface="Times New Roman"/>
                <a:cs typeface="Times New Roman"/>
              </a:rPr>
              <a:t>conveyor </a:t>
            </a:r>
            <a:r>
              <a:rPr dirty="0" sz="2400" b="1">
                <a:latin typeface="Times New Roman"/>
                <a:cs typeface="Times New Roman"/>
              </a:rPr>
              <a:t>into  </a:t>
            </a:r>
            <a:r>
              <a:rPr dirty="0" sz="2400" spc="-5" b="1">
                <a:latin typeface="Times New Roman"/>
                <a:cs typeface="Times New Roman"/>
              </a:rPr>
              <a:t>die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having </a:t>
            </a:r>
            <a:r>
              <a:rPr dirty="0" sz="2400" spc="-15" b="1">
                <a:solidFill>
                  <a:srgbClr val="702FA0"/>
                </a:solidFill>
                <a:latin typeface="Times New Roman"/>
                <a:cs typeface="Times New Roman"/>
              </a:rPr>
              <a:t>required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outer shape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of articles </a:t>
            </a:r>
            <a:r>
              <a:rPr dirty="0" sz="2400" spc="5" b="1">
                <a:solidFill>
                  <a:srgbClr val="702FA0"/>
                </a:solidFill>
                <a:latin typeface="Times New Roman"/>
                <a:cs typeface="Times New Roman"/>
              </a:rPr>
              <a:t>to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be</a:t>
            </a:r>
            <a:r>
              <a:rPr dirty="0" sz="2400" spc="-8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manufactured.</a:t>
            </a:r>
            <a:endParaRPr sz="2400">
              <a:latin typeface="Times New Roman"/>
              <a:cs typeface="Times New Roman"/>
            </a:endParaRPr>
          </a:p>
          <a:p>
            <a:pPr marL="469265" marR="277495" indent="-45720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Then the finished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product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taken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out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is cooled by</a:t>
            </a:r>
            <a:r>
              <a:rPr dirty="0" sz="2400" spc="-10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atmospheric  </a:t>
            </a:r>
            <a:r>
              <a:rPr dirty="0" sz="2400" spc="-10" b="1">
                <a:solidFill>
                  <a:srgbClr val="702FA0"/>
                </a:solidFill>
                <a:latin typeface="Times New Roman"/>
                <a:cs typeface="Times New Roman"/>
              </a:rPr>
              <a:t>exposure 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 b="1">
                <a:solidFill>
                  <a:srgbClr val="702FA0"/>
                </a:solidFill>
                <a:latin typeface="Times New Roman"/>
                <a:cs typeface="Times New Roman"/>
              </a:rPr>
              <a:t>spraying</a:t>
            </a:r>
            <a:r>
              <a:rPr dirty="0" sz="2400" b="1">
                <a:solidFill>
                  <a:srgbClr val="702FA0"/>
                </a:solidFill>
                <a:latin typeface="Times New Roman"/>
                <a:cs typeface="Times New Roman"/>
              </a:rPr>
              <a:t> </a:t>
            </a:r>
            <a:r>
              <a:rPr dirty="0" sz="2400" spc="-40" b="1">
                <a:solidFill>
                  <a:srgbClr val="702FA0"/>
                </a:solidFill>
                <a:latin typeface="Times New Roman"/>
                <a:cs typeface="Times New Roman"/>
              </a:rPr>
              <a:t>water.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Application:</a:t>
            </a:r>
            <a:endParaRPr sz="2400">
              <a:latin typeface="Times New Roman"/>
              <a:cs typeface="Times New Roman"/>
            </a:endParaRPr>
          </a:p>
          <a:p>
            <a:pPr marL="469265" marR="403860" indent="-4572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This method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is applicable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shape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articles like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tubes, 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rods,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electric cables</a:t>
            </a:r>
            <a:r>
              <a:rPr dirty="0" sz="2400" spc="-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3439" y="1293875"/>
            <a:ext cx="8353425" cy="2522220"/>
            <a:chOff x="853439" y="1293875"/>
            <a:chExt cx="8353425" cy="2522220"/>
          </a:xfrm>
        </p:grpSpPr>
        <p:sp>
          <p:nvSpPr>
            <p:cNvPr id="3" name="object 3"/>
            <p:cNvSpPr/>
            <p:nvPr/>
          </p:nvSpPr>
          <p:spPr>
            <a:xfrm>
              <a:off x="926591" y="1293875"/>
              <a:ext cx="4102607" cy="25222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390387" y="1365503"/>
              <a:ext cx="3816096" cy="20787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98219" y="4030979"/>
            <a:ext cx="4227122" cy="25267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62015" y="4247388"/>
            <a:ext cx="3810000" cy="17617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2</a:t>
            </a:r>
            <a:r>
              <a:rPr dirty="0" spc="75"/>
              <a:t>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3429000"/>
            <a:chOff x="457200" y="457200"/>
            <a:chExt cx="9144000" cy="3429000"/>
          </a:xfrm>
        </p:grpSpPr>
        <p:sp>
          <p:nvSpPr>
            <p:cNvPr id="3" name="object 3"/>
            <p:cNvSpPr/>
            <p:nvPr/>
          </p:nvSpPr>
          <p:spPr>
            <a:xfrm>
              <a:off x="457200" y="457200"/>
              <a:ext cx="9144000" cy="3429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53440" y="1577339"/>
              <a:ext cx="8353425" cy="12700"/>
            </a:xfrm>
            <a:custGeom>
              <a:avLst/>
              <a:gdLst/>
              <a:ahLst/>
              <a:cxnLst/>
              <a:rect l="l" t="t" r="r" b="b"/>
              <a:pathLst>
                <a:path w="8353425" h="12700">
                  <a:moveTo>
                    <a:pt x="8353044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8353044" y="0"/>
                  </a:lnTo>
                  <a:lnTo>
                    <a:pt x="8353044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3077" y="999179"/>
            <a:ext cx="58813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90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400" spc="-254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2400" spc="245">
                <a:solidFill>
                  <a:srgbClr val="FFFFFF"/>
                </a:solidFill>
                <a:latin typeface="Georgia"/>
                <a:cs typeface="Georgia"/>
              </a:rPr>
              <a:t>1 </a:t>
            </a:r>
            <a:r>
              <a:rPr dirty="0" sz="2400" spc="-190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400" spc="-170">
                <a:solidFill>
                  <a:srgbClr val="FFFFFF"/>
                </a:solidFill>
                <a:latin typeface="Georgia"/>
                <a:cs typeface="Georgia"/>
              </a:rPr>
              <a:t>name:Applied</a:t>
            </a:r>
            <a:r>
              <a:rPr dirty="0" sz="2400" spc="-4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-125">
                <a:solidFill>
                  <a:srgbClr val="FFFFFF"/>
                </a:solidFill>
                <a:latin typeface="Georgia"/>
                <a:cs typeface="Georgia"/>
              </a:rPr>
              <a:t>Chemistry-1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" y="3886200"/>
            <a:ext cx="9144000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82367" y="2509645"/>
            <a:ext cx="7388859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760"/>
              </a:lnSpc>
              <a:spcBef>
                <a:spcPts val="100"/>
              </a:spcBef>
            </a:pP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Lecture </a:t>
            </a:r>
            <a:r>
              <a:rPr dirty="0" sz="4800" spc="-505" b="1">
                <a:solidFill>
                  <a:srgbClr val="FFFFFF"/>
                </a:solidFill>
                <a:latin typeface="Georgia"/>
                <a:cs typeface="Georgia"/>
              </a:rPr>
              <a:t>No:</a:t>
            </a:r>
            <a:r>
              <a:rPr dirty="0" sz="4800" spc="-2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275" b="1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48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dirty="0" sz="4800" spc="-270" b="1">
                <a:solidFill>
                  <a:srgbClr val="FFFFFF"/>
                </a:solidFill>
                <a:latin typeface="Georgia"/>
                <a:cs typeface="Georgia"/>
              </a:rPr>
              <a:t>Properties </a:t>
            </a:r>
            <a:r>
              <a:rPr dirty="0" sz="4800" spc="-290" b="1">
                <a:solidFill>
                  <a:srgbClr val="FFFFFF"/>
                </a:solidFill>
                <a:latin typeface="Georgia"/>
                <a:cs typeface="Georgia"/>
              </a:rPr>
              <a:t>&amp; Preperations  </a:t>
            </a:r>
            <a:r>
              <a:rPr dirty="0" sz="4800" spc="-450" b="1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dirty="0" sz="4800" spc="-20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254" b="1">
                <a:solidFill>
                  <a:srgbClr val="FFFFFF"/>
                </a:solidFill>
                <a:latin typeface="Georgia"/>
                <a:cs typeface="Georgia"/>
              </a:rPr>
              <a:t>Plastics</a:t>
            </a:r>
            <a:endParaRPr sz="4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0719" y="843877"/>
            <a:ext cx="60509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4">
                <a:solidFill>
                  <a:srgbClr val="FF0000"/>
                </a:solidFill>
                <a:latin typeface="Georgia"/>
                <a:cs typeface="Georgia"/>
              </a:rPr>
              <a:t>Properties </a:t>
            </a:r>
            <a:r>
              <a:rPr dirty="0" sz="3600" spc="-215">
                <a:solidFill>
                  <a:srgbClr val="FF0000"/>
                </a:solidFill>
                <a:latin typeface="Georgia"/>
                <a:cs typeface="Georgia"/>
              </a:rPr>
              <a:t>&amp; </a:t>
            </a:r>
            <a:r>
              <a:rPr dirty="0" sz="3600" spc="-285">
                <a:solidFill>
                  <a:srgbClr val="FF0000"/>
                </a:solidFill>
                <a:latin typeface="Georgia"/>
                <a:cs typeface="Georgia"/>
              </a:rPr>
              <a:t>Uses </a:t>
            </a:r>
            <a:r>
              <a:rPr dirty="0" sz="3600" spc="-340">
                <a:solidFill>
                  <a:srgbClr val="FF0000"/>
                </a:solidFill>
                <a:latin typeface="Georgia"/>
                <a:cs typeface="Georgia"/>
              </a:rPr>
              <a:t>Of</a:t>
            </a:r>
            <a:r>
              <a:rPr dirty="0" sz="3600" spc="185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dirty="0" sz="3600" spc="-195">
                <a:solidFill>
                  <a:srgbClr val="FF0000"/>
                </a:solidFill>
                <a:latin typeface="Georgia"/>
                <a:cs typeface="Georgia"/>
              </a:rPr>
              <a:t>Plastics</a:t>
            </a:r>
            <a:endParaRPr sz="3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5379" y="1890747"/>
            <a:ext cx="7654925" cy="390271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39395">
              <a:lnSpc>
                <a:spcPct val="10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Properties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</a:t>
            </a:r>
            <a:r>
              <a:rPr dirty="0" sz="2400" spc="-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plastics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Phenol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formaldehyde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presence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set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rigid, infusible</a:t>
            </a:r>
            <a:r>
              <a:rPr dirty="0" sz="2400" spc="-12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and 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insoluble</a:t>
            </a:r>
            <a:r>
              <a:rPr dirty="0" sz="2400" spc="-4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solids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posses resistance to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scratch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2400" spc="-4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40" b="1">
                <a:solidFill>
                  <a:srgbClr val="001F60"/>
                </a:solidFill>
                <a:latin typeface="Times New Roman"/>
                <a:cs typeface="Times New Roman"/>
              </a:rPr>
              <a:t>water.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posses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excellent electrical insulating</a:t>
            </a:r>
            <a:r>
              <a:rPr dirty="0" sz="2400" spc="-1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001F60"/>
                </a:solidFill>
                <a:latin typeface="Times New Roman"/>
                <a:cs typeface="Times New Roman"/>
              </a:rPr>
              <a:t>character.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Light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It can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acquire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any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desired</a:t>
            </a:r>
            <a:r>
              <a:rPr dirty="0" sz="2400" spc="-5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shapes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Easy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2400" spc="-3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fabricate.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Good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resistance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solvents,</a:t>
            </a:r>
            <a:r>
              <a:rPr dirty="0" sz="2400" spc="-8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chemicals.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3</a:t>
            </a:r>
            <a:r>
              <a:rPr dirty="0" spc="75"/>
              <a:t>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77" y="953489"/>
            <a:ext cx="390080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95">
                <a:latin typeface="Georgia"/>
                <a:cs typeface="Georgia"/>
              </a:rPr>
              <a:t>PREPERATION </a:t>
            </a:r>
            <a:r>
              <a:rPr dirty="0" sz="2400" spc="-290">
                <a:latin typeface="Georgia"/>
                <a:cs typeface="Georgia"/>
              </a:rPr>
              <a:t>OF</a:t>
            </a:r>
            <a:r>
              <a:rPr dirty="0" sz="2400" spc="-270">
                <a:latin typeface="Georgia"/>
                <a:cs typeface="Georgia"/>
              </a:rPr>
              <a:t> </a:t>
            </a:r>
            <a:r>
              <a:rPr dirty="0" sz="2400" spc="-275">
                <a:latin typeface="Georgia"/>
                <a:cs typeface="Georgia"/>
              </a:rPr>
              <a:t>PLASTICS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3841" y="1655709"/>
            <a:ext cx="7895590" cy="182626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470534" algn="l"/>
              </a:tabLst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1.	Phenol-Formaldehyde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Plastic</a:t>
            </a:r>
            <a:endParaRPr sz="28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It </a:t>
            </a:r>
            <a:r>
              <a:rPr dirty="0" sz="2000" spc="-10" b="1">
                <a:solidFill>
                  <a:srgbClr val="001F60"/>
                </a:solidFill>
                <a:latin typeface="Times New Roman"/>
                <a:cs typeface="Times New Roman"/>
              </a:rPr>
              <a:t>is prepared by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condensing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phenol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with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formaldehyde </a:t>
            </a:r>
            <a:r>
              <a:rPr dirty="0" sz="2000" spc="-10" b="1">
                <a:solidFill>
                  <a:srgbClr val="001F60"/>
                </a:solidFill>
                <a:latin typeface="Times New Roman"/>
                <a:cs typeface="Times New Roman"/>
              </a:rPr>
              <a:t>in presence 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of acidic or alkaline catalyst.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The initial reaction </a:t>
            </a:r>
            <a:r>
              <a:rPr dirty="0" sz="2000" spc="-10" b="1">
                <a:solidFill>
                  <a:srgbClr val="001F60"/>
                </a:solidFill>
                <a:latin typeface="Times New Roman"/>
                <a:cs typeface="Times New Roman"/>
              </a:rPr>
              <a:t>results in</a:t>
            </a:r>
            <a:r>
              <a:rPr dirty="0" sz="2000" spc="-24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formation 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of o- and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p-hydroxymethyl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phenol which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reacts to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form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linear  polymer</a:t>
            </a:r>
            <a:r>
              <a:rPr dirty="0" sz="2000" spc="-7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novolac.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141475" y="3454908"/>
            <a:ext cx="7932420" cy="3615690"/>
            <a:chOff x="1141475" y="3454908"/>
            <a:chExt cx="7932420" cy="3615690"/>
          </a:xfrm>
        </p:grpSpPr>
        <p:sp>
          <p:nvSpPr>
            <p:cNvPr id="7" name="object 7"/>
            <p:cNvSpPr/>
            <p:nvPr/>
          </p:nvSpPr>
          <p:spPr>
            <a:xfrm>
              <a:off x="1141475" y="3454908"/>
              <a:ext cx="6551676" cy="4312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11416" y="6338772"/>
              <a:ext cx="1762011" cy="73128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41475" y="3886200"/>
              <a:ext cx="6551676" cy="24185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3</a:t>
            </a:r>
            <a:r>
              <a:rPr dirty="0" spc="75"/>
              <a:t>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045" y="817805"/>
            <a:ext cx="7769225" cy="5367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622300" algn="l"/>
                <a:tab pos="622935" algn="l"/>
              </a:tabLst>
            </a:pPr>
            <a:r>
              <a:rPr dirty="0" sz="3200">
                <a:solidFill>
                  <a:srgbClr val="FF0000"/>
                </a:solidFill>
                <a:latin typeface="Times New Roman"/>
                <a:cs typeface="Times New Roman"/>
              </a:rPr>
              <a:t>Phenol-Formaldehyde</a:t>
            </a:r>
            <a:r>
              <a:rPr dirty="0" sz="3200" spc="-5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-5">
                <a:solidFill>
                  <a:srgbClr val="FF0000"/>
                </a:solidFill>
                <a:latin typeface="Times New Roman"/>
                <a:cs typeface="Times New Roman"/>
              </a:rPr>
              <a:t>Plastic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Properties:</a:t>
            </a:r>
            <a:endParaRPr sz="2800">
              <a:latin typeface="Times New Roman"/>
              <a:cs typeface="Times New Roman"/>
            </a:endParaRPr>
          </a:p>
          <a:p>
            <a:pPr marL="622300" marR="713740" indent="-610235">
              <a:lnSpc>
                <a:spcPct val="100000"/>
              </a:lnSpc>
              <a:spcBef>
                <a:spcPts val="675"/>
              </a:spcBef>
              <a:buClr>
                <a:srgbClr val="001F60"/>
              </a:buClr>
              <a:buFont typeface="Times New Roman"/>
              <a:buAutoNum type="arabicPeriod"/>
              <a:tabLst>
                <a:tab pos="900430" algn="l"/>
                <a:tab pos="901065" algn="l"/>
              </a:tabLst>
            </a:pPr>
            <a:r>
              <a:rPr dirty="0"/>
              <a:t>	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Phenol-Formaldehyde </a:t>
            </a:r>
            <a:r>
              <a:rPr dirty="0" sz="2800" spc="-15" b="1">
                <a:solidFill>
                  <a:srgbClr val="001F60"/>
                </a:solidFill>
                <a:latin typeface="Times New Roman"/>
                <a:cs typeface="Times New Roman"/>
              </a:rPr>
              <a:t>resins </a:t>
            </a: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set to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rigid, 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infusible and insoluble</a:t>
            </a:r>
            <a:r>
              <a:rPr dirty="0" sz="2800" spc="-6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solids.</a:t>
            </a:r>
            <a:endParaRPr sz="2800">
              <a:latin typeface="Times New Roman"/>
              <a:cs typeface="Times New Roman"/>
            </a:endParaRPr>
          </a:p>
          <a:p>
            <a:pPr marL="892810" indent="-880744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892810" algn="l"/>
                <a:tab pos="893444" algn="l"/>
              </a:tabLst>
            </a:pP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They posses </a:t>
            </a: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resistance </a:t>
            </a:r>
            <a:r>
              <a:rPr dirty="0" sz="2800" spc="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scratch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2800" spc="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800" spc="-55" b="1">
                <a:solidFill>
                  <a:srgbClr val="001F60"/>
                </a:solidFill>
                <a:latin typeface="Times New Roman"/>
                <a:cs typeface="Times New Roman"/>
              </a:rPr>
              <a:t>water.</a:t>
            </a:r>
            <a:endParaRPr sz="2800">
              <a:latin typeface="Times New Roman"/>
              <a:cs typeface="Times New Roman"/>
            </a:endParaRPr>
          </a:p>
          <a:p>
            <a:pPr marL="622300" marR="5080" indent="-61023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622935" algn="l"/>
                <a:tab pos="623570" algn="l"/>
              </a:tabLst>
            </a:pP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800" spc="-20" b="1">
                <a:solidFill>
                  <a:srgbClr val="001F60"/>
                </a:solidFill>
                <a:latin typeface="Times New Roman"/>
                <a:cs typeface="Times New Roman"/>
              </a:rPr>
              <a:t>are </a:t>
            </a: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resistant </a:t>
            </a:r>
            <a:r>
              <a:rPr dirty="0" sz="2800" spc="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non-oxidizing acids, salts 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and many organic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solvents,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but get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attacked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by 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alkalis because </a:t>
            </a:r>
            <a:r>
              <a:rPr dirty="0" sz="2800" spc="10" b="1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800" spc="-15" b="1">
                <a:solidFill>
                  <a:srgbClr val="001F60"/>
                </a:solidFill>
                <a:latin typeface="Times New Roman"/>
                <a:cs typeface="Times New Roman"/>
              </a:rPr>
              <a:t>presence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dirty="0" sz="2800" spc="-20" b="1">
                <a:solidFill>
                  <a:srgbClr val="001F60"/>
                </a:solidFill>
                <a:latin typeface="Times New Roman"/>
                <a:cs typeface="Times New Roman"/>
              </a:rPr>
              <a:t>free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hydroxyl  </a:t>
            </a:r>
            <a:r>
              <a:rPr dirty="0" sz="2800" spc="-15" b="1">
                <a:solidFill>
                  <a:srgbClr val="001F60"/>
                </a:solidFill>
                <a:latin typeface="Times New Roman"/>
                <a:cs typeface="Times New Roman"/>
              </a:rPr>
              <a:t>groups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in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their</a:t>
            </a:r>
            <a:r>
              <a:rPr dirty="0" sz="2800" spc="-5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structures.</a:t>
            </a:r>
            <a:endParaRPr sz="2800">
              <a:latin typeface="Times New Roman"/>
              <a:cs typeface="Times New Roman"/>
            </a:endParaRPr>
          </a:p>
          <a:p>
            <a:pPr marL="622935" indent="-61087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622935" algn="l"/>
                <a:tab pos="623570" algn="l"/>
              </a:tabLst>
            </a:pP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posses </a:t>
            </a: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excellent </a:t>
            </a:r>
            <a:r>
              <a:rPr dirty="0" sz="2800" b="1">
                <a:solidFill>
                  <a:srgbClr val="001F60"/>
                </a:solidFill>
                <a:latin typeface="Times New Roman"/>
                <a:cs typeface="Times New Roman"/>
              </a:rPr>
              <a:t>insulating</a:t>
            </a:r>
            <a:r>
              <a:rPr dirty="0" sz="2800" spc="-5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800" spc="-35" b="1">
                <a:solidFill>
                  <a:srgbClr val="001F60"/>
                </a:solidFill>
                <a:latin typeface="Times New Roman"/>
                <a:cs typeface="Times New Roman"/>
              </a:rPr>
              <a:t>charcater.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290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823594" algn="l"/>
                <a:tab pos="8367395" algn="l"/>
              </a:tabLst>
            </a:pPr>
            <a:r>
              <a:rPr dirty="0" u="sng" sz="4400" b="0">
                <a:solidFill>
                  <a:srgbClr val="000000"/>
                </a:solidFill>
                <a:uFill>
                  <a:solidFill>
                    <a:srgbClr val="3F3F3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400" b="0">
                <a:solidFill>
                  <a:srgbClr val="000000"/>
                </a:solidFill>
                <a:uFill>
                  <a:solidFill>
                    <a:srgbClr val="3F3F3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4400" spc="-260">
                <a:solidFill>
                  <a:srgbClr val="000000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Phenol-Formaldehyde</a:t>
            </a:r>
            <a:r>
              <a:rPr dirty="0" u="sng" sz="4400" spc="-455">
                <a:solidFill>
                  <a:srgbClr val="000000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00" spc="-250">
                <a:solidFill>
                  <a:srgbClr val="000000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Plastic	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045" y="2003166"/>
            <a:ext cx="7103109" cy="398208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3200" b="1">
                <a:solidFill>
                  <a:srgbClr val="001F60"/>
                </a:solidFill>
                <a:latin typeface="Times New Roman"/>
                <a:cs typeface="Times New Roman"/>
              </a:rPr>
              <a:t>Uses:</a:t>
            </a:r>
            <a:endParaRPr sz="320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For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making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moulded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articles like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telephone</a:t>
            </a:r>
            <a:r>
              <a:rPr dirty="0" sz="2400" spc="-11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parts,  cabinet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for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radio and </a:t>
            </a:r>
            <a:r>
              <a:rPr dirty="0" sz="2400" spc="-130" b="1">
                <a:solidFill>
                  <a:srgbClr val="001F60"/>
                </a:solidFill>
                <a:latin typeface="Times New Roman"/>
                <a:cs typeface="Times New Roman"/>
              </a:rPr>
              <a:t>T.V.</a:t>
            </a:r>
            <a:r>
              <a:rPr dirty="0" sz="2400" spc="-14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622300" indent="-610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For impregnating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fabrics,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wood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2400" spc="-10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40" b="1">
                <a:solidFill>
                  <a:srgbClr val="001F60"/>
                </a:solidFill>
                <a:latin typeface="Times New Roman"/>
                <a:cs typeface="Times New Roman"/>
              </a:rPr>
              <a:t>paper.</a:t>
            </a:r>
            <a:endParaRPr sz="2400">
              <a:latin typeface="Times New Roman"/>
              <a:cs typeface="Times New Roman"/>
            </a:endParaRPr>
          </a:p>
          <a:p>
            <a:pPr marL="622300" marR="160020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For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making electric insulator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parts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like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switches,plugs,switch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boards,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heater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handles,etc.</a:t>
            </a:r>
            <a:endParaRPr sz="2400">
              <a:latin typeface="Times New Roman"/>
              <a:cs typeface="Times New Roman"/>
            </a:endParaRPr>
          </a:p>
          <a:p>
            <a:pPr marL="622300" indent="-610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binder for grinding</a:t>
            </a:r>
            <a:r>
              <a:rPr dirty="0" sz="2400" spc="-6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wheels.</a:t>
            </a:r>
            <a:endParaRPr sz="2400">
              <a:latin typeface="Times New Roman"/>
              <a:cs typeface="Times New Roman"/>
            </a:endParaRPr>
          </a:p>
          <a:p>
            <a:pPr marL="622300" indent="-6102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Used in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paints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2400" spc="-2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varnishes.</a:t>
            </a:r>
            <a:endParaRPr sz="2400">
              <a:latin typeface="Times New Roman"/>
              <a:cs typeface="Times New Roman"/>
            </a:endParaRPr>
          </a:p>
          <a:p>
            <a:pPr marL="622300" indent="-6102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935" algn="l"/>
              </a:tabLst>
            </a:pP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For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making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bearing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used in</a:t>
            </a:r>
            <a:r>
              <a:rPr dirty="0" sz="2400" spc="-9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shafts.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93132" y="6958084"/>
            <a:ext cx="1784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0">
                <a:latin typeface="Arial"/>
                <a:cs typeface="Arial"/>
              </a:rPr>
              <a:t>1</a:t>
            </a:r>
            <a:r>
              <a:rPr dirty="0" sz="1600" spc="-45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32" y="6958084"/>
            <a:ext cx="1301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45">
                <a:latin typeface="Arial"/>
                <a:cs typeface="Arial"/>
              </a:rPr>
              <a:t>P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4586" y="6842166"/>
            <a:ext cx="391985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Mrs. Rupal Agme-Jadhav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290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8367395" algn="l"/>
              </a:tabLst>
            </a:pPr>
            <a:r>
              <a:rPr dirty="0" u="sng" sz="4400" spc="95" b="0">
                <a:solidFill>
                  <a:srgbClr val="FF0000"/>
                </a:solidFill>
                <a:uFill>
                  <a:solidFill>
                    <a:srgbClr val="3F3F3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400" spc="-165" b="0">
                <a:solidFill>
                  <a:srgbClr val="FF0000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Polymethyl </a:t>
            </a:r>
            <a:r>
              <a:rPr dirty="0" u="sng" sz="4400" spc="-110" b="0">
                <a:solidFill>
                  <a:srgbClr val="FF0000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Methacrylate</a:t>
            </a:r>
            <a:r>
              <a:rPr dirty="0" u="sng" sz="4400" spc="-340" b="0">
                <a:solidFill>
                  <a:srgbClr val="FF0000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400" spc="-190" b="0">
                <a:solidFill>
                  <a:srgbClr val="FF0000"/>
                </a:solidFill>
                <a:uFill>
                  <a:solidFill>
                    <a:srgbClr val="3F3F3F"/>
                  </a:solidFill>
                </a:uFill>
                <a:latin typeface="Arial"/>
                <a:cs typeface="Arial"/>
              </a:rPr>
              <a:t>(PMMA)	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6936" y="1578555"/>
            <a:ext cx="5527675" cy="407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045"/>
              </a:lnSpc>
            </a:pPr>
            <a:r>
              <a:rPr dirty="0" sz="3200" spc="-120">
                <a:solidFill>
                  <a:srgbClr val="FF0000"/>
                </a:solidFill>
                <a:latin typeface="Arial"/>
                <a:cs typeface="Arial"/>
              </a:rPr>
              <a:t>Polymethyl</a:t>
            </a:r>
            <a:r>
              <a:rPr dirty="0" sz="3200" spc="-2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100">
                <a:solidFill>
                  <a:srgbClr val="FF0000"/>
                </a:solidFill>
                <a:latin typeface="Arial"/>
                <a:cs typeface="Arial"/>
              </a:rPr>
              <a:t>Methacrylate(PMMA)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457200" y="1728216"/>
            <a:ext cx="8859520" cy="5342255"/>
            <a:chOff x="457200" y="1728216"/>
            <a:chExt cx="8859520" cy="5342255"/>
          </a:xfrm>
        </p:grpSpPr>
        <p:sp>
          <p:nvSpPr>
            <p:cNvPr id="7" name="object 7"/>
            <p:cNvSpPr/>
            <p:nvPr/>
          </p:nvSpPr>
          <p:spPr>
            <a:xfrm>
              <a:off x="457200" y="1728216"/>
              <a:ext cx="8859012" cy="21579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11415" y="6338772"/>
              <a:ext cx="1762011" cy="73128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7200" y="3886200"/>
              <a:ext cx="8859012" cy="27873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7431" y="986975"/>
            <a:ext cx="72009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90" b="0">
                <a:solidFill>
                  <a:srgbClr val="FF0000"/>
                </a:solidFill>
                <a:latin typeface="Arial"/>
                <a:cs typeface="Arial"/>
              </a:rPr>
              <a:t>POLYMETHYL </a:t>
            </a:r>
            <a:r>
              <a:rPr dirty="0" sz="3600" spc="-500" b="0">
                <a:solidFill>
                  <a:srgbClr val="FF0000"/>
                </a:solidFill>
                <a:latin typeface="Arial"/>
                <a:cs typeface="Arial"/>
              </a:rPr>
              <a:t>METHACRYLATE</a:t>
            </a:r>
            <a:r>
              <a:rPr dirty="0" sz="3600" spc="-480" b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600" spc="-155" b="0">
                <a:solidFill>
                  <a:srgbClr val="FF0000"/>
                </a:solidFill>
                <a:latin typeface="Arial"/>
                <a:cs typeface="Arial"/>
              </a:rPr>
              <a:t>(PMMA)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pc="-5"/>
              <a:t>Properties:</a:t>
            </a:r>
          </a:p>
          <a:p>
            <a:pPr marL="621665" marR="5080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>
                <a:solidFill>
                  <a:srgbClr val="000000"/>
                </a:solidFill>
              </a:rPr>
              <a:t>It is </a:t>
            </a:r>
            <a:r>
              <a:rPr dirty="0" spc="-5">
                <a:solidFill>
                  <a:srgbClr val="000000"/>
                </a:solidFill>
              </a:rPr>
              <a:t>hard, </a:t>
            </a:r>
            <a:r>
              <a:rPr dirty="0">
                <a:solidFill>
                  <a:srgbClr val="000000"/>
                </a:solidFill>
              </a:rPr>
              <a:t>fairly rigid material </a:t>
            </a:r>
            <a:r>
              <a:rPr dirty="0" spc="-5">
                <a:solidFill>
                  <a:srgbClr val="000000"/>
                </a:solidFill>
              </a:rPr>
              <a:t>with </a:t>
            </a:r>
            <a:r>
              <a:rPr dirty="0">
                <a:solidFill>
                  <a:srgbClr val="000000"/>
                </a:solidFill>
              </a:rPr>
              <a:t>a high </a:t>
            </a:r>
            <a:r>
              <a:rPr dirty="0" spc="-5">
                <a:solidFill>
                  <a:srgbClr val="000000"/>
                </a:solidFill>
              </a:rPr>
              <a:t>softening point  </a:t>
            </a:r>
            <a:r>
              <a:rPr dirty="0">
                <a:solidFill>
                  <a:srgbClr val="000000"/>
                </a:solidFill>
              </a:rPr>
              <a:t>of </a:t>
            </a:r>
            <a:r>
              <a:rPr dirty="0" spc="-5">
                <a:solidFill>
                  <a:srgbClr val="000000"/>
                </a:solidFill>
              </a:rPr>
              <a:t>about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130-140C.</a:t>
            </a:r>
          </a:p>
          <a:p>
            <a:pPr marL="622300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>
                <a:solidFill>
                  <a:srgbClr val="000000"/>
                </a:solidFill>
              </a:rPr>
              <a:t>It has low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starch-resistance.</a:t>
            </a:r>
          </a:p>
          <a:p>
            <a:pPr marL="622300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>
                <a:solidFill>
                  <a:srgbClr val="000000"/>
                </a:solidFill>
              </a:rPr>
              <a:t>It has </a:t>
            </a:r>
            <a:r>
              <a:rPr dirty="0" spc="-5">
                <a:solidFill>
                  <a:srgbClr val="000000"/>
                </a:solidFill>
              </a:rPr>
              <a:t>high optical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dirty="0" spc="-15">
                <a:solidFill>
                  <a:srgbClr val="000000"/>
                </a:solidFill>
              </a:rPr>
              <a:t>–transparency.</a:t>
            </a:r>
          </a:p>
          <a:p>
            <a:pPr marL="12700" marR="697865">
              <a:lnSpc>
                <a:spcPct val="120000"/>
              </a:lnSpc>
              <a:buAutoNum type="arabicPeriod"/>
              <a:tabLst>
                <a:tab pos="621665" algn="l"/>
                <a:tab pos="622300" algn="l"/>
              </a:tabLst>
            </a:pPr>
            <a:r>
              <a:rPr dirty="0">
                <a:solidFill>
                  <a:srgbClr val="000000"/>
                </a:solidFill>
              </a:rPr>
              <a:t>It ha low </a:t>
            </a:r>
            <a:r>
              <a:rPr dirty="0" spc="-5">
                <a:solidFill>
                  <a:srgbClr val="000000"/>
                </a:solidFill>
              </a:rPr>
              <a:t>chemical </a:t>
            </a:r>
            <a:r>
              <a:rPr dirty="0" spc="-10">
                <a:solidFill>
                  <a:srgbClr val="000000"/>
                </a:solidFill>
              </a:rPr>
              <a:t>resistance </a:t>
            </a:r>
            <a:r>
              <a:rPr dirty="0" spc="-5">
                <a:solidFill>
                  <a:srgbClr val="000000"/>
                </a:solidFill>
              </a:rPr>
              <a:t>to </a:t>
            </a:r>
            <a:r>
              <a:rPr dirty="0">
                <a:solidFill>
                  <a:srgbClr val="000000"/>
                </a:solidFill>
              </a:rPr>
              <a:t>hot acids and alkalis </a:t>
            </a:r>
            <a:r>
              <a:rPr dirty="0"/>
              <a:t> Uses:</a:t>
            </a:r>
          </a:p>
          <a:p>
            <a:pPr marL="621665" marR="836930" indent="-609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pc="-5">
                <a:solidFill>
                  <a:srgbClr val="000000"/>
                </a:solidFill>
              </a:rPr>
              <a:t>For </a:t>
            </a:r>
            <a:r>
              <a:rPr dirty="0">
                <a:solidFill>
                  <a:srgbClr val="000000"/>
                </a:solidFill>
              </a:rPr>
              <a:t>making </a:t>
            </a:r>
            <a:r>
              <a:rPr dirty="0" spc="-5">
                <a:solidFill>
                  <a:srgbClr val="000000"/>
                </a:solidFill>
              </a:rPr>
              <a:t>lenses, optical </a:t>
            </a:r>
            <a:r>
              <a:rPr dirty="0">
                <a:solidFill>
                  <a:srgbClr val="000000"/>
                </a:solidFill>
              </a:rPr>
              <a:t>parts of</a:t>
            </a:r>
            <a:r>
              <a:rPr dirty="0" spc="-9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instruments,air-  </a:t>
            </a:r>
            <a:r>
              <a:rPr dirty="0">
                <a:solidFill>
                  <a:srgbClr val="000000"/>
                </a:solidFill>
              </a:rPr>
              <a:t>crafts,light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fixtures,etc.</a:t>
            </a:r>
          </a:p>
          <a:p>
            <a:pPr marL="621665" marR="73025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pc="-5">
                <a:solidFill>
                  <a:srgbClr val="000000"/>
                </a:solidFill>
              </a:rPr>
              <a:t>As </a:t>
            </a:r>
            <a:r>
              <a:rPr dirty="0">
                <a:solidFill>
                  <a:srgbClr val="000000"/>
                </a:solidFill>
              </a:rPr>
              <a:t>it is </a:t>
            </a:r>
            <a:r>
              <a:rPr dirty="0" spc="-15">
                <a:solidFill>
                  <a:srgbClr val="000000"/>
                </a:solidFill>
              </a:rPr>
              <a:t>more </a:t>
            </a:r>
            <a:r>
              <a:rPr dirty="0" spc="-5">
                <a:solidFill>
                  <a:srgbClr val="000000"/>
                </a:solidFill>
              </a:rPr>
              <a:t>transparent than </a:t>
            </a:r>
            <a:r>
              <a:rPr dirty="0">
                <a:solidFill>
                  <a:srgbClr val="000000"/>
                </a:solidFill>
              </a:rPr>
              <a:t>glass, it is </a:t>
            </a:r>
            <a:r>
              <a:rPr dirty="0" spc="-5">
                <a:solidFill>
                  <a:srgbClr val="000000"/>
                </a:solidFill>
              </a:rPr>
              <a:t>used </a:t>
            </a:r>
            <a:r>
              <a:rPr dirty="0" spc="5">
                <a:solidFill>
                  <a:srgbClr val="000000"/>
                </a:solidFill>
              </a:rPr>
              <a:t>for</a:t>
            </a:r>
            <a:r>
              <a:rPr dirty="0" spc="-9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making  </a:t>
            </a:r>
            <a:r>
              <a:rPr dirty="0" spc="-10">
                <a:solidFill>
                  <a:srgbClr val="000000"/>
                </a:solidFill>
              </a:rPr>
              <a:t>window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glasses.</a:t>
            </a:r>
          </a:p>
          <a:p>
            <a:pPr marL="622300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>
                <a:solidFill>
                  <a:srgbClr val="000000"/>
                </a:solidFill>
              </a:rPr>
              <a:t>It is </a:t>
            </a:r>
            <a:r>
              <a:rPr dirty="0" spc="-5">
                <a:solidFill>
                  <a:srgbClr val="000000"/>
                </a:solidFill>
              </a:rPr>
              <a:t>found </a:t>
            </a:r>
            <a:r>
              <a:rPr dirty="0">
                <a:solidFill>
                  <a:srgbClr val="000000"/>
                </a:solidFill>
              </a:rPr>
              <a:t>in </a:t>
            </a:r>
            <a:r>
              <a:rPr dirty="0" spc="-5">
                <a:solidFill>
                  <a:srgbClr val="000000"/>
                </a:solidFill>
              </a:rPr>
              <a:t>paints.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3439" y="1577339"/>
            <a:ext cx="8353425" cy="12700"/>
          </a:xfrm>
          <a:custGeom>
            <a:avLst/>
            <a:gdLst/>
            <a:ahLst/>
            <a:cxnLst/>
            <a:rect l="l" t="t" r="r" b="b"/>
            <a:pathLst>
              <a:path w="8353425" h="12700">
                <a:moveTo>
                  <a:pt x="8353044" y="12192"/>
                </a:moveTo>
                <a:lnTo>
                  <a:pt x="0" y="12192"/>
                </a:lnTo>
                <a:lnTo>
                  <a:pt x="0" y="0"/>
                </a:lnTo>
                <a:lnTo>
                  <a:pt x="8353044" y="0"/>
                </a:lnTo>
                <a:lnTo>
                  <a:pt x="8353044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37031" y="860522"/>
            <a:ext cx="74695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FF0000"/>
                </a:solidFill>
                <a:latin typeface="Times New Roman"/>
                <a:cs typeface="Times New Roman"/>
              </a:rPr>
              <a:t>Kevlar(Poly Paraphenylene</a:t>
            </a:r>
            <a:r>
              <a:rPr dirty="0" sz="3200" spc="-16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-15">
                <a:solidFill>
                  <a:srgbClr val="FF0000"/>
                </a:solidFill>
                <a:latin typeface="Times New Roman"/>
                <a:cs typeface="Times New Roman"/>
              </a:rPr>
              <a:t>Terephthalamide)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8554" y="1677392"/>
            <a:ext cx="747331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0005" marR="5080" indent="-2794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It is </a:t>
            </a:r>
            <a:r>
              <a:rPr dirty="0" sz="2000" spc="-10" b="1">
                <a:solidFill>
                  <a:srgbClr val="001F60"/>
                </a:solidFill>
                <a:latin typeface="Times New Roman"/>
                <a:cs typeface="Times New Roman"/>
              </a:rPr>
              <a:t>prepared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by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polycondensation between aromaticdichloride like  terepthalic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acid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dichloride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and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aromatic diamines like </a:t>
            </a:r>
            <a:r>
              <a:rPr dirty="0" sz="2000" b="1">
                <a:solidFill>
                  <a:srgbClr val="001F60"/>
                </a:solidFill>
                <a:latin typeface="Times New Roman"/>
                <a:cs typeface="Times New Roman"/>
              </a:rPr>
              <a:t>1,4-phynylene  </a:t>
            </a:r>
            <a:r>
              <a:rPr dirty="0" sz="2000" spc="-5" b="1">
                <a:solidFill>
                  <a:srgbClr val="001F60"/>
                </a:solidFill>
                <a:latin typeface="Times New Roman"/>
                <a:cs typeface="Times New Roman"/>
              </a:rPr>
              <a:t>diamine.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46047" y="2590800"/>
            <a:ext cx="7844028" cy="3592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45" y="513021"/>
            <a:ext cx="741616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80" b="0">
                <a:solidFill>
                  <a:srgbClr val="000000"/>
                </a:solidFill>
                <a:latin typeface="Arial"/>
                <a:cs typeface="Arial"/>
              </a:rPr>
              <a:t>Kevlar(Poly </a:t>
            </a:r>
            <a:r>
              <a:rPr dirty="0" sz="3200" spc="-170" b="0">
                <a:solidFill>
                  <a:srgbClr val="000000"/>
                </a:solidFill>
                <a:latin typeface="Arial"/>
                <a:cs typeface="Arial"/>
              </a:rPr>
              <a:t>Paraphenylene</a:t>
            </a:r>
            <a:r>
              <a:rPr dirty="0" sz="3200" spc="-150" b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200" spc="-140" b="0">
                <a:solidFill>
                  <a:srgbClr val="000000"/>
                </a:solidFill>
                <a:latin typeface="Arial"/>
                <a:cs typeface="Arial"/>
              </a:rPr>
              <a:t>Terephthalamide)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3077" y="2152981"/>
            <a:ext cx="7945755" cy="382968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Properties:</a:t>
            </a:r>
            <a:endParaRPr sz="24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2400" b="1">
                <a:latin typeface="Times New Roman"/>
                <a:cs typeface="Times New Roman"/>
              </a:rPr>
              <a:t>It </a:t>
            </a:r>
            <a:r>
              <a:rPr dirty="0" sz="2400" spc="-5" b="1">
                <a:latin typeface="Times New Roman"/>
                <a:cs typeface="Times New Roman"/>
              </a:rPr>
              <a:t>does </a:t>
            </a:r>
            <a:r>
              <a:rPr dirty="0" sz="2400" b="1">
                <a:latin typeface="Times New Roman"/>
                <a:cs typeface="Times New Roman"/>
              </a:rPr>
              <a:t>not lose </a:t>
            </a:r>
            <a:r>
              <a:rPr dirty="0" sz="2400" spc="5" b="1">
                <a:latin typeface="Times New Roman"/>
                <a:cs typeface="Times New Roman"/>
              </a:rPr>
              <a:t>its </a:t>
            </a:r>
            <a:r>
              <a:rPr dirty="0" sz="2400" spc="-5" b="1">
                <a:latin typeface="Times New Roman"/>
                <a:cs typeface="Times New Roman"/>
              </a:rPr>
              <a:t>strength </a:t>
            </a:r>
            <a:r>
              <a:rPr dirty="0" sz="2400" b="1">
                <a:latin typeface="Times New Roman"/>
                <a:cs typeface="Times New Roman"/>
              </a:rPr>
              <a:t>even</a:t>
            </a:r>
            <a:r>
              <a:rPr dirty="0" sz="2400" spc="-9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at-196C.</a:t>
            </a:r>
            <a:endParaRPr sz="24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2400" b="1">
                <a:latin typeface="Times New Roman"/>
                <a:cs typeface="Times New Roman"/>
              </a:rPr>
              <a:t>It has </a:t>
            </a:r>
            <a:r>
              <a:rPr dirty="0" sz="2400" spc="-5" b="1">
                <a:latin typeface="Times New Roman"/>
                <a:cs typeface="Times New Roman"/>
              </a:rPr>
              <a:t>high heat </a:t>
            </a:r>
            <a:r>
              <a:rPr dirty="0" sz="2400" b="1">
                <a:latin typeface="Times New Roman"/>
                <a:cs typeface="Times New Roman"/>
              </a:rPr>
              <a:t>stability and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flexibility.</a:t>
            </a:r>
            <a:endParaRPr sz="2400">
              <a:latin typeface="Times New Roman"/>
              <a:cs typeface="Times New Roman"/>
            </a:endParaRPr>
          </a:p>
          <a:p>
            <a:pPr marL="239395" marR="381000" indent="-227329">
              <a:lnSpc>
                <a:spcPct val="120000"/>
              </a:lnSpc>
              <a:buAutoNum type="arabicPeriod"/>
              <a:tabLst>
                <a:tab pos="621665" algn="l"/>
                <a:tab pos="622300" algn="l"/>
              </a:tabLst>
            </a:pPr>
            <a:r>
              <a:rPr dirty="0" sz="2400" b="1">
                <a:latin typeface="Times New Roman"/>
                <a:cs typeface="Times New Roman"/>
              </a:rPr>
              <a:t>It </a:t>
            </a:r>
            <a:r>
              <a:rPr dirty="0" sz="2400" spc="-5" b="1">
                <a:latin typeface="Times New Roman"/>
                <a:cs typeface="Times New Roman"/>
              </a:rPr>
              <a:t>does </a:t>
            </a:r>
            <a:r>
              <a:rPr dirty="0" sz="2400" b="1">
                <a:latin typeface="Times New Roman"/>
                <a:cs typeface="Times New Roman"/>
              </a:rPr>
              <a:t>not loose </a:t>
            </a:r>
            <a:r>
              <a:rPr dirty="0" sz="2400" spc="5" b="1">
                <a:latin typeface="Times New Roman"/>
                <a:cs typeface="Times New Roman"/>
              </a:rPr>
              <a:t>its </a:t>
            </a:r>
            <a:r>
              <a:rPr dirty="0" sz="2400" spc="-5" b="1">
                <a:latin typeface="Times New Roman"/>
                <a:cs typeface="Times New Roman"/>
              </a:rPr>
              <a:t>strength </a:t>
            </a:r>
            <a:r>
              <a:rPr dirty="0" sz="2400" b="1">
                <a:latin typeface="Times New Roman"/>
                <a:cs typeface="Times New Roman"/>
              </a:rPr>
              <a:t>even at low</a:t>
            </a:r>
            <a:r>
              <a:rPr dirty="0" sz="2400" spc="-1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temperature.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Uses-</a:t>
            </a:r>
            <a:endParaRPr sz="24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It is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used </a:t>
            </a:r>
            <a:r>
              <a:rPr dirty="0" sz="2400" spc="10" b="1">
                <a:solidFill>
                  <a:srgbClr val="001F60"/>
                </a:solidFill>
                <a:latin typeface="Times New Roman"/>
                <a:cs typeface="Times New Roman"/>
              </a:rPr>
              <a:t>in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aerospace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and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aircraft</a:t>
            </a:r>
            <a:r>
              <a:rPr dirty="0" sz="2400" spc="-8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industry.</a:t>
            </a:r>
            <a:endParaRPr sz="2400">
              <a:latin typeface="Times New Roman"/>
              <a:cs typeface="Times New Roman"/>
            </a:endParaRPr>
          </a:p>
          <a:p>
            <a:pPr marL="621665" marR="5080" indent="-6096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It is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use for the preparation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rope,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cable, protective 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clothing, bullet 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proof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vest,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motorcycle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helmets and</a:t>
            </a:r>
            <a:r>
              <a:rPr dirty="0" sz="2400" spc="-1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other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high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performance</a:t>
            </a:r>
            <a:r>
              <a:rPr dirty="0" sz="2400" spc="-3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material.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45" y="757007"/>
            <a:ext cx="66255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80">
                <a:solidFill>
                  <a:srgbClr val="BF0000"/>
                </a:solidFill>
                <a:latin typeface="Trebuchet MS"/>
                <a:cs typeface="Trebuchet MS"/>
              </a:rPr>
              <a:t>POLYMERS </a:t>
            </a:r>
            <a:r>
              <a:rPr dirty="0" sz="3200" spc="-45">
                <a:solidFill>
                  <a:srgbClr val="BF0000"/>
                </a:solidFill>
                <a:latin typeface="Trebuchet MS"/>
                <a:cs typeface="Trebuchet MS"/>
              </a:rPr>
              <a:t>IN </a:t>
            </a:r>
            <a:r>
              <a:rPr dirty="0" sz="3200" spc="-70">
                <a:solidFill>
                  <a:srgbClr val="BF0000"/>
                </a:solidFill>
                <a:latin typeface="Trebuchet MS"/>
                <a:cs typeface="Trebuchet MS"/>
              </a:rPr>
              <a:t>MEDICINE </a:t>
            </a:r>
            <a:r>
              <a:rPr dirty="0" sz="3200" spc="-50">
                <a:solidFill>
                  <a:srgbClr val="BF0000"/>
                </a:solidFill>
                <a:latin typeface="Trebuchet MS"/>
                <a:cs typeface="Trebuchet MS"/>
              </a:rPr>
              <a:t>AND</a:t>
            </a:r>
            <a:r>
              <a:rPr dirty="0" sz="3200" spc="-730">
                <a:solidFill>
                  <a:srgbClr val="BF0000"/>
                </a:solidFill>
                <a:latin typeface="Trebuchet MS"/>
                <a:cs typeface="Trebuchet MS"/>
              </a:rPr>
              <a:t> </a:t>
            </a:r>
            <a:r>
              <a:rPr dirty="0" sz="3200" spc="-185">
                <a:solidFill>
                  <a:srgbClr val="BF0000"/>
                </a:solidFill>
                <a:latin typeface="Trebuchet MS"/>
                <a:cs typeface="Trebuchet MS"/>
              </a:rPr>
              <a:t>SURGERY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045" y="1906004"/>
            <a:ext cx="7976870" cy="351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001F60"/>
                </a:solidFill>
                <a:latin typeface="Times New Roman"/>
                <a:cs typeface="Times New Roman"/>
              </a:rPr>
              <a:t>Biomedical </a:t>
            </a:r>
            <a:r>
              <a:rPr dirty="0" sz="3200" b="1">
                <a:solidFill>
                  <a:srgbClr val="001F60"/>
                </a:solidFill>
                <a:latin typeface="Times New Roman"/>
                <a:cs typeface="Times New Roman"/>
              </a:rPr>
              <a:t>Polymers</a:t>
            </a:r>
            <a:r>
              <a:rPr dirty="0" sz="3200" spc="-5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1F60"/>
                </a:solidFill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50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100000"/>
              </a:lnSpc>
              <a:buClr>
                <a:srgbClr val="00AF50"/>
              </a:buClr>
              <a:buFont typeface="Georgia"/>
              <a:buChar char=""/>
              <a:tabLst>
                <a:tab pos="696595" algn="l"/>
                <a:tab pos="697230" algn="l"/>
                <a:tab pos="4730750" algn="l"/>
              </a:tabLst>
            </a:pPr>
            <a:r>
              <a:rPr dirty="0"/>
              <a:t>	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Biomaterials 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are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materials that can be implanted </a:t>
            </a:r>
            <a:r>
              <a:rPr dirty="0" sz="2400" spc="10" b="1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  body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used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diagnostic,	surgical &amp;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therapeutic 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applications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without causing adverse effect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on blood and 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other</a:t>
            </a:r>
            <a:r>
              <a:rPr dirty="0" sz="24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tissues.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"/>
            </a:pPr>
            <a:endParaRPr sz="3500">
              <a:latin typeface="Times New Roman"/>
              <a:cs typeface="Times New Roman"/>
            </a:endParaRPr>
          </a:p>
          <a:p>
            <a:pPr marL="622300" indent="-610235">
              <a:lnSpc>
                <a:spcPct val="100000"/>
              </a:lnSpc>
              <a:buFont typeface="Georgia"/>
              <a:buChar char=""/>
              <a:tabLst>
                <a:tab pos="621665" algn="l"/>
                <a:tab pos="622935" algn="l"/>
              </a:tabLst>
            </a:pPr>
            <a:r>
              <a:rPr dirty="0" sz="2400" b="1">
                <a:latin typeface="Times New Roman"/>
                <a:cs typeface="Times New Roman"/>
              </a:rPr>
              <a:t>They </a:t>
            </a:r>
            <a:r>
              <a:rPr dirty="0" sz="2400" spc="-20" b="1">
                <a:latin typeface="Times New Roman"/>
                <a:cs typeface="Times New Roman"/>
              </a:rPr>
              <a:t>are </a:t>
            </a:r>
            <a:r>
              <a:rPr dirty="0" sz="2400" b="1">
                <a:latin typeface="Times New Roman"/>
                <a:cs typeface="Times New Roman"/>
              </a:rPr>
              <a:t>developed </a:t>
            </a:r>
            <a:r>
              <a:rPr dirty="0" sz="2400" spc="-15" b="1">
                <a:latin typeface="Times New Roman"/>
                <a:cs typeface="Times New Roman"/>
              </a:rPr>
              <a:t>from </a:t>
            </a:r>
            <a:r>
              <a:rPr dirty="0" sz="2400" spc="-5" b="1">
                <a:latin typeface="Times New Roman"/>
                <a:cs typeface="Times New Roman"/>
              </a:rPr>
              <a:t>metal, </a:t>
            </a:r>
            <a:r>
              <a:rPr dirty="0" sz="2400" b="1">
                <a:latin typeface="Times New Roman"/>
                <a:cs typeface="Times New Roman"/>
              </a:rPr>
              <a:t>ceramics &amp;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polymers.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45" y="757007"/>
            <a:ext cx="66255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80">
                <a:solidFill>
                  <a:srgbClr val="FF0000"/>
                </a:solidFill>
                <a:latin typeface="Trebuchet MS"/>
                <a:cs typeface="Trebuchet MS"/>
              </a:rPr>
              <a:t>POLYMERS </a:t>
            </a:r>
            <a:r>
              <a:rPr dirty="0" sz="3200" spc="-45">
                <a:solidFill>
                  <a:srgbClr val="FF0000"/>
                </a:solidFill>
                <a:latin typeface="Trebuchet MS"/>
                <a:cs typeface="Trebuchet MS"/>
              </a:rPr>
              <a:t>IN </a:t>
            </a:r>
            <a:r>
              <a:rPr dirty="0" sz="3200" spc="-70">
                <a:solidFill>
                  <a:srgbClr val="FF0000"/>
                </a:solidFill>
                <a:latin typeface="Trebuchet MS"/>
                <a:cs typeface="Trebuchet MS"/>
              </a:rPr>
              <a:t>MEDICINE </a:t>
            </a:r>
            <a:r>
              <a:rPr dirty="0" sz="3200" spc="-5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dirty="0" sz="3200" spc="-73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3200" spc="-185">
                <a:solidFill>
                  <a:srgbClr val="FF0000"/>
                </a:solidFill>
                <a:latin typeface="Trebuchet MS"/>
                <a:cs typeface="Trebuchet MS"/>
              </a:rPr>
              <a:t>SURGERY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3077" y="1835978"/>
            <a:ext cx="6998334" cy="37566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Characteristics of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Biomedical Polymers</a:t>
            </a:r>
            <a:r>
              <a:rPr dirty="0" sz="2400" spc="-8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621665" marR="116839" indent="-6096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621665" algn="l"/>
                <a:tab pos="622300" algn="l"/>
              </a:tabLst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They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should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have optimum physical &amp;</a:t>
            </a:r>
            <a:r>
              <a:rPr dirty="0" sz="2400" spc="-7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chemical  properties.</a:t>
            </a:r>
            <a:endParaRPr sz="24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621665" algn="l"/>
                <a:tab pos="622300" algn="l"/>
              </a:tabLst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They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should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be fabricated into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any </a:t>
            </a:r>
            <a:r>
              <a:rPr dirty="0" sz="2400" spc="-10" b="1">
                <a:solidFill>
                  <a:srgbClr val="BF0000"/>
                </a:solidFill>
                <a:latin typeface="Times New Roman"/>
                <a:cs typeface="Times New Roman"/>
              </a:rPr>
              <a:t>desire</a:t>
            </a:r>
            <a:r>
              <a:rPr dirty="0" sz="2400" spc="-7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shape.</a:t>
            </a:r>
            <a:endParaRPr sz="2400">
              <a:latin typeface="Times New Roman"/>
              <a:cs typeface="Times New Roman"/>
            </a:endParaRPr>
          </a:p>
          <a:p>
            <a:pPr marL="621665" marR="12700" indent="-6096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621665" algn="l"/>
                <a:tab pos="622300" algn="l"/>
              </a:tabLst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They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should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not </a:t>
            </a:r>
            <a:r>
              <a:rPr dirty="0" sz="2400" spc="-10" b="1">
                <a:solidFill>
                  <a:srgbClr val="BF0000"/>
                </a:solidFill>
                <a:latin typeface="Times New Roman"/>
                <a:cs typeface="Times New Roman"/>
              </a:rPr>
              <a:t>destroy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cellular elements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blood</a:t>
            </a:r>
            <a:r>
              <a:rPr dirty="0" sz="2400" spc="-13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, 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enzymes.</a:t>
            </a:r>
            <a:endParaRPr sz="240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621665" algn="l"/>
                <a:tab pos="622300" algn="l"/>
              </a:tabLst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It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should </a:t>
            </a:r>
            <a:r>
              <a:rPr dirty="0" sz="2400" spc="-10" b="1">
                <a:solidFill>
                  <a:srgbClr val="BF0000"/>
                </a:solidFill>
                <a:latin typeface="Times New Roman"/>
                <a:cs typeface="Times New Roman"/>
              </a:rPr>
              <a:t>be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 bio-compatible.</a:t>
            </a:r>
            <a:endParaRPr sz="2400">
              <a:latin typeface="Times New Roman"/>
              <a:cs typeface="Times New Roman"/>
            </a:endParaRPr>
          </a:p>
          <a:p>
            <a:pPr marL="621665" marR="5080" indent="-6096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621665" algn="l"/>
                <a:tab pos="622300" algn="l"/>
              </a:tabLst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They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can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be easily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sterilized with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no alteration</a:t>
            </a:r>
            <a:r>
              <a:rPr dirty="0" sz="2400" spc="-9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in 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properties.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45" y="757007"/>
            <a:ext cx="66255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80">
                <a:solidFill>
                  <a:srgbClr val="BF0000"/>
                </a:solidFill>
                <a:latin typeface="Trebuchet MS"/>
                <a:cs typeface="Trebuchet MS"/>
              </a:rPr>
              <a:t>POLYMERS </a:t>
            </a:r>
            <a:r>
              <a:rPr dirty="0" sz="3200" spc="-45">
                <a:solidFill>
                  <a:srgbClr val="BF0000"/>
                </a:solidFill>
                <a:latin typeface="Trebuchet MS"/>
                <a:cs typeface="Trebuchet MS"/>
              </a:rPr>
              <a:t>IN </a:t>
            </a:r>
            <a:r>
              <a:rPr dirty="0" sz="3200" spc="-70">
                <a:solidFill>
                  <a:srgbClr val="BF0000"/>
                </a:solidFill>
                <a:latin typeface="Trebuchet MS"/>
                <a:cs typeface="Trebuchet MS"/>
              </a:rPr>
              <a:t>MEDICINE </a:t>
            </a:r>
            <a:r>
              <a:rPr dirty="0" sz="3200" spc="-50">
                <a:solidFill>
                  <a:srgbClr val="BF0000"/>
                </a:solidFill>
                <a:latin typeface="Trebuchet MS"/>
                <a:cs typeface="Trebuchet MS"/>
              </a:rPr>
              <a:t>AND</a:t>
            </a:r>
            <a:r>
              <a:rPr dirty="0" sz="3200" spc="-730">
                <a:solidFill>
                  <a:srgbClr val="BF0000"/>
                </a:solidFill>
                <a:latin typeface="Trebuchet MS"/>
                <a:cs typeface="Trebuchet MS"/>
              </a:rPr>
              <a:t> </a:t>
            </a:r>
            <a:r>
              <a:rPr dirty="0" sz="3200" spc="-185">
                <a:solidFill>
                  <a:srgbClr val="BF0000"/>
                </a:solidFill>
                <a:latin typeface="Trebuchet MS"/>
                <a:cs typeface="Trebuchet MS"/>
              </a:rPr>
              <a:t>SURGERY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077" y="1909112"/>
            <a:ext cx="6663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APPLICATIONS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BIOMEDICAL</a:t>
            </a:r>
            <a:r>
              <a:rPr dirty="0" sz="2400" spc="-2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30" b="1">
                <a:solidFill>
                  <a:srgbClr val="001F60"/>
                </a:solidFill>
                <a:latin typeface="Times New Roman"/>
                <a:cs typeface="Times New Roman"/>
              </a:rPr>
              <a:t>POLYMERS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789" y="2274871"/>
            <a:ext cx="903605" cy="1781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 marR="5080" indent="-76200">
              <a:lnSpc>
                <a:spcPct val="120000"/>
              </a:lnSpc>
              <a:spcBef>
                <a:spcPts val="100"/>
              </a:spcBef>
            </a:pPr>
            <a:r>
              <a:rPr dirty="0" sz="2400" spc="-75" b="1">
                <a:latin typeface="Times New Roman"/>
                <a:cs typeface="Times New Roman"/>
              </a:rPr>
              <a:t>Sr. </a:t>
            </a:r>
            <a:r>
              <a:rPr dirty="0" sz="2400" spc="-5" b="1">
                <a:latin typeface="Times New Roman"/>
                <a:cs typeface="Times New Roman"/>
              </a:rPr>
              <a:t>No. 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1.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2.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3.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6986" y="2274871"/>
            <a:ext cx="2388870" cy="1781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44170">
              <a:lnSpc>
                <a:spcPct val="12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Polymers 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Polyethylene  Polypropylene 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Polyvinyl</a:t>
            </a:r>
            <a:r>
              <a:rPr dirty="0" sz="2400" spc="-7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chloride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6716" y="2274871"/>
            <a:ext cx="3478529" cy="1781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895" marR="870585" indent="-36830">
              <a:lnSpc>
                <a:spcPct val="12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Applications 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Disposable</a:t>
            </a:r>
            <a:r>
              <a:rPr dirty="0" sz="2400" spc="-6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syringes</a:t>
            </a:r>
            <a:endParaRPr sz="2400">
              <a:latin typeface="Times New Roman"/>
              <a:cs typeface="Times New Roman"/>
            </a:endParaRPr>
          </a:p>
          <a:p>
            <a:pPr marL="140335" marR="5080" indent="-27940">
              <a:lnSpc>
                <a:spcPct val="120000"/>
              </a:lnSpc>
            </a:pP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Heart valves, blood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filters 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Disposable</a:t>
            </a:r>
            <a:r>
              <a:rPr dirty="0" sz="2400" spc="-1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syringes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8" name="object 8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286986" y="4103577"/>
            <a:ext cx="46158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1135" algn="l"/>
              </a:tabLst>
            </a:pP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PMMA	Contact</a:t>
            </a:r>
            <a:r>
              <a:rPr dirty="0" sz="2400" spc="-4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lenses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86986" y="4542470"/>
            <a:ext cx="57327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9550" algn="l"/>
              </a:tabLst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Polyalkyl</a:t>
            </a:r>
            <a:r>
              <a:rPr dirty="0" sz="2400" spc="-1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sulphones	Membrane</a:t>
            </a:r>
            <a:r>
              <a:rPr dirty="0" sz="2400" spc="-3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oxygenator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3989" y="4030443"/>
            <a:ext cx="254000" cy="178117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4.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5.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6.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7.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86986" y="4908081"/>
            <a:ext cx="2032635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Silicone</a:t>
            </a:r>
            <a:r>
              <a:rPr dirty="0" sz="2400" spc="-10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rubber  Polyurethane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48467" y="4908081"/>
            <a:ext cx="3420745" cy="903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 marR="5080" indent="-43180">
              <a:lnSpc>
                <a:spcPct val="120000"/>
              </a:lnSpc>
              <a:spcBef>
                <a:spcPts val="100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Heart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valves,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drain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tubes  </a:t>
            </a: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Heart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valves, blood</a:t>
            </a:r>
            <a:r>
              <a:rPr dirty="0" sz="2400" spc="-2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BF0000"/>
                </a:solidFill>
                <a:latin typeface="Times New Roman"/>
                <a:cs typeface="Times New Roman"/>
              </a:rPr>
              <a:t>filters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77" y="953489"/>
            <a:ext cx="47891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35">
                <a:latin typeface="Georgia"/>
                <a:cs typeface="Georgia"/>
              </a:rPr>
              <a:t>GLASS </a:t>
            </a:r>
            <a:r>
              <a:rPr dirty="0" sz="2400" spc="-265">
                <a:latin typeface="Georgia"/>
                <a:cs typeface="Georgia"/>
              </a:rPr>
              <a:t>TRANSITION</a:t>
            </a:r>
            <a:r>
              <a:rPr dirty="0" sz="2400" spc="-180">
                <a:latin typeface="Georgia"/>
                <a:cs typeface="Georgia"/>
              </a:rPr>
              <a:t> </a:t>
            </a:r>
            <a:r>
              <a:rPr dirty="0" sz="2400" spc="-305">
                <a:latin typeface="Georgia"/>
                <a:cs typeface="Georgia"/>
              </a:rPr>
              <a:t>TEMPRATURE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57" y="1897673"/>
            <a:ext cx="8440420" cy="438467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glass transition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takes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place in amorphous i.e. glassy</a:t>
            </a:r>
            <a:r>
              <a:rPr dirty="0" sz="2200" spc="6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polymers.</a:t>
            </a:r>
            <a:endParaRPr sz="22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solidFill>
                  <a:srgbClr val="BF0000"/>
                </a:solidFill>
                <a:latin typeface="Times New Roman"/>
                <a:cs typeface="Times New Roman"/>
              </a:rPr>
              <a:t>Even when the glass in liquid state is cooled, crystallization </a:t>
            </a:r>
            <a:r>
              <a:rPr dirty="0" sz="2200" b="1">
                <a:solidFill>
                  <a:srgbClr val="BF0000"/>
                </a:solidFill>
                <a:latin typeface="Times New Roman"/>
                <a:cs typeface="Times New Roman"/>
              </a:rPr>
              <a:t>does </a:t>
            </a:r>
            <a:r>
              <a:rPr dirty="0" sz="2200" spc="-5" b="1">
                <a:solidFill>
                  <a:srgbClr val="BF0000"/>
                </a:solidFill>
                <a:latin typeface="Times New Roman"/>
                <a:cs typeface="Times New Roman"/>
              </a:rPr>
              <a:t>not  take place. This is because the polymers </a:t>
            </a:r>
            <a:r>
              <a:rPr dirty="0" sz="2200" spc="-15" b="1">
                <a:solidFill>
                  <a:srgbClr val="BF0000"/>
                </a:solidFill>
                <a:latin typeface="Times New Roman"/>
                <a:cs typeface="Times New Roman"/>
              </a:rPr>
              <a:t>are </a:t>
            </a:r>
            <a:r>
              <a:rPr dirty="0" sz="2200" spc="-5" b="1">
                <a:solidFill>
                  <a:srgbClr val="BF0000"/>
                </a:solidFill>
                <a:latin typeface="Times New Roman"/>
                <a:cs typeface="Times New Roman"/>
              </a:rPr>
              <a:t>not able </a:t>
            </a:r>
            <a:r>
              <a:rPr dirty="0" sz="2200" spc="5" b="1">
                <a:solidFill>
                  <a:srgbClr val="BF0000"/>
                </a:solidFill>
                <a:latin typeface="Times New Roman"/>
                <a:cs typeface="Times New Roman"/>
              </a:rPr>
              <a:t>to </a:t>
            </a:r>
            <a:r>
              <a:rPr dirty="0" sz="2200" spc="-10" b="1">
                <a:solidFill>
                  <a:srgbClr val="BF0000"/>
                </a:solidFill>
                <a:latin typeface="Times New Roman"/>
                <a:cs typeface="Times New Roman"/>
              </a:rPr>
              <a:t>rearrange  </a:t>
            </a:r>
            <a:r>
              <a:rPr dirty="0" sz="2200" spc="-5" b="1">
                <a:solidFill>
                  <a:srgbClr val="BF0000"/>
                </a:solidFill>
                <a:latin typeface="Times New Roman"/>
                <a:cs typeface="Times New Roman"/>
              </a:rPr>
              <a:t>themselves into a 3-d,long-range and </a:t>
            </a:r>
            <a:r>
              <a:rPr dirty="0" sz="2200" spc="-10" b="1">
                <a:solidFill>
                  <a:srgbClr val="BF0000"/>
                </a:solidFill>
                <a:latin typeface="Times New Roman"/>
                <a:cs typeface="Times New Roman"/>
              </a:rPr>
              <a:t>properly </a:t>
            </a:r>
            <a:r>
              <a:rPr dirty="0" sz="2200" spc="-15" b="1">
                <a:solidFill>
                  <a:srgbClr val="BF0000"/>
                </a:solidFill>
                <a:latin typeface="Times New Roman"/>
                <a:cs typeface="Times New Roman"/>
              </a:rPr>
              <a:t>ordered</a:t>
            </a:r>
            <a:r>
              <a:rPr dirty="0" sz="2200" spc="9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BF0000"/>
                </a:solidFill>
                <a:latin typeface="Times New Roman"/>
                <a:cs typeface="Times New Roman"/>
              </a:rPr>
              <a:t>structure.</a:t>
            </a:r>
            <a:endParaRPr sz="2200">
              <a:latin typeface="Times New Roman"/>
              <a:cs typeface="Times New Roman"/>
            </a:endParaRPr>
          </a:p>
          <a:p>
            <a:pPr marL="354965" marR="15621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latin typeface="Times New Roman"/>
                <a:cs typeface="Times New Roman"/>
              </a:rPr>
              <a:t>On </a:t>
            </a:r>
            <a:r>
              <a:rPr dirty="0" sz="2200" b="1">
                <a:latin typeface="Times New Roman"/>
                <a:cs typeface="Times New Roman"/>
              </a:rPr>
              <a:t>cooling </a:t>
            </a:r>
            <a:r>
              <a:rPr dirty="0" sz="2200" spc="-5" b="1">
                <a:latin typeface="Times New Roman"/>
                <a:cs typeface="Times New Roman"/>
              </a:rPr>
              <a:t>the glass transition </a:t>
            </a:r>
            <a:r>
              <a:rPr dirty="0" sz="2200" spc="-10" b="1">
                <a:latin typeface="Times New Roman"/>
                <a:cs typeface="Times New Roman"/>
              </a:rPr>
              <a:t>corresponds to </a:t>
            </a:r>
            <a:r>
              <a:rPr dirty="0" sz="2200" spc="-15" b="1">
                <a:latin typeface="Times New Roman"/>
                <a:cs typeface="Times New Roman"/>
              </a:rPr>
              <a:t>increase </a:t>
            </a:r>
            <a:r>
              <a:rPr dirty="0" sz="2200" spc="-5" b="1">
                <a:latin typeface="Times New Roman"/>
                <a:cs typeface="Times New Roman"/>
              </a:rPr>
              <a:t>in </a:t>
            </a:r>
            <a:r>
              <a:rPr dirty="0" sz="2200" spc="-15" b="1">
                <a:latin typeface="Times New Roman"/>
                <a:cs typeface="Times New Roman"/>
              </a:rPr>
              <a:t>viscosity,  </a:t>
            </a:r>
            <a:r>
              <a:rPr dirty="0" sz="2200" spc="-5" b="1">
                <a:latin typeface="Times New Roman"/>
                <a:cs typeface="Times New Roman"/>
              </a:rPr>
              <a:t>a </a:t>
            </a:r>
            <a:r>
              <a:rPr dirty="0" sz="2200" b="1">
                <a:latin typeface="Times New Roman"/>
                <a:cs typeface="Times New Roman"/>
              </a:rPr>
              <a:t>gradual </a:t>
            </a:r>
            <a:r>
              <a:rPr dirty="0" sz="2200" spc="-5" b="1">
                <a:latin typeface="Times New Roman"/>
                <a:cs typeface="Times New Roman"/>
              </a:rPr>
              <a:t>transformation </a:t>
            </a:r>
            <a:r>
              <a:rPr dirty="0" sz="2200" spc="-10" b="1">
                <a:latin typeface="Times New Roman"/>
                <a:cs typeface="Times New Roman"/>
              </a:rPr>
              <a:t>from </a:t>
            </a:r>
            <a:r>
              <a:rPr dirty="0" sz="2200" spc="-5" b="1">
                <a:latin typeface="Times New Roman"/>
                <a:cs typeface="Times New Roman"/>
              </a:rPr>
              <a:t>a liquid </a:t>
            </a:r>
            <a:r>
              <a:rPr dirty="0" sz="2200" spc="-10" b="1">
                <a:latin typeface="Times New Roman"/>
                <a:cs typeface="Times New Roman"/>
              </a:rPr>
              <a:t>to </a:t>
            </a:r>
            <a:r>
              <a:rPr dirty="0" sz="2200" spc="-5" b="1">
                <a:latin typeface="Times New Roman"/>
                <a:cs typeface="Times New Roman"/>
              </a:rPr>
              <a:t>a rubbery material and  finally </a:t>
            </a:r>
            <a:r>
              <a:rPr dirty="0" sz="2200" spc="-10" b="1">
                <a:latin typeface="Times New Roman"/>
                <a:cs typeface="Times New Roman"/>
              </a:rPr>
              <a:t>to </a:t>
            </a:r>
            <a:r>
              <a:rPr dirty="0" sz="2200" spc="-5" b="1">
                <a:latin typeface="Times New Roman"/>
                <a:cs typeface="Times New Roman"/>
              </a:rPr>
              <a:t>a </a:t>
            </a:r>
            <a:r>
              <a:rPr dirty="0" sz="2200" b="1">
                <a:latin typeface="Times New Roman"/>
                <a:cs typeface="Times New Roman"/>
              </a:rPr>
              <a:t>rigid</a:t>
            </a:r>
            <a:r>
              <a:rPr dirty="0" sz="2200" spc="10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solid.</a:t>
            </a:r>
            <a:endParaRPr sz="2200">
              <a:latin typeface="Times New Roman"/>
              <a:cs typeface="Times New Roman"/>
            </a:endParaRPr>
          </a:p>
          <a:p>
            <a:pPr marL="354965" marR="450215" indent="-342900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The temperature </a:t>
            </a:r>
            <a:r>
              <a:rPr dirty="0" sz="2200" spc="-5" b="1">
                <a:latin typeface="Times New Roman"/>
                <a:cs typeface="Times New Roman"/>
              </a:rPr>
              <a:t>at which the polymer experience </a:t>
            </a:r>
            <a:r>
              <a:rPr dirty="0" sz="2200" b="1">
                <a:latin typeface="Times New Roman"/>
                <a:cs typeface="Times New Roman"/>
              </a:rPr>
              <a:t>the </a:t>
            </a:r>
            <a:r>
              <a:rPr dirty="0" sz="2200" spc="-5" b="1">
                <a:latin typeface="Times New Roman"/>
                <a:cs typeface="Times New Roman"/>
              </a:rPr>
              <a:t>transition  </a:t>
            </a:r>
            <a:r>
              <a:rPr dirty="0" sz="2200" spc="-15" b="1">
                <a:latin typeface="Times New Roman"/>
                <a:cs typeface="Times New Roman"/>
              </a:rPr>
              <a:t>from </a:t>
            </a:r>
            <a:r>
              <a:rPr dirty="0" sz="2200" spc="-5" b="1">
                <a:latin typeface="Times New Roman"/>
                <a:cs typeface="Times New Roman"/>
              </a:rPr>
              <a:t>rubbery </a:t>
            </a:r>
            <a:r>
              <a:rPr dirty="0" sz="2200" spc="5" b="1">
                <a:latin typeface="Times New Roman"/>
                <a:cs typeface="Times New Roman"/>
              </a:rPr>
              <a:t>to </a:t>
            </a:r>
            <a:r>
              <a:rPr dirty="0" sz="2200" spc="-5" b="1">
                <a:latin typeface="Times New Roman"/>
                <a:cs typeface="Times New Roman"/>
              </a:rPr>
              <a:t>rigid </a:t>
            </a:r>
            <a:r>
              <a:rPr dirty="0" sz="2200" spc="-10" b="1">
                <a:latin typeface="Times New Roman"/>
                <a:cs typeface="Times New Roman"/>
              </a:rPr>
              <a:t>state </a:t>
            </a:r>
            <a:r>
              <a:rPr dirty="0" sz="2200" spc="-5" b="1">
                <a:latin typeface="Times New Roman"/>
                <a:cs typeface="Times New Roman"/>
              </a:rPr>
              <a:t>is </a:t>
            </a:r>
            <a:r>
              <a:rPr dirty="0" sz="2200" spc="-10" b="1">
                <a:latin typeface="Times New Roman"/>
                <a:cs typeface="Times New Roman"/>
              </a:rPr>
              <a:t>termed </a:t>
            </a:r>
            <a:r>
              <a:rPr dirty="0" sz="2200" spc="5" b="1">
                <a:latin typeface="Times New Roman"/>
                <a:cs typeface="Times New Roman"/>
              </a:rPr>
              <a:t>as </a:t>
            </a:r>
            <a:r>
              <a:rPr dirty="0" sz="2200" spc="-5" b="1">
                <a:latin typeface="Times New Roman"/>
                <a:cs typeface="Times New Roman"/>
              </a:rPr>
              <a:t>the glass transition  </a:t>
            </a:r>
            <a:r>
              <a:rPr dirty="0" sz="2200" spc="-10" b="1">
                <a:latin typeface="Times New Roman"/>
                <a:cs typeface="Times New Roman"/>
              </a:rPr>
              <a:t>temperature</a:t>
            </a:r>
            <a:r>
              <a:rPr dirty="0" sz="2200" spc="5" b="1">
                <a:latin typeface="Times New Roman"/>
                <a:cs typeface="Times New Roman"/>
              </a:rPr>
              <a:t> </a:t>
            </a:r>
            <a:r>
              <a:rPr dirty="0" sz="2200" spc="-5" b="1">
                <a:latin typeface="Times New Roman"/>
                <a:cs typeface="Times New Roman"/>
              </a:rPr>
              <a:t>(Tg).</a:t>
            </a:r>
            <a:endParaRPr sz="2200">
              <a:latin typeface="Times New Roman"/>
              <a:cs typeface="Times New Roman"/>
            </a:endParaRPr>
          </a:p>
          <a:p>
            <a:pPr marL="354965" marR="1011555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latin typeface="Times New Roman"/>
                <a:cs typeface="Times New Roman"/>
              </a:rPr>
              <a:t>When a rigid glass </a:t>
            </a:r>
            <a:r>
              <a:rPr dirty="0" sz="2200" spc="5" b="1">
                <a:latin typeface="Times New Roman"/>
                <a:cs typeface="Times New Roman"/>
              </a:rPr>
              <a:t>at </a:t>
            </a:r>
            <a:r>
              <a:rPr dirty="0" sz="2200" spc="-5" b="1">
                <a:latin typeface="Times New Roman"/>
                <a:cs typeface="Times New Roman"/>
              </a:rPr>
              <a:t>a </a:t>
            </a:r>
            <a:r>
              <a:rPr dirty="0" sz="2200" spc="-10" b="1">
                <a:latin typeface="Times New Roman"/>
                <a:cs typeface="Times New Roman"/>
              </a:rPr>
              <a:t>temperature </a:t>
            </a:r>
            <a:r>
              <a:rPr dirty="0" sz="2200" spc="-5" b="1">
                <a:latin typeface="Times New Roman"/>
                <a:cs typeface="Times New Roman"/>
              </a:rPr>
              <a:t>below </a:t>
            </a:r>
            <a:r>
              <a:rPr dirty="0" sz="2200" spc="-15" b="1">
                <a:latin typeface="Times New Roman"/>
                <a:cs typeface="Times New Roman"/>
              </a:rPr>
              <a:t>Tg </a:t>
            </a:r>
            <a:r>
              <a:rPr dirty="0" sz="2200" spc="-5" b="1">
                <a:latin typeface="Times New Roman"/>
                <a:cs typeface="Times New Roman"/>
              </a:rPr>
              <a:t>is heated, the  sequence of events occur in </a:t>
            </a:r>
            <a:r>
              <a:rPr dirty="0" sz="2200" spc="-15" b="1">
                <a:latin typeface="Times New Roman"/>
                <a:cs typeface="Times New Roman"/>
              </a:rPr>
              <a:t>reverse</a:t>
            </a:r>
            <a:r>
              <a:rPr dirty="0" sz="2200" b="1">
                <a:latin typeface="Times New Roman"/>
                <a:cs typeface="Times New Roman"/>
              </a:rPr>
              <a:t> </a:t>
            </a:r>
            <a:r>
              <a:rPr dirty="0" sz="2200" spc="-40" b="1">
                <a:latin typeface="Times New Roman"/>
                <a:cs typeface="Times New Roman"/>
              </a:rPr>
              <a:t>order.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3779" y="6880117"/>
            <a:ext cx="224154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4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66344" y="1152144"/>
            <a:ext cx="9135110" cy="6163310"/>
            <a:chOff x="466344" y="1152144"/>
            <a:chExt cx="9135110" cy="6163310"/>
          </a:xfrm>
        </p:grpSpPr>
        <p:sp>
          <p:nvSpPr>
            <p:cNvPr id="4" name="object 4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66344" y="1152144"/>
              <a:ext cx="8884919" cy="59756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45451" y="6039611"/>
              <a:ext cx="2555748" cy="12755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15719" y="6971693"/>
            <a:ext cx="391985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Mrs. Rupal Agme-Jadhav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77" y="953489"/>
            <a:ext cx="54495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60">
                <a:latin typeface="Georgia"/>
                <a:cs typeface="Georgia"/>
              </a:rPr>
              <a:t>POLYMERS </a:t>
            </a:r>
            <a:r>
              <a:rPr dirty="0" sz="2400" spc="-310">
                <a:latin typeface="Georgia"/>
                <a:cs typeface="Georgia"/>
              </a:rPr>
              <a:t>IN </a:t>
            </a:r>
            <a:r>
              <a:rPr dirty="0" sz="2400" spc="-330">
                <a:latin typeface="Georgia"/>
                <a:cs typeface="Georgia"/>
              </a:rPr>
              <a:t>MEDICINE </a:t>
            </a:r>
            <a:r>
              <a:rPr dirty="0" sz="2400" spc="-320">
                <a:latin typeface="Georgia"/>
                <a:cs typeface="Georgia"/>
              </a:rPr>
              <a:t>AND</a:t>
            </a:r>
            <a:r>
              <a:rPr dirty="0" sz="2400" spc="-254">
                <a:latin typeface="Georgia"/>
                <a:cs typeface="Georgia"/>
              </a:rPr>
              <a:t> </a:t>
            </a:r>
            <a:r>
              <a:rPr dirty="0" sz="2400" spc="-370">
                <a:latin typeface="Georgia"/>
                <a:cs typeface="Georgia"/>
              </a:rPr>
              <a:t>SURGERY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379" y="1968457"/>
            <a:ext cx="7754620" cy="17265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1800">
                <a:latin typeface="Arial"/>
                <a:cs typeface="Arial"/>
              </a:rPr>
              <a:t>These </a:t>
            </a:r>
            <a:r>
              <a:rPr dirty="0" sz="1800" spc="-10">
                <a:latin typeface="Arial"/>
                <a:cs typeface="Arial"/>
              </a:rPr>
              <a:t>are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materials that </a:t>
            </a:r>
            <a:r>
              <a:rPr dirty="0" sz="1800">
                <a:latin typeface="Arial"/>
                <a:cs typeface="Arial"/>
              </a:rPr>
              <a:t>can </a:t>
            </a:r>
            <a:r>
              <a:rPr dirty="0" sz="1800" spc="-10">
                <a:latin typeface="Arial"/>
                <a:cs typeface="Arial"/>
              </a:rPr>
              <a:t>be </a:t>
            </a:r>
            <a:r>
              <a:rPr dirty="0" sz="1800" spc="-5">
                <a:latin typeface="Arial"/>
                <a:cs typeface="Arial"/>
              </a:rPr>
              <a:t>implanted in the </a:t>
            </a:r>
            <a:r>
              <a:rPr dirty="0" sz="1800" spc="-10">
                <a:latin typeface="Arial"/>
                <a:cs typeface="Arial"/>
              </a:rPr>
              <a:t>body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10">
                <a:latin typeface="Arial"/>
                <a:cs typeface="Arial"/>
              </a:rPr>
              <a:t>provide  </a:t>
            </a:r>
            <a:r>
              <a:rPr dirty="0" sz="1800" spc="-5">
                <a:latin typeface="Arial"/>
                <a:cs typeface="Arial"/>
              </a:rPr>
              <a:t>special prosthetic functions </a:t>
            </a:r>
            <a:r>
              <a:rPr dirty="0" sz="1800">
                <a:latin typeface="Arial"/>
                <a:cs typeface="Arial"/>
              </a:rPr>
              <a:t>or </a:t>
            </a:r>
            <a:r>
              <a:rPr dirty="0" sz="1800" spc="-5">
                <a:latin typeface="Arial"/>
                <a:cs typeface="Arial"/>
              </a:rPr>
              <a:t>used in diagnostic surgical and </a:t>
            </a:r>
            <a:r>
              <a:rPr dirty="0" sz="1800" spc="-10">
                <a:latin typeface="Arial"/>
                <a:cs typeface="Arial"/>
              </a:rPr>
              <a:t>therapeutic  </a:t>
            </a:r>
            <a:r>
              <a:rPr dirty="0" sz="1800" spc="-5">
                <a:latin typeface="Arial"/>
                <a:cs typeface="Arial"/>
              </a:rPr>
              <a:t>applications, </a:t>
            </a:r>
            <a:r>
              <a:rPr dirty="0" sz="1800" spc="-10">
                <a:latin typeface="Arial"/>
                <a:cs typeface="Arial"/>
              </a:rPr>
              <a:t>without </a:t>
            </a:r>
            <a:r>
              <a:rPr dirty="0" sz="1800" spc="-5">
                <a:latin typeface="Arial"/>
                <a:cs typeface="Arial"/>
              </a:rPr>
              <a:t>causing adverse </a:t>
            </a:r>
            <a:r>
              <a:rPr dirty="0" sz="1800" spc="-15">
                <a:latin typeface="Arial"/>
                <a:cs typeface="Arial"/>
              </a:rPr>
              <a:t>effect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10">
                <a:latin typeface="Arial"/>
                <a:cs typeface="Arial"/>
              </a:rPr>
              <a:t>blood and </a:t>
            </a:r>
            <a:r>
              <a:rPr dirty="0" sz="1800" spc="-5">
                <a:latin typeface="Arial"/>
                <a:cs typeface="Arial"/>
              </a:rPr>
              <a:t>other</a:t>
            </a:r>
            <a:r>
              <a:rPr dirty="0" sz="1800" spc="17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tissues.</a:t>
            </a:r>
            <a:endParaRPr sz="1800">
              <a:latin typeface="Arial"/>
              <a:cs typeface="Arial"/>
            </a:endParaRPr>
          </a:p>
          <a:p>
            <a:pPr marL="354965" marR="142240" indent="-342900">
              <a:lnSpc>
                <a:spcPct val="100000"/>
              </a:lnSpc>
              <a:spcBef>
                <a:spcPts val="43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1800" spc="-5">
                <a:latin typeface="Arial"/>
                <a:cs typeface="Arial"/>
              </a:rPr>
              <a:t>Bio-materials </a:t>
            </a:r>
            <a:r>
              <a:rPr dirty="0" sz="1800" spc="-10">
                <a:latin typeface="Arial"/>
                <a:cs typeface="Arial"/>
              </a:rPr>
              <a:t>are developed </a:t>
            </a:r>
            <a:r>
              <a:rPr dirty="0" sz="1800" spc="-5">
                <a:latin typeface="Arial"/>
                <a:cs typeface="Arial"/>
              </a:rPr>
              <a:t>from metals, ceramic and </a:t>
            </a:r>
            <a:r>
              <a:rPr dirty="0" sz="1800" spc="-10">
                <a:latin typeface="Arial"/>
                <a:cs typeface="Arial"/>
              </a:rPr>
              <a:t>polymers </a:t>
            </a:r>
            <a:r>
              <a:rPr dirty="0" sz="1800" spc="-5">
                <a:latin typeface="Arial"/>
                <a:cs typeface="Arial"/>
              </a:rPr>
              <a:t>.Use </a:t>
            </a:r>
            <a:r>
              <a:rPr dirty="0" sz="1800" spc="-10">
                <a:latin typeface="Arial"/>
                <a:cs typeface="Arial"/>
              </a:rPr>
              <a:t>of  </a:t>
            </a:r>
            <a:r>
              <a:rPr dirty="0" sz="1800" spc="-5">
                <a:latin typeface="Arial"/>
                <a:cs typeface="Arial"/>
              </a:rPr>
              <a:t>bio-materials made from </a:t>
            </a:r>
            <a:r>
              <a:rPr dirty="0" sz="1800" spc="-10">
                <a:latin typeface="Arial"/>
                <a:cs typeface="Arial"/>
              </a:rPr>
              <a:t>polymers </a:t>
            </a:r>
            <a:r>
              <a:rPr dirty="0" sz="1800" spc="-5">
                <a:latin typeface="Arial"/>
                <a:cs typeface="Arial"/>
              </a:rPr>
              <a:t>is increasing day </a:t>
            </a:r>
            <a:r>
              <a:rPr dirty="0" sz="1800" spc="-10">
                <a:latin typeface="Arial"/>
                <a:cs typeface="Arial"/>
              </a:rPr>
              <a:t>by </a:t>
            </a:r>
            <a:r>
              <a:rPr dirty="0" sz="1800" spc="-5">
                <a:latin typeface="Arial"/>
                <a:cs typeface="Arial"/>
              </a:rPr>
              <a:t>day </a:t>
            </a:r>
            <a:r>
              <a:rPr dirty="0" sz="1800" spc="-15">
                <a:latin typeface="Arial"/>
                <a:cs typeface="Arial"/>
              </a:rPr>
              <a:t>with </a:t>
            </a:r>
            <a:r>
              <a:rPr dirty="0" sz="1800" spc="-5">
                <a:latin typeface="Arial"/>
                <a:cs typeface="Arial"/>
              </a:rPr>
              <a:t>the  </a:t>
            </a:r>
            <a:r>
              <a:rPr dirty="0" sz="1800" spc="-10">
                <a:latin typeface="Arial"/>
                <a:cs typeface="Arial"/>
              </a:rPr>
              <a:t>expansion of polymer</a:t>
            </a:r>
            <a:r>
              <a:rPr dirty="0" sz="1800" spc="7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industry.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62015" y="3816096"/>
            <a:ext cx="2879090" cy="2344420"/>
            <a:chOff x="5462015" y="3816096"/>
            <a:chExt cx="2879090" cy="2344420"/>
          </a:xfrm>
        </p:grpSpPr>
        <p:sp>
          <p:nvSpPr>
            <p:cNvPr id="5" name="object 5"/>
            <p:cNvSpPr/>
            <p:nvPr/>
          </p:nvSpPr>
          <p:spPr>
            <a:xfrm>
              <a:off x="5462015" y="3816096"/>
              <a:ext cx="2878835" cy="701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2015" y="3886200"/>
              <a:ext cx="2878835" cy="22738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03779" y="6871236"/>
            <a:ext cx="22415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4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89176" y="3957828"/>
            <a:ext cx="2808731" cy="21732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64586" y="6842166"/>
            <a:ext cx="391985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Mrs. Rupal Agme-Jadhav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77" y="953489"/>
            <a:ext cx="64998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0">
                <a:latin typeface="Georgia"/>
                <a:cs typeface="Georgia"/>
              </a:rPr>
              <a:t>CHARACTERISTICS </a:t>
            </a:r>
            <a:r>
              <a:rPr dirty="0" sz="2400" spc="-290">
                <a:latin typeface="Georgia"/>
                <a:cs typeface="Georgia"/>
              </a:rPr>
              <a:t>OF </a:t>
            </a:r>
            <a:r>
              <a:rPr dirty="0" sz="2400" spc="-285">
                <a:latin typeface="Georgia"/>
                <a:cs typeface="Georgia"/>
              </a:rPr>
              <a:t>BIO-MEDICAL</a:t>
            </a:r>
            <a:r>
              <a:rPr dirty="0" sz="2400" spc="-290">
                <a:latin typeface="Georgia"/>
                <a:cs typeface="Georgia"/>
              </a:rPr>
              <a:t> </a:t>
            </a:r>
            <a:r>
              <a:rPr dirty="0" sz="2400" spc="-365">
                <a:latin typeface="Georgia"/>
                <a:cs typeface="Georgia"/>
              </a:rPr>
              <a:t>POLYMER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421" y="1906623"/>
            <a:ext cx="7593330" cy="343916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000">
                <a:latin typeface="Arial"/>
                <a:cs typeface="Arial"/>
              </a:rPr>
              <a:t>A bio-medical </a:t>
            </a:r>
            <a:r>
              <a:rPr dirty="0" sz="2000" spc="-5">
                <a:latin typeface="Arial"/>
                <a:cs typeface="Arial"/>
              </a:rPr>
              <a:t>polymer </a:t>
            </a:r>
            <a:r>
              <a:rPr dirty="0" sz="2000">
                <a:latin typeface="Arial"/>
                <a:cs typeface="Arial"/>
              </a:rPr>
              <a:t>should posses </a:t>
            </a:r>
            <a:r>
              <a:rPr dirty="0" sz="2000" spc="-5">
                <a:latin typeface="Arial"/>
                <a:cs typeface="Arial"/>
              </a:rPr>
              <a:t>the </a:t>
            </a:r>
            <a:r>
              <a:rPr dirty="0" sz="2000">
                <a:latin typeface="Arial"/>
                <a:cs typeface="Arial"/>
              </a:rPr>
              <a:t>following</a:t>
            </a:r>
            <a:r>
              <a:rPr dirty="0" sz="2000" spc="-2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characteristics:</a:t>
            </a:r>
            <a:endParaRPr sz="2000">
              <a:latin typeface="Arial"/>
              <a:cs typeface="Arial"/>
            </a:endParaRPr>
          </a:p>
          <a:p>
            <a:pPr marL="356235" indent="-34417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870" algn="l"/>
              </a:tabLst>
            </a:pPr>
            <a:r>
              <a:rPr dirty="0" sz="2000" spc="-5">
                <a:latin typeface="Arial"/>
                <a:cs typeface="Arial"/>
              </a:rPr>
              <a:t>Purity and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reproducibility</a:t>
            </a:r>
            <a:endParaRPr sz="2000">
              <a:latin typeface="Arial"/>
              <a:cs typeface="Arial"/>
            </a:endParaRPr>
          </a:p>
          <a:p>
            <a:pPr marL="356235" indent="-344170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870" algn="l"/>
              </a:tabLst>
            </a:pPr>
            <a:r>
              <a:rPr dirty="0" sz="2000" spc="-5">
                <a:latin typeface="Arial"/>
                <a:cs typeface="Arial"/>
              </a:rPr>
              <a:t>Optimum </a:t>
            </a:r>
            <a:r>
              <a:rPr dirty="0" sz="2000">
                <a:latin typeface="Arial"/>
                <a:cs typeface="Arial"/>
              </a:rPr>
              <a:t>physical </a:t>
            </a:r>
            <a:r>
              <a:rPr dirty="0" sz="2000" spc="5">
                <a:latin typeface="Arial"/>
                <a:cs typeface="Arial"/>
              </a:rPr>
              <a:t>and </a:t>
            </a:r>
            <a:r>
              <a:rPr dirty="0" sz="2000">
                <a:latin typeface="Arial"/>
                <a:cs typeface="Arial"/>
              </a:rPr>
              <a:t>chemical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properties</a:t>
            </a:r>
            <a:endParaRPr sz="2000">
              <a:latin typeface="Arial"/>
              <a:cs typeface="Arial"/>
            </a:endParaRPr>
          </a:p>
          <a:p>
            <a:pPr marL="354965" marR="24828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870" algn="l"/>
              </a:tabLst>
            </a:pPr>
            <a:r>
              <a:rPr dirty="0" sz="2000" spc="-5">
                <a:latin typeface="Arial"/>
                <a:cs typeface="Arial"/>
              </a:rPr>
              <a:t>Should </a:t>
            </a:r>
            <a:r>
              <a:rPr dirty="0" sz="2000">
                <a:latin typeface="Arial"/>
                <a:cs typeface="Arial"/>
              </a:rPr>
              <a:t>be fabricated </a:t>
            </a:r>
            <a:r>
              <a:rPr dirty="0" sz="2000" spc="-5">
                <a:latin typeface="Arial"/>
                <a:cs typeface="Arial"/>
              </a:rPr>
              <a:t>into </a:t>
            </a:r>
            <a:r>
              <a:rPr dirty="0" sz="2000">
                <a:latin typeface="Arial"/>
                <a:cs typeface="Arial"/>
              </a:rPr>
              <a:t>desired shape or form </a:t>
            </a:r>
            <a:r>
              <a:rPr dirty="0" sz="2000" spc="-5">
                <a:latin typeface="Arial"/>
                <a:cs typeface="Arial"/>
              </a:rPr>
              <a:t>,without</a:t>
            </a:r>
            <a:r>
              <a:rPr dirty="0" sz="2000" spc="-2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being  degraded </a:t>
            </a:r>
            <a:r>
              <a:rPr dirty="0" sz="2000" spc="-5">
                <a:latin typeface="Arial"/>
                <a:cs typeface="Arial"/>
              </a:rPr>
              <a:t>and </a:t>
            </a:r>
            <a:r>
              <a:rPr dirty="0" sz="2000">
                <a:latin typeface="Arial"/>
                <a:cs typeface="Arial"/>
              </a:rPr>
              <a:t>adversely </a:t>
            </a:r>
            <a:r>
              <a:rPr dirty="0" sz="2000" spc="-10">
                <a:latin typeface="Arial"/>
                <a:cs typeface="Arial"/>
              </a:rPr>
              <a:t>affected </a:t>
            </a:r>
            <a:r>
              <a:rPr dirty="0" sz="2000" spc="-5">
                <a:latin typeface="Arial"/>
                <a:cs typeface="Arial"/>
              </a:rPr>
              <a:t>in </a:t>
            </a:r>
            <a:r>
              <a:rPr dirty="0" sz="2000" spc="-10">
                <a:latin typeface="Arial"/>
                <a:cs typeface="Arial"/>
              </a:rPr>
              <a:t>its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properties.</a:t>
            </a:r>
            <a:endParaRPr sz="20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Arial"/>
                <a:cs typeface="Arial"/>
              </a:rPr>
              <a:t>Easy </a:t>
            </a:r>
            <a:r>
              <a:rPr dirty="0" sz="2000">
                <a:latin typeface="Arial"/>
                <a:cs typeface="Arial"/>
              </a:rPr>
              <a:t>sterilization </a:t>
            </a:r>
            <a:r>
              <a:rPr dirty="0" sz="2000" spc="-5">
                <a:latin typeface="Arial"/>
                <a:cs typeface="Arial"/>
              </a:rPr>
              <a:t>with </a:t>
            </a:r>
            <a:r>
              <a:rPr dirty="0" sz="2000">
                <a:latin typeface="Arial"/>
                <a:cs typeface="Arial"/>
              </a:rPr>
              <a:t>no </a:t>
            </a:r>
            <a:r>
              <a:rPr dirty="0" sz="2000" spc="-5">
                <a:latin typeface="Arial"/>
                <a:cs typeface="Arial"/>
              </a:rPr>
              <a:t>alteration in its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properties.</a:t>
            </a:r>
            <a:endParaRPr sz="2000">
              <a:latin typeface="Arial"/>
              <a:cs typeface="Arial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870" algn="l"/>
              </a:tabLst>
            </a:pPr>
            <a:r>
              <a:rPr dirty="0" sz="2000" spc="-5">
                <a:latin typeface="Arial"/>
                <a:cs typeface="Arial"/>
              </a:rPr>
              <a:t>Biopolymers that </a:t>
            </a:r>
            <a:r>
              <a:rPr dirty="0" sz="2000">
                <a:latin typeface="Arial"/>
                <a:cs typeface="Arial"/>
              </a:rPr>
              <a:t>are to come </a:t>
            </a:r>
            <a:r>
              <a:rPr dirty="0" sz="2000" spc="5">
                <a:latin typeface="Arial"/>
                <a:cs typeface="Arial"/>
              </a:rPr>
              <a:t>in </a:t>
            </a:r>
            <a:r>
              <a:rPr dirty="0" sz="2000">
                <a:latin typeface="Arial"/>
                <a:cs typeface="Arial"/>
              </a:rPr>
              <a:t>contact </a:t>
            </a:r>
            <a:r>
              <a:rPr dirty="0" sz="2000" spc="-5">
                <a:latin typeface="Arial"/>
                <a:cs typeface="Arial"/>
              </a:rPr>
              <a:t>with </a:t>
            </a:r>
            <a:r>
              <a:rPr dirty="0" sz="2000">
                <a:latin typeface="Arial"/>
                <a:cs typeface="Arial"/>
              </a:rPr>
              <a:t>blood </a:t>
            </a:r>
            <a:r>
              <a:rPr dirty="0" sz="2000" spc="5">
                <a:latin typeface="Arial"/>
                <a:cs typeface="Arial"/>
              </a:rPr>
              <a:t>and </a:t>
            </a:r>
            <a:r>
              <a:rPr dirty="0" sz="2000">
                <a:latin typeface="Arial"/>
                <a:cs typeface="Arial"/>
              </a:rPr>
              <a:t>tissue of  </a:t>
            </a:r>
            <a:r>
              <a:rPr dirty="0" sz="2000" spc="-5">
                <a:latin typeface="Arial"/>
                <a:cs typeface="Arial"/>
              </a:rPr>
              <a:t>the </a:t>
            </a:r>
            <a:r>
              <a:rPr dirty="0" sz="2000">
                <a:latin typeface="Arial"/>
                <a:cs typeface="Arial"/>
              </a:rPr>
              <a:t>body must </a:t>
            </a:r>
            <a:r>
              <a:rPr dirty="0" sz="2000" spc="-5">
                <a:latin typeface="Arial"/>
                <a:cs typeface="Arial"/>
              </a:rPr>
              <a:t>not destroy </a:t>
            </a:r>
            <a:r>
              <a:rPr dirty="0" sz="2000">
                <a:latin typeface="Arial"/>
                <a:cs typeface="Arial"/>
              </a:rPr>
              <a:t>cellular </a:t>
            </a:r>
            <a:r>
              <a:rPr dirty="0" sz="2000" spc="-5">
                <a:latin typeface="Arial"/>
                <a:cs typeface="Arial"/>
              </a:rPr>
              <a:t>elements </a:t>
            </a:r>
            <a:r>
              <a:rPr dirty="0" sz="2000">
                <a:latin typeface="Arial"/>
                <a:cs typeface="Arial"/>
              </a:rPr>
              <a:t>of  </a:t>
            </a:r>
            <a:r>
              <a:rPr dirty="0" sz="2000" spc="-5">
                <a:latin typeface="Arial"/>
                <a:cs typeface="Arial"/>
              </a:rPr>
              <a:t>blood,enzymes,protiens,produce toxic </a:t>
            </a:r>
            <a:r>
              <a:rPr dirty="0" sz="2000" spc="5">
                <a:latin typeface="Arial"/>
                <a:cs typeface="Arial"/>
              </a:rPr>
              <a:t>and </a:t>
            </a:r>
            <a:r>
              <a:rPr dirty="0" sz="2000">
                <a:latin typeface="Arial"/>
                <a:cs typeface="Arial"/>
              </a:rPr>
              <a:t>allergic reactions </a:t>
            </a:r>
            <a:r>
              <a:rPr dirty="0" sz="2000" spc="-5">
                <a:latin typeface="Arial"/>
                <a:cs typeface="Arial"/>
              </a:rPr>
              <a:t>and  deplete </a:t>
            </a:r>
            <a:r>
              <a:rPr dirty="0" sz="2000">
                <a:latin typeface="Arial"/>
                <a:cs typeface="Arial"/>
              </a:rPr>
              <a:t>electrolytes present </a:t>
            </a:r>
            <a:r>
              <a:rPr dirty="0" sz="2000" spc="-5">
                <a:latin typeface="Arial"/>
                <a:cs typeface="Arial"/>
              </a:rPr>
              <a:t>in the</a:t>
            </a:r>
            <a:r>
              <a:rPr dirty="0" sz="2000" spc="-135">
                <a:latin typeface="Arial"/>
                <a:cs typeface="Arial"/>
              </a:rPr>
              <a:t> </a:t>
            </a:r>
            <a:r>
              <a:rPr dirty="0" sz="2000" spc="-30">
                <a:latin typeface="Arial"/>
                <a:cs typeface="Arial"/>
              </a:rPr>
              <a:t>body.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03779" y="6871236"/>
            <a:ext cx="22415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4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586" y="6842166"/>
            <a:ext cx="39547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Prof. Rupal Agme-Jadhav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3429000"/>
            <a:chOff x="457200" y="457200"/>
            <a:chExt cx="9144000" cy="3429000"/>
          </a:xfrm>
        </p:grpSpPr>
        <p:sp>
          <p:nvSpPr>
            <p:cNvPr id="3" name="object 3"/>
            <p:cNvSpPr/>
            <p:nvPr/>
          </p:nvSpPr>
          <p:spPr>
            <a:xfrm>
              <a:off x="457200" y="457200"/>
              <a:ext cx="9144000" cy="3429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53440" y="1577339"/>
              <a:ext cx="8353425" cy="12700"/>
            </a:xfrm>
            <a:custGeom>
              <a:avLst/>
              <a:gdLst/>
              <a:ahLst/>
              <a:cxnLst/>
              <a:rect l="l" t="t" r="r" b="b"/>
              <a:pathLst>
                <a:path w="8353425" h="12700">
                  <a:moveTo>
                    <a:pt x="8353044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8353044" y="0"/>
                  </a:lnTo>
                  <a:lnTo>
                    <a:pt x="8353044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3077" y="999179"/>
            <a:ext cx="58813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90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400" spc="-254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2400" spc="245">
                <a:solidFill>
                  <a:srgbClr val="FFFFFF"/>
                </a:solidFill>
                <a:latin typeface="Georgia"/>
                <a:cs typeface="Georgia"/>
              </a:rPr>
              <a:t>1 </a:t>
            </a:r>
            <a:r>
              <a:rPr dirty="0" sz="2400" spc="-190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400" spc="-170">
                <a:solidFill>
                  <a:srgbClr val="FFFFFF"/>
                </a:solidFill>
                <a:latin typeface="Georgia"/>
                <a:cs typeface="Georgia"/>
              </a:rPr>
              <a:t>name:Applied</a:t>
            </a:r>
            <a:r>
              <a:rPr dirty="0" sz="2400" spc="-4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-125">
                <a:solidFill>
                  <a:srgbClr val="FFFFFF"/>
                </a:solidFill>
                <a:latin typeface="Georgia"/>
                <a:cs typeface="Georgia"/>
              </a:rPr>
              <a:t>Chemistry-1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" y="3886200"/>
            <a:ext cx="9144000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82367" y="2509645"/>
            <a:ext cx="732790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760"/>
              </a:lnSpc>
              <a:spcBef>
                <a:spcPts val="100"/>
              </a:spcBef>
            </a:pP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Lecture </a:t>
            </a:r>
            <a:r>
              <a:rPr dirty="0" sz="4800" spc="-505" b="1">
                <a:solidFill>
                  <a:srgbClr val="FFFFFF"/>
                </a:solidFill>
                <a:latin typeface="Georgia"/>
                <a:cs typeface="Georgia"/>
              </a:rPr>
              <a:t>No:</a:t>
            </a:r>
            <a:r>
              <a:rPr dirty="0" sz="4800" spc="-2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270" b="1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4800">
              <a:latin typeface="Georgia"/>
              <a:cs typeface="Georgia"/>
            </a:endParaRPr>
          </a:p>
          <a:p>
            <a:pPr marL="12700" marR="5080">
              <a:lnSpc>
                <a:spcPct val="100000"/>
              </a:lnSpc>
            </a:pPr>
            <a:r>
              <a:rPr dirty="0" sz="4800" spc="-350" b="1">
                <a:solidFill>
                  <a:srgbClr val="FFFFFF"/>
                </a:solidFill>
                <a:latin typeface="Georgia"/>
                <a:cs typeface="Georgia"/>
              </a:rPr>
              <a:t>Conducting </a:t>
            </a:r>
            <a:r>
              <a:rPr dirty="0" sz="4800" spc="-360" b="1">
                <a:solidFill>
                  <a:srgbClr val="FFFFFF"/>
                </a:solidFill>
                <a:latin typeface="Georgia"/>
                <a:cs typeface="Georgia"/>
              </a:rPr>
              <a:t>and </a:t>
            </a:r>
            <a:r>
              <a:rPr dirty="0" sz="4800" spc="-300" b="1">
                <a:solidFill>
                  <a:srgbClr val="FFFFFF"/>
                </a:solidFill>
                <a:latin typeface="Georgia"/>
                <a:cs typeface="Georgia"/>
              </a:rPr>
              <a:t>Industrial  </a:t>
            </a:r>
            <a:r>
              <a:rPr dirty="0" sz="4800" spc="-335" b="1">
                <a:solidFill>
                  <a:srgbClr val="FFFFFF"/>
                </a:solidFill>
                <a:latin typeface="Georgia"/>
                <a:cs typeface="Georgia"/>
              </a:rPr>
              <a:t>Polymers</a:t>
            </a:r>
            <a:endParaRPr sz="4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226" y="854370"/>
            <a:ext cx="42271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0000"/>
                </a:solidFill>
              </a:rPr>
              <a:t>Conducting</a:t>
            </a:r>
            <a:r>
              <a:rPr dirty="0" sz="3600" spc="-65">
                <a:solidFill>
                  <a:srgbClr val="FF0000"/>
                </a:solidFill>
              </a:rPr>
              <a:t> </a:t>
            </a:r>
            <a:r>
              <a:rPr dirty="0" sz="3600" spc="-5">
                <a:solidFill>
                  <a:srgbClr val="FF0000"/>
                </a:solidFill>
              </a:rPr>
              <a:t>polymers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75503" y="1564621"/>
            <a:ext cx="7785100" cy="486029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dirty="0" sz="2600" spc="-5" b="1">
                <a:latin typeface="Times New Roman"/>
                <a:cs typeface="Times New Roman"/>
              </a:rPr>
              <a:t>Most </a:t>
            </a:r>
            <a:r>
              <a:rPr dirty="0" sz="2600" b="1">
                <a:latin typeface="Times New Roman"/>
                <a:cs typeface="Times New Roman"/>
              </a:rPr>
              <a:t>of the polymeric materials </a:t>
            </a:r>
            <a:r>
              <a:rPr dirty="0" sz="2600" spc="-15" b="1">
                <a:latin typeface="Times New Roman"/>
                <a:cs typeface="Times New Roman"/>
              </a:rPr>
              <a:t>are </a:t>
            </a:r>
            <a:r>
              <a:rPr dirty="0" sz="2600" spc="10" b="1">
                <a:latin typeface="Times New Roman"/>
                <a:cs typeface="Times New Roman"/>
              </a:rPr>
              <a:t>poor </a:t>
            </a:r>
            <a:r>
              <a:rPr dirty="0" sz="2600" b="1">
                <a:latin typeface="Times New Roman"/>
                <a:cs typeface="Times New Roman"/>
              </a:rPr>
              <a:t>conductors</a:t>
            </a:r>
            <a:r>
              <a:rPr dirty="0" sz="2600" spc="-254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of  </a:t>
            </a:r>
            <a:r>
              <a:rPr dirty="0" sz="2600" spc="-5" b="1">
                <a:latin typeface="Times New Roman"/>
                <a:cs typeface="Times New Roman"/>
              </a:rPr>
              <a:t>electricity </a:t>
            </a:r>
            <a:r>
              <a:rPr dirty="0" sz="2600" spc="5" b="1">
                <a:latin typeface="Times New Roman"/>
                <a:cs typeface="Times New Roman"/>
              </a:rPr>
              <a:t>due </a:t>
            </a:r>
            <a:r>
              <a:rPr dirty="0" sz="2600" spc="-5" b="1">
                <a:latin typeface="Times New Roman"/>
                <a:cs typeface="Times New Roman"/>
              </a:rPr>
              <a:t>to </a:t>
            </a:r>
            <a:r>
              <a:rPr dirty="0" sz="2600" b="1">
                <a:latin typeface="Times New Roman"/>
                <a:cs typeface="Times New Roman"/>
              </a:rPr>
              <a:t>unavailability </a:t>
            </a:r>
            <a:r>
              <a:rPr dirty="0" sz="2600" spc="10" b="1">
                <a:latin typeface="Times New Roman"/>
                <a:cs typeface="Times New Roman"/>
              </a:rPr>
              <a:t>of </a:t>
            </a:r>
            <a:r>
              <a:rPr dirty="0" sz="2600" spc="5" b="1">
                <a:latin typeface="Times New Roman"/>
                <a:cs typeface="Times New Roman"/>
              </a:rPr>
              <a:t>large </a:t>
            </a:r>
            <a:r>
              <a:rPr dirty="0" sz="2600" b="1">
                <a:latin typeface="Times New Roman"/>
                <a:cs typeface="Times New Roman"/>
              </a:rPr>
              <a:t>number of </a:t>
            </a:r>
            <a:r>
              <a:rPr dirty="0" sz="2600" spc="-15" b="1">
                <a:latin typeface="Times New Roman"/>
                <a:cs typeface="Times New Roman"/>
              </a:rPr>
              <a:t>free  </a:t>
            </a:r>
            <a:r>
              <a:rPr dirty="0" sz="2600" spc="-5" b="1">
                <a:latin typeface="Times New Roman"/>
                <a:cs typeface="Times New Roman"/>
              </a:rPr>
              <a:t>electrons. </a:t>
            </a:r>
            <a:r>
              <a:rPr dirty="0" sz="2600" spc="5" b="1">
                <a:latin typeface="Times New Roman"/>
                <a:cs typeface="Times New Roman"/>
              </a:rPr>
              <a:t>The </a:t>
            </a:r>
            <a:r>
              <a:rPr dirty="0" sz="2600" b="1">
                <a:latin typeface="Times New Roman"/>
                <a:cs typeface="Times New Roman"/>
              </a:rPr>
              <a:t>basic </a:t>
            </a:r>
            <a:r>
              <a:rPr dirty="0" sz="2600" spc="-10" b="1">
                <a:latin typeface="Times New Roman"/>
                <a:cs typeface="Times New Roman"/>
              </a:rPr>
              <a:t>requirements </a:t>
            </a:r>
            <a:r>
              <a:rPr dirty="0" sz="2600" spc="-5" b="1">
                <a:latin typeface="Times New Roman"/>
                <a:cs typeface="Times New Roman"/>
              </a:rPr>
              <a:t>for </a:t>
            </a:r>
            <a:r>
              <a:rPr dirty="0" sz="2600" b="1">
                <a:latin typeface="Times New Roman"/>
                <a:cs typeface="Times New Roman"/>
              </a:rPr>
              <a:t>conducting  polymer is the formation of continuous conjugation  </a:t>
            </a:r>
            <a:r>
              <a:rPr dirty="0" sz="2600" spc="-5" b="1">
                <a:latin typeface="Times New Roman"/>
                <a:cs typeface="Times New Roman"/>
              </a:rPr>
              <a:t>through </a:t>
            </a:r>
            <a:r>
              <a:rPr dirty="0" sz="2600" b="1">
                <a:latin typeface="Times New Roman"/>
                <a:cs typeface="Times New Roman"/>
              </a:rPr>
              <a:t>polymer</a:t>
            </a:r>
            <a:r>
              <a:rPr dirty="0" sz="2600" spc="-110" b="1">
                <a:latin typeface="Times New Roman"/>
                <a:cs typeface="Times New Roman"/>
              </a:rPr>
              <a:t> </a:t>
            </a:r>
            <a:r>
              <a:rPr dirty="0" sz="2600" spc="-5" b="1">
                <a:latin typeface="Times New Roman"/>
                <a:cs typeface="Times New Roman"/>
              </a:rPr>
              <a:t>chain.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2600" spc="-10" b="1">
                <a:solidFill>
                  <a:srgbClr val="001F60"/>
                </a:solidFill>
                <a:latin typeface="Times New Roman"/>
                <a:cs typeface="Times New Roman"/>
              </a:rPr>
              <a:t>Different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types of conducting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polymers </a:t>
            </a:r>
            <a:r>
              <a:rPr dirty="0" sz="2600" spc="-15" b="1">
                <a:solidFill>
                  <a:srgbClr val="001F60"/>
                </a:solidFill>
                <a:latin typeface="Times New Roman"/>
                <a:cs typeface="Times New Roman"/>
              </a:rPr>
              <a:t>are </a:t>
            </a:r>
            <a:r>
              <a:rPr dirty="0" sz="2600" spc="10" b="1">
                <a:solidFill>
                  <a:srgbClr val="001F60"/>
                </a:solidFill>
                <a:latin typeface="Times New Roman"/>
                <a:cs typeface="Times New Roman"/>
              </a:rPr>
              <a:t>as</a:t>
            </a:r>
            <a:r>
              <a:rPr dirty="0" sz="2600" spc="-10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follows:</a:t>
            </a:r>
            <a:endParaRPr sz="2600">
              <a:latin typeface="Times New Roman"/>
              <a:cs typeface="Times New Roman"/>
            </a:endParaRPr>
          </a:p>
          <a:p>
            <a:pPr marL="354965" marR="8890" indent="-342900">
              <a:lnSpc>
                <a:spcPts val="2810"/>
              </a:lnSpc>
              <a:spcBef>
                <a:spcPts val="665"/>
              </a:spcBef>
            </a:pPr>
            <a:r>
              <a:rPr dirty="0" sz="2600" b="1">
                <a:solidFill>
                  <a:srgbClr val="0070BF"/>
                </a:solidFill>
                <a:latin typeface="Times New Roman"/>
                <a:cs typeface="Times New Roman"/>
              </a:rPr>
              <a:t>1. </a:t>
            </a:r>
            <a:r>
              <a:rPr dirty="0" sz="2600" spc="-5" b="1">
                <a:solidFill>
                  <a:srgbClr val="0070BF"/>
                </a:solidFill>
                <a:latin typeface="Times New Roman"/>
                <a:cs typeface="Times New Roman"/>
              </a:rPr>
              <a:t>Intrinsically </a:t>
            </a:r>
            <a:r>
              <a:rPr dirty="0" sz="2600" b="1">
                <a:solidFill>
                  <a:srgbClr val="0070BF"/>
                </a:solidFill>
                <a:latin typeface="Times New Roman"/>
                <a:cs typeface="Times New Roman"/>
              </a:rPr>
              <a:t>conducting polymers: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It </a:t>
            </a:r>
            <a:r>
              <a:rPr dirty="0" sz="2600" spc="-15" b="1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polymer 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whose </a:t>
            </a:r>
            <a:r>
              <a:rPr dirty="0" sz="2600" spc="5" b="1">
                <a:solidFill>
                  <a:srgbClr val="FF0000"/>
                </a:solidFill>
                <a:latin typeface="Times New Roman"/>
                <a:cs typeface="Times New Roman"/>
              </a:rPr>
              <a:t>backbone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or associated 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group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consist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of 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delocallised 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electron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pair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residual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charge.In an 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electric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field,conjugated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pi-electrons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of the polymer 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get exited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,and hence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can </a:t>
            </a:r>
            <a:r>
              <a:rPr dirty="0" sz="2600" spc="5" b="1">
                <a:solidFill>
                  <a:srgbClr val="FF0000"/>
                </a:solidFill>
                <a:latin typeface="Times New Roman"/>
                <a:cs typeface="Times New Roman"/>
              </a:rPr>
              <a:t>be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transported 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through</a:t>
            </a:r>
            <a:r>
              <a:rPr dirty="0" sz="2600" spc="-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the 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solid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polymeric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material. </a:t>
            </a:r>
            <a:r>
              <a:rPr dirty="0" sz="2600" spc="5" b="1">
                <a:solidFill>
                  <a:srgbClr val="FF0000"/>
                </a:solidFill>
                <a:latin typeface="Times New Roman"/>
                <a:cs typeface="Times New Roman"/>
              </a:rPr>
              <a:t>Some common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examples  </a:t>
            </a:r>
            <a:r>
              <a:rPr dirty="0" sz="2600" spc="-15" b="1">
                <a:solidFill>
                  <a:srgbClr val="FF0000"/>
                </a:solidFill>
                <a:latin typeface="Times New Roman"/>
                <a:cs typeface="Times New Roman"/>
              </a:rPr>
              <a:t>are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polymers,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polyaniliene,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polypyrrole</a:t>
            </a:r>
            <a:r>
              <a:rPr dirty="0" sz="2600" spc="-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etc..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4</a:t>
            </a:r>
            <a:r>
              <a:rPr dirty="0" spc="75"/>
              <a:t>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226" y="854370"/>
            <a:ext cx="42271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0000"/>
                </a:solidFill>
              </a:rPr>
              <a:t>Conducting</a:t>
            </a:r>
            <a:r>
              <a:rPr dirty="0" sz="3600" spc="-65">
                <a:solidFill>
                  <a:srgbClr val="FF0000"/>
                </a:solidFill>
              </a:rPr>
              <a:t> </a:t>
            </a:r>
            <a:r>
              <a:rPr dirty="0" sz="3600" spc="-5">
                <a:solidFill>
                  <a:srgbClr val="FF0000"/>
                </a:solidFill>
              </a:rPr>
              <a:t>polymers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5467" y="1561640"/>
            <a:ext cx="7860030" cy="39935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55600" marR="112395" indent="-268605">
              <a:lnSpc>
                <a:spcPts val="3020"/>
              </a:lnSpc>
              <a:spcBef>
                <a:spcPts val="480"/>
              </a:spcBef>
              <a:buSzPct val="96428"/>
              <a:buAutoNum type="arabicPeriod" startAt="2"/>
              <a:tabLst>
                <a:tab pos="354965" algn="l"/>
              </a:tabLst>
            </a:pPr>
            <a:r>
              <a:rPr dirty="0" sz="2800" spc="-5" b="1">
                <a:solidFill>
                  <a:srgbClr val="001F60"/>
                </a:solidFill>
                <a:latin typeface="Times New Roman"/>
                <a:cs typeface="Times New Roman"/>
              </a:rPr>
              <a:t>Extrinsically conducting polymers: </a:t>
            </a:r>
            <a:r>
              <a:rPr dirty="0" sz="2800" spc="-5" b="1">
                <a:latin typeface="Times New Roman"/>
                <a:cs typeface="Times New Roman"/>
              </a:rPr>
              <a:t>It </a:t>
            </a:r>
            <a:r>
              <a:rPr dirty="0" sz="2800" b="1">
                <a:latin typeface="Times New Roman"/>
                <a:cs typeface="Times New Roman"/>
              </a:rPr>
              <a:t>is </a:t>
            </a:r>
            <a:r>
              <a:rPr dirty="0" sz="2800" spc="-5" b="1">
                <a:latin typeface="Times New Roman"/>
                <a:cs typeface="Times New Roman"/>
              </a:rPr>
              <a:t>a  </a:t>
            </a:r>
            <a:r>
              <a:rPr dirty="0" sz="2800" b="1">
                <a:latin typeface="Times New Roman"/>
                <a:cs typeface="Times New Roman"/>
              </a:rPr>
              <a:t>polymer </a:t>
            </a:r>
            <a:r>
              <a:rPr dirty="0" sz="2800" spc="-10" b="1">
                <a:latin typeface="Times New Roman"/>
                <a:cs typeface="Times New Roman"/>
              </a:rPr>
              <a:t>whose </a:t>
            </a:r>
            <a:r>
              <a:rPr dirty="0" sz="2800" spc="-5" b="1">
                <a:latin typeface="Times New Roman"/>
                <a:cs typeface="Times New Roman"/>
              </a:rPr>
              <a:t>conductivity </a:t>
            </a:r>
            <a:r>
              <a:rPr dirty="0" sz="2800" b="1">
                <a:latin typeface="Times New Roman"/>
                <a:cs typeface="Times New Roman"/>
              </a:rPr>
              <a:t>is </a:t>
            </a:r>
            <a:r>
              <a:rPr dirty="0" sz="2800" spc="-10" b="1">
                <a:latin typeface="Times New Roman"/>
                <a:cs typeface="Times New Roman"/>
              </a:rPr>
              <a:t>due to presence </a:t>
            </a:r>
            <a:r>
              <a:rPr dirty="0" sz="2800" spc="-5" b="1">
                <a:latin typeface="Times New Roman"/>
                <a:cs typeface="Times New Roman"/>
              </a:rPr>
              <a:t>of  externally added </a:t>
            </a:r>
            <a:r>
              <a:rPr dirty="0" sz="2800" b="1">
                <a:latin typeface="Times New Roman"/>
                <a:cs typeface="Times New Roman"/>
              </a:rPr>
              <a:t>ingridients in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them.</a:t>
            </a:r>
            <a:endParaRPr sz="2800">
              <a:latin typeface="Times New Roman"/>
              <a:cs typeface="Times New Roman"/>
            </a:endParaRPr>
          </a:p>
          <a:p>
            <a:pPr marL="280035" marR="5080" indent="-280035">
              <a:lnSpc>
                <a:spcPts val="3020"/>
              </a:lnSpc>
              <a:spcBef>
                <a:spcPts val="680"/>
              </a:spcBef>
              <a:buSzPct val="96428"/>
              <a:buAutoNum type="arabicPeriod" startAt="2"/>
              <a:tabLst>
                <a:tab pos="280035" algn="l"/>
              </a:tabLst>
            </a:pPr>
            <a:r>
              <a:rPr dirty="0" sz="2800" b="1">
                <a:solidFill>
                  <a:srgbClr val="0070BF"/>
                </a:solidFill>
                <a:latin typeface="Times New Roman"/>
                <a:cs typeface="Times New Roman"/>
              </a:rPr>
              <a:t>Conductive </a:t>
            </a:r>
            <a:r>
              <a:rPr dirty="0" sz="2800" spc="-5" b="1">
                <a:solidFill>
                  <a:srgbClr val="0070BF"/>
                </a:solidFill>
                <a:latin typeface="Times New Roman"/>
                <a:cs typeface="Times New Roman"/>
              </a:rPr>
              <a:t>elements-filled polymers: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It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is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a </a:t>
            </a:r>
            <a:r>
              <a:rPr dirty="0" sz="2800" spc="-15" b="1">
                <a:solidFill>
                  <a:srgbClr val="BF0000"/>
                </a:solidFill>
                <a:latin typeface="Times New Roman"/>
                <a:cs typeface="Times New Roman"/>
              </a:rPr>
              <a:t>resin 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filled </a:t>
            </a:r>
            <a:r>
              <a:rPr dirty="0" sz="2800" spc="-15" b="1">
                <a:solidFill>
                  <a:srgbClr val="BF0000"/>
                </a:solidFill>
                <a:latin typeface="Times New Roman"/>
                <a:cs typeface="Times New Roman"/>
              </a:rPr>
              <a:t>with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conducting elements such as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carbon 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black </a:t>
            </a:r>
            <a:r>
              <a:rPr dirty="0" sz="2800" spc="10" b="1">
                <a:solidFill>
                  <a:srgbClr val="BF0000"/>
                </a:solidFill>
                <a:latin typeface="Times New Roman"/>
                <a:cs typeface="Times New Roman"/>
              </a:rPr>
              <a:t>or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metal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oxides in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which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the polymer acts  as a binder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to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hold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the conducting elements, 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along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with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conductivity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these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polymers </a:t>
            </a:r>
            <a:r>
              <a:rPr dirty="0" sz="2800" spc="-20" b="1">
                <a:solidFill>
                  <a:srgbClr val="BF0000"/>
                </a:solidFill>
                <a:latin typeface="Times New Roman"/>
                <a:cs typeface="Times New Roman"/>
              </a:rPr>
              <a:t>are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low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in  cost,light in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weight,mechanically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durable and 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strong.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4</a:t>
            </a:r>
            <a:r>
              <a:rPr dirty="0" spc="75"/>
              <a:t>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226" y="854370"/>
            <a:ext cx="42271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0000"/>
                </a:solidFill>
              </a:rPr>
              <a:t>Conducting</a:t>
            </a:r>
            <a:r>
              <a:rPr dirty="0" sz="3600" spc="-65">
                <a:solidFill>
                  <a:srgbClr val="FF0000"/>
                </a:solidFill>
              </a:rPr>
              <a:t> </a:t>
            </a:r>
            <a:r>
              <a:rPr dirty="0" sz="3600" spc="-5">
                <a:solidFill>
                  <a:srgbClr val="FF0000"/>
                </a:solidFill>
              </a:rPr>
              <a:t>polymers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5499" y="1602811"/>
            <a:ext cx="7390765" cy="3537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520700" algn="l"/>
              </a:tabLst>
            </a:pPr>
            <a:r>
              <a:rPr dirty="0" sz="3200" b="1">
                <a:solidFill>
                  <a:srgbClr val="001F60"/>
                </a:solidFill>
                <a:latin typeface="Times New Roman"/>
                <a:cs typeface="Times New Roman"/>
              </a:rPr>
              <a:t>4.		</a:t>
            </a:r>
            <a:r>
              <a:rPr dirty="0" sz="3200" spc="-5" b="1">
                <a:solidFill>
                  <a:srgbClr val="001F60"/>
                </a:solidFill>
                <a:latin typeface="Times New Roman"/>
                <a:cs typeface="Times New Roman"/>
              </a:rPr>
              <a:t>Blended conducting </a:t>
            </a:r>
            <a:r>
              <a:rPr dirty="0" sz="3200" b="1">
                <a:solidFill>
                  <a:srgbClr val="001F60"/>
                </a:solidFill>
                <a:latin typeface="Times New Roman"/>
                <a:cs typeface="Times New Roman"/>
              </a:rPr>
              <a:t>polymer: </a:t>
            </a:r>
            <a:r>
              <a:rPr dirty="0" sz="3200" b="1">
                <a:latin typeface="Times New Roman"/>
                <a:cs typeface="Times New Roman"/>
              </a:rPr>
              <a:t>It is  obtained </a:t>
            </a:r>
            <a:r>
              <a:rPr dirty="0" sz="3200" spc="-10" b="1">
                <a:latin typeface="Times New Roman"/>
                <a:cs typeface="Times New Roman"/>
              </a:rPr>
              <a:t>by </a:t>
            </a:r>
            <a:r>
              <a:rPr dirty="0" sz="3200" spc="-5" b="1">
                <a:latin typeface="Times New Roman"/>
                <a:cs typeface="Times New Roman"/>
              </a:rPr>
              <a:t>blending </a:t>
            </a:r>
            <a:r>
              <a:rPr dirty="0" sz="3200" b="1">
                <a:latin typeface="Times New Roman"/>
                <a:cs typeface="Times New Roman"/>
              </a:rPr>
              <a:t>a conventional  </a:t>
            </a:r>
            <a:r>
              <a:rPr dirty="0" sz="3200" spc="-5" b="1">
                <a:latin typeface="Times New Roman"/>
                <a:cs typeface="Times New Roman"/>
              </a:rPr>
              <a:t>polymer with conducting </a:t>
            </a:r>
            <a:r>
              <a:rPr dirty="0" sz="3200" spc="-40" b="1">
                <a:latin typeface="Times New Roman"/>
                <a:cs typeface="Times New Roman"/>
              </a:rPr>
              <a:t>polymer. </a:t>
            </a:r>
            <a:r>
              <a:rPr dirty="0" sz="3200" b="1">
                <a:latin typeface="Times New Roman"/>
                <a:cs typeface="Times New Roman"/>
              </a:rPr>
              <a:t>Such  </a:t>
            </a:r>
            <a:r>
              <a:rPr dirty="0" sz="3200" spc="-5" b="1">
                <a:latin typeface="Times New Roman"/>
                <a:cs typeface="Times New Roman"/>
              </a:rPr>
              <a:t>polymer </a:t>
            </a:r>
            <a:r>
              <a:rPr dirty="0" sz="3200" b="1">
                <a:latin typeface="Times New Roman"/>
                <a:cs typeface="Times New Roman"/>
              </a:rPr>
              <a:t>posses better physical,</a:t>
            </a:r>
            <a:r>
              <a:rPr dirty="0" sz="3200" spc="-210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Times New Roman"/>
                <a:cs typeface="Times New Roman"/>
              </a:rPr>
              <a:t>chemical  </a:t>
            </a:r>
            <a:r>
              <a:rPr dirty="0" sz="3200" spc="5" b="1">
                <a:latin typeface="Times New Roman"/>
                <a:cs typeface="Times New Roman"/>
              </a:rPr>
              <a:t>and </a:t>
            </a:r>
            <a:r>
              <a:rPr dirty="0" sz="3200" b="1">
                <a:latin typeface="Times New Roman"/>
                <a:cs typeface="Times New Roman"/>
              </a:rPr>
              <a:t>mechanical</a:t>
            </a:r>
            <a:r>
              <a:rPr dirty="0" sz="3200" spc="-9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properties.</a:t>
            </a:r>
            <a:endParaRPr sz="3200">
              <a:latin typeface="Times New Roman"/>
              <a:cs typeface="Times New Roman"/>
            </a:endParaRPr>
          </a:p>
          <a:p>
            <a:pPr marL="12700" marR="735965">
              <a:lnSpc>
                <a:spcPct val="100000"/>
              </a:lnSpc>
              <a:spcBef>
                <a:spcPts val="770"/>
              </a:spcBef>
            </a:pPr>
            <a:r>
              <a:rPr dirty="0" sz="3200" b="1">
                <a:solidFill>
                  <a:srgbClr val="BF0000"/>
                </a:solidFill>
                <a:latin typeface="Times New Roman"/>
                <a:cs typeface="Times New Roman"/>
              </a:rPr>
              <a:t>It </a:t>
            </a:r>
            <a:r>
              <a:rPr dirty="0" sz="3200" spc="-5" b="1">
                <a:solidFill>
                  <a:srgbClr val="BF0000"/>
                </a:solidFill>
                <a:latin typeface="Times New Roman"/>
                <a:cs typeface="Times New Roman"/>
              </a:rPr>
              <a:t>can </a:t>
            </a:r>
            <a:r>
              <a:rPr dirty="0" sz="3200" spc="-10" b="1">
                <a:solidFill>
                  <a:srgbClr val="BF0000"/>
                </a:solidFill>
                <a:latin typeface="Times New Roman"/>
                <a:cs typeface="Times New Roman"/>
              </a:rPr>
              <a:t>be </a:t>
            </a:r>
            <a:r>
              <a:rPr dirty="0" sz="3200" b="1">
                <a:solidFill>
                  <a:srgbClr val="BF0000"/>
                </a:solidFill>
                <a:latin typeface="Times New Roman"/>
                <a:cs typeface="Times New Roman"/>
              </a:rPr>
              <a:t>also </a:t>
            </a:r>
            <a:r>
              <a:rPr dirty="0" sz="3200" spc="-5" b="1">
                <a:solidFill>
                  <a:srgbClr val="BF0000"/>
                </a:solidFill>
                <a:latin typeface="Times New Roman"/>
                <a:cs typeface="Times New Roman"/>
              </a:rPr>
              <a:t>done </a:t>
            </a:r>
            <a:r>
              <a:rPr dirty="0" sz="3200" spc="-10" b="1">
                <a:solidFill>
                  <a:srgbClr val="BF0000"/>
                </a:solidFill>
                <a:latin typeface="Times New Roman"/>
                <a:cs typeface="Times New Roman"/>
              </a:rPr>
              <a:t>by </a:t>
            </a:r>
            <a:r>
              <a:rPr dirty="0" sz="3200" spc="-5" b="1">
                <a:solidFill>
                  <a:srgbClr val="BF0000"/>
                </a:solidFill>
                <a:latin typeface="Times New Roman"/>
                <a:cs typeface="Times New Roman"/>
              </a:rPr>
              <a:t>p-doping and </a:t>
            </a:r>
            <a:r>
              <a:rPr dirty="0" sz="3200" spc="-10" b="1">
                <a:solidFill>
                  <a:srgbClr val="BF0000"/>
                </a:solidFill>
                <a:latin typeface="Times New Roman"/>
                <a:cs typeface="Times New Roman"/>
              </a:rPr>
              <a:t>n-  </a:t>
            </a:r>
            <a:r>
              <a:rPr dirty="0" sz="3200" spc="-5" b="1">
                <a:solidFill>
                  <a:srgbClr val="BF0000"/>
                </a:solidFill>
                <a:latin typeface="Times New Roman"/>
                <a:cs typeface="Times New Roman"/>
              </a:rPr>
              <a:t>doping</a:t>
            </a:r>
            <a:r>
              <a:rPr dirty="0" sz="3200" spc="-4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BF0000"/>
                </a:solidFill>
                <a:latin typeface="Times New Roman"/>
                <a:cs typeface="Times New Roman"/>
              </a:rPr>
              <a:t>methods.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4</a:t>
            </a:r>
            <a:r>
              <a:rPr dirty="0" spc="75"/>
              <a:t>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226" y="854370"/>
            <a:ext cx="55333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INDUSTRIAL</a:t>
            </a:r>
            <a:r>
              <a:rPr dirty="0" sz="3600" spc="-315"/>
              <a:t> </a:t>
            </a:r>
            <a:r>
              <a:rPr dirty="0" sz="3600" spc="-45"/>
              <a:t>POLYMERS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5379" y="1890747"/>
            <a:ext cx="7625715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5595" marR="5173345" indent="-303530">
              <a:lnSpc>
                <a:spcPct val="120000"/>
              </a:lnSpc>
              <a:spcBef>
                <a:spcPts val="100"/>
              </a:spcBef>
            </a:pPr>
            <a:r>
              <a:rPr dirty="0" sz="2400" b="1">
                <a:solidFill>
                  <a:srgbClr val="BF0000"/>
                </a:solidFill>
                <a:latin typeface="Times New Roman"/>
                <a:cs typeface="Times New Roman"/>
              </a:rPr>
              <a:t>1. </a:t>
            </a:r>
            <a:r>
              <a:rPr dirty="0" sz="2400" spc="-30" b="1">
                <a:solidFill>
                  <a:srgbClr val="BF0000"/>
                </a:solidFill>
                <a:latin typeface="Times New Roman"/>
                <a:cs typeface="Times New Roman"/>
              </a:rPr>
              <a:t>POLYETHENE </a:t>
            </a:r>
            <a:r>
              <a:rPr dirty="0" sz="24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Properties:</a:t>
            </a:r>
            <a:endParaRPr sz="2400">
              <a:latin typeface="Times New Roman"/>
              <a:cs typeface="Times New Roman"/>
            </a:endParaRPr>
          </a:p>
          <a:p>
            <a:pPr marL="354965" marR="188595" indent="36195">
              <a:lnSpc>
                <a:spcPct val="100000"/>
              </a:lnSpc>
              <a:spcBef>
                <a:spcPts val="575"/>
              </a:spcBef>
            </a:pPr>
            <a:r>
              <a:rPr dirty="0" sz="2400" b="1">
                <a:latin typeface="Times New Roman"/>
                <a:cs typeface="Times New Roman"/>
              </a:rPr>
              <a:t>It </a:t>
            </a:r>
            <a:r>
              <a:rPr dirty="0" sz="2400" spc="-10" b="1">
                <a:latin typeface="Times New Roman"/>
                <a:cs typeface="Times New Roman"/>
              </a:rPr>
              <a:t>is </a:t>
            </a:r>
            <a:r>
              <a:rPr dirty="0" sz="2400" b="1">
                <a:latin typeface="Times New Roman"/>
                <a:cs typeface="Times New Roman"/>
              </a:rPr>
              <a:t>rigid </a:t>
            </a:r>
            <a:r>
              <a:rPr dirty="0" sz="2400" spc="-30" b="1">
                <a:latin typeface="Times New Roman"/>
                <a:cs typeface="Times New Roman"/>
              </a:rPr>
              <a:t>,waxy, </a:t>
            </a:r>
            <a:r>
              <a:rPr dirty="0" sz="2400" b="1">
                <a:latin typeface="Times New Roman"/>
                <a:cs typeface="Times New Roman"/>
              </a:rPr>
              <a:t>non </a:t>
            </a:r>
            <a:r>
              <a:rPr dirty="0" sz="2400" spc="-5" b="1">
                <a:latin typeface="Times New Roman"/>
                <a:cs typeface="Times New Roman"/>
              </a:rPr>
              <a:t>polar </a:t>
            </a:r>
            <a:r>
              <a:rPr dirty="0" sz="2400" b="1">
                <a:latin typeface="Times New Roman"/>
                <a:cs typeface="Times New Roman"/>
              </a:rPr>
              <a:t>material, highly tensile </a:t>
            </a:r>
            <a:r>
              <a:rPr dirty="0" sz="2400" spc="-5" b="1">
                <a:latin typeface="Times New Roman"/>
                <a:cs typeface="Times New Roman"/>
              </a:rPr>
              <a:t>and  </a:t>
            </a:r>
            <a:r>
              <a:rPr dirty="0" sz="2400" b="1">
                <a:latin typeface="Times New Roman"/>
                <a:cs typeface="Times New Roman"/>
              </a:rPr>
              <a:t>flexible.</a:t>
            </a:r>
            <a:endParaRPr sz="2400">
              <a:latin typeface="Times New Roman"/>
              <a:cs typeface="Times New Roman"/>
            </a:endParaRPr>
          </a:p>
          <a:p>
            <a:pPr marL="239395">
              <a:lnSpc>
                <a:spcPct val="100000"/>
              </a:lnSpc>
              <a:spcBef>
                <a:spcPts val="575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Uses:</a:t>
            </a:r>
            <a:endParaRPr sz="2400">
              <a:latin typeface="Times New Roman"/>
              <a:cs typeface="Times New Roman"/>
            </a:endParaRPr>
          </a:p>
          <a:p>
            <a:pPr marL="354965" marR="5080" indent="-40005">
              <a:lnSpc>
                <a:spcPct val="100000"/>
              </a:lnSpc>
              <a:spcBef>
                <a:spcPts val="575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2400" spc="-5" b="1">
                <a:latin typeface="Times New Roman"/>
                <a:cs typeface="Times New Roman"/>
              </a:rPr>
              <a:t>or </a:t>
            </a:r>
            <a:r>
              <a:rPr dirty="0" sz="2400" b="1">
                <a:latin typeface="Times New Roman"/>
                <a:cs typeface="Times New Roman"/>
              </a:rPr>
              <a:t>making high </a:t>
            </a:r>
            <a:r>
              <a:rPr dirty="0" sz="2400" spc="-10" b="1">
                <a:latin typeface="Times New Roman"/>
                <a:cs typeface="Times New Roman"/>
              </a:rPr>
              <a:t>frequency </a:t>
            </a:r>
            <a:r>
              <a:rPr dirty="0" sz="2400" b="1">
                <a:latin typeface="Times New Roman"/>
                <a:cs typeface="Times New Roman"/>
              </a:rPr>
              <a:t>insulators parts, </a:t>
            </a:r>
            <a:r>
              <a:rPr dirty="0" sz="2400" spc="-5" b="1">
                <a:latin typeface="Times New Roman"/>
                <a:cs typeface="Times New Roman"/>
              </a:rPr>
              <a:t>bottle caps,  </a:t>
            </a:r>
            <a:r>
              <a:rPr dirty="0" sz="2400" b="1">
                <a:latin typeface="Times New Roman"/>
                <a:cs typeface="Times New Roman"/>
              </a:rPr>
              <a:t>flexible bottles,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toys,etc.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3779" y="6880117"/>
            <a:ext cx="224154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5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226" y="854370"/>
            <a:ext cx="55333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INDUSTRIAL</a:t>
            </a:r>
            <a:r>
              <a:rPr dirty="0" sz="3600" spc="-315"/>
              <a:t> </a:t>
            </a:r>
            <a:r>
              <a:rPr dirty="0" sz="3600" spc="-45"/>
              <a:t>POLYMERS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75490" y="2173241"/>
            <a:ext cx="7747000" cy="355981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2.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Polyvinyl</a:t>
            </a:r>
            <a:r>
              <a:rPr dirty="0" sz="22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chloride(PVC):</a:t>
            </a:r>
            <a:endParaRPr sz="2200">
              <a:latin typeface="Times New Roman"/>
              <a:cs typeface="Times New Roman"/>
            </a:endParaRPr>
          </a:p>
          <a:p>
            <a:pPr marL="289560">
              <a:lnSpc>
                <a:spcPct val="100000"/>
              </a:lnSpc>
              <a:spcBef>
                <a:spcPts val="300"/>
              </a:spcBef>
            </a:pPr>
            <a:r>
              <a:rPr dirty="0" sz="2600" spc="-5" b="1">
                <a:solidFill>
                  <a:srgbClr val="BF0000"/>
                </a:solidFill>
                <a:latin typeface="Times New Roman"/>
                <a:cs typeface="Times New Roman"/>
              </a:rPr>
              <a:t>Properties:</a:t>
            </a:r>
            <a:endParaRPr sz="2600">
              <a:latin typeface="Times New Roman"/>
              <a:cs typeface="Times New Roman"/>
            </a:endParaRPr>
          </a:p>
          <a:p>
            <a:pPr marL="335280">
              <a:lnSpc>
                <a:spcPts val="2965"/>
              </a:lnSpc>
              <a:spcBef>
                <a:spcPts val="310"/>
              </a:spcBef>
            </a:pP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600" spc="-20" b="1">
                <a:solidFill>
                  <a:srgbClr val="001F60"/>
                </a:solidFill>
                <a:latin typeface="Times New Roman"/>
                <a:cs typeface="Times New Roman"/>
              </a:rPr>
              <a:t>are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chemically </a:t>
            </a:r>
            <a:r>
              <a:rPr dirty="0" sz="2600" spc="-10" b="1">
                <a:solidFill>
                  <a:srgbClr val="001F60"/>
                </a:solidFill>
                <a:latin typeface="Times New Roman"/>
                <a:cs typeface="Times New Roman"/>
              </a:rPr>
              <a:t>inert,resistant </a:t>
            </a:r>
            <a:r>
              <a:rPr dirty="0" sz="2600" spc="5" b="1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2600" spc="-1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600" spc="5" b="1">
                <a:solidFill>
                  <a:srgbClr val="001F60"/>
                </a:solidFill>
                <a:latin typeface="Times New Roman"/>
                <a:cs typeface="Times New Roman"/>
              </a:rPr>
              <a:t>light</a:t>
            </a:r>
            <a:endParaRPr sz="2600">
              <a:latin typeface="Times New Roman"/>
              <a:cs typeface="Times New Roman"/>
            </a:endParaRPr>
          </a:p>
          <a:p>
            <a:pPr marL="354965" marR="236854">
              <a:lnSpc>
                <a:spcPts val="2810"/>
              </a:lnSpc>
              <a:spcBef>
                <a:spcPts val="195"/>
              </a:spcBef>
            </a:pP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,atmospheric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oxygen.inorganic acid ,high</a:t>
            </a:r>
            <a:r>
              <a:rPr dirty="0" sz="2600" spc="-8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softening  point , </a:t>
            </a:r>
            <a:r>
              <a:rPr dirty="0" sz="2600" spc="-10" b="1">
                <a:solidFill>
                  <a:srgbClr val="001F60"/>
                </a:solidFill>
                <a:latin typeface="Times New Roman"/>
                <a:cs typeface="Times New Roman"/>
              </a:rPr>
              <a:t>greater stiffness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2600" spc="-7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600" spc="-15" b="1">
                <a:solidFill>
                  <a:srgbClr val="001F60"/>
                </a:solidFill>
                <a:latin typeface="Times New Roman"/>
                <a:cs typeface="Times New Roman"/>
              </a:rPr>
              <a:t>rigidity.</a:t>
            </a:r>
            <a:endParaRPr sz="26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  <a:spcBef>
                <a:spcPts val="270"/>
              </a:spcBef>
            </a:pPr>
            <a:r>
              <a:rPr dirty="0" sz="2600" spc="-5" b="1">
                <a:solidFill>
                  <a:srgbClr val="BF0000"/>
                </a:solidFill>
                <a:latin typeface="Times New Roman"/>
                <a:cs typeface="Times New Roman"/>
              </a:rPr>
              <a:t>Uses:</a:t>
            </a:r>
            <a:endParaRPr sz="2600">
              <a:latin typeface="Times New Roman"/>
              <a:cs typeface="Times New Roman"/>
            </a:endParaRPr>
          </a:p>
          <a:p>
            <a:pPr marL="354965" marR="5080" indent="-13970">
              <a:lnSpc>
                <a:spcPts val="2810"/>
              </a:lnSpc>
              <a:spcBef>
                <a:spcPts val="665"/>
              </a:spcBef>
            </a:pP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It </a:t>
            </a:r>
            <a:r>
              <a:rPr dirty="0" sz="2600" spc="-15" b="1">
                <a:solidFill>
                  <a:srgbClr val="001F60"/>
                </a:solidFill>
                <a:latin typeface="Times New Roman"/>
                <a:cs typeface="Times New Roman"/>
              </a:rPr>
              <a:t>is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used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for making sheets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used </a:t>
            </a:r>
            <a:r>
              <a:rPr dirty="0" sz="2600" spc="-15" b="1">
                <a:solidFill>
                  <a:srgbClr val="001F60"/>
                </a:solidFill>
                <a:latin typeface="Times New Roman"/>
                <a:cs typeface="Times New Roman"/>
              </a:rPr>
              <a:t>in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tanks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lining,light 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fittings,safety helmets, refrigerator  components,tyres,etc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5</a:t>
            </a:r>
            <a:r>
              <a:rPr dirty="0" spc="75"/>
              <a:t>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226" y="854370"/>
            <a:ext cx="55333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INDUSTRIAL</a:t>
            </a:r>
            <a:r>
              <a:rPr dirty="0" sz="3600" spc="-315"/>
              <a:t> </a:t>
            </a:r>
            <a:r>
              <a:rPr dirty="0" sz="3600" spc="-45"/>
              <a:t>POLYMERS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75467" y="2205698"/>
            <a:ext cx="7548880" cy="34397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3.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Polycarbonates: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Properties:</a:t>
            </a:r>
            <a:endParaRPr sz="2800">
              <a:latin typeface="Times New Roman"/>
              <a:cs typeface="Times New Roman"/>
            </a:endParaRPr>
          </a:p>
          <a:p>
            <a:pPr marL="12700" marR="1524635" indent="86360">
              <a:lnSpc>
                <a:spcPct val="12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It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has high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impact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and tensile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strength.  </a:t>
            </a:r>
            <a:r>
              <a:rPr dirty="0" sz="2800" spc="-10" b="1">
                <a:solidFill>
                  <a:srgbClr val="001F60"/>
                </a:solidFill>
                <a:latin typeface="Times New Roman"/>
                <a:cs typeface="Times New Roman"/>
              </a:rPr>
              <a:t>Uses:</a:t>
            </a:r>
            <a:endParaRPr sz="2800">
              <a:latin typeface="Times New Roman"/>
              <a:cs typeface="Times New Roman"/>
            </a:endParaRPr>
          </a:p>
          <a:p>
            <a:pPr marL="355600" marR="5080" indent="10160">
              <a:lnSpc>
                <a:spcPct val="100000"/>
              </a:lnSpc>
              <a:spcBef>
                <a:spcPts val="670"/>
              </a:spcBef>
            </a:pP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For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preparing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moulded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domestic </a:t>
            </a:r>
            <a:r>
              <a:rPr dirty="0" sz="2800" spc="-60" b="1">
                <a:solidFill>
                  <a:srgbClr val="BF0000"/>
                </a:solidFill>
                <a:latin typeface="Times New Roman"/>
                <a:cs typeface="Times New Roman"/>
              </a:rPr>
              <a:t>wear,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housing  for </a:t>
            </a:r>
            <a:r>
              <a:rPr dirty="0" sz="2800" spc="-5" b="1">
                <a:solidFill>
                  <a:srgbClr val="BF0000"/>
                </a:solidFill>
                <a:latin typeface="Times New Roman"/>
                <a:cs typeface="Times New Roman"/>
              </a:rPr>
              <a:t>apparatus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and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electrical </a:t>
            </a:r>
            <a:r>
              <a:rPr dirty="0" sz="2800" b="1">
                <a:solidFill>
                  <a:srgbClr val="BF0000"/>
                </a:solidFill>
                <a:latin typeface="Times New Roman"/>
                <a:cs typeface="Times New Roman"/>
              </a:rPr>
              <a:t>insulator </a:t>
            </a:r>
            <a:r>
              <a:rPr dirty="0" sz="2800" spc="-15" b="1">
                <a:solidFill>
                  <a:srgbClr val="BF0000"/>
                </a:solidFill>
                <a:latin typeface="Times New Roman"/>
                <a:cs typeface="Times New Roman"/>
              </a:rPr>
              <a:t>in  </a:t>
            </a:r>
            <a:r>
              <a:rPr dirty="0" sz="2800" spc="-10" b="1">
                <a:solidFill>
                  <a:srgbClr val="BF0000"/>
                </a:solidFill>
                <a:latin typeface="Times New Roman"/>
                <a:cs typeface="Times New Roman"/>
              </a:rPr>
              <a:t>electronics</a:t>
            </a:r>
            <a:r>
              <a:rPr dirty="0" sz="2800" spc="-35" b="1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BF0000"/>
                </a:solidFill>
                <a:latin typeface="Times New Roman"/>
                <a:cs typeface="Times New Roman"/>
              </a:rPr>
              <a:t>industry.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5</a:t>
            </a:r>
            <a:r>
              <a:rPr dirty="0" spc="75"/>
              <a:t>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53" y="1029689"/>
            <a:ext cx="49104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5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000" spc="-210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2000" spc="204" b="1">
                <a:solidFill>
                  <a:srgbClr val="FFFFFF"/>
                </a:solidFill>
                <a:latin typeface="Georgia"/>
                <a:cs typeface="Georgia"/>
              </a:rPr>
              <a:t>1 </a:t>
            </a:r>
            <a:r>
              <a:rPr dirty="0" sz="2000" spc="-155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000" spc="-135" b="1">
                <a:solidFill>
                  <a:srgbClr val="FFFFFF"/>
                </a:solidFill>
                <a:latin typeface="Georgia"/>
                <a:cs typeface="Georgia"/>
              </a:rPr>
              <a:t>name:Applied</a:t>
            </a:r>
            <a:r>
              <a:rPr dirty="0" sz="2000" spc="-21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0" b="1">
                <a:solidFill>
                  <a:srgbClr val="FFFFFF"/>
                </a:solidFill>
                <a:latin typeface="Georgia"/>
                <a:cs typeface="Georgia"/>
              </a:rPr>
              <a:t>Chemistry-1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82367" y="2875168"/>
            <a:ext cx="4354830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Lecture </a:t>
            </a:r>
            <a:r>
              <a:rPr dirty="0" sz="4800" spc="-505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4800" spc="180" b="1">
                <a:solidFill>
                  <a:srgbClr val="FFFFFF"/>
                </a:solidFill>
                <a:latin typeface="Georgia"/>
                <a:cs typeface="Georgia"/>
              </a:rPr>
              <a:t>7  </a:t>
            </a:r>
            <a:r>
              <a:rPr dirty="0" sz="4800" spc="-350" b="1">
                <a:solidFill>
                  <a:srgbClr val="FFFFFF"/>
                </a:solidFill>
                <a:latin typeface="Georgia"/>
                <a:cs typeface="Georgia"/>
              </a:rPr>
              <a:t>Natural</a:t>
            </a:r>
            <a:r>
              <a:rPr dirty="0" sz="4800" spc="-254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355" b="1">
                <a:solidFill>
                  <a:srgbClr val="FFFFFF"/>
                </a:solidFill>
                <a:latin typeface="Georgia"/>
                <a:cs typeface="Georgia"/>
              </a:rPr>
              <a:t>Rubber</a:t>
            </a:r>
            <a:endParaRPr sz="4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4236" y="826944"/>
            <a:ext cx="378206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35">
                <a:solidFill>
                  <a:srgbClr val="FF0000"/>
                </a:solidFill>
              </a:rPr>
              <a:t>NATURAL</a:t>
            </a:r>
            <a:r>
              <a:rPr dirty="0" sz="3200" spc="-260">
                <a:solidFill>
                  <a:srgbClr val="FF0000"/>
                </a:solidFill>
              </a:rPr>
              <a:t> </a:t>
            </a:r>
            <a:r>
              <a:rPr dirty="0" sz="3200">
                <a:solidFill>
                  <a:srgbClr val="FF0000"/>
                </a:solidFill>
              </a:rPr>
              <a:t>RUBBER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75421" y="1965454"/>
            <a:ext cx="7736840" cy="1550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It </a:t>
            </a:r>
            <a:r>
              <a:rPr dirty="0" sz="2000" spc="-10" b="1">
                <a:solidFill>
                  <a:srgbClr val="00AF50"/>
                </a:solidFill>
                <a:latin typeface="Times New Roman"/>
                <a:cs typeface="Times New Roman"/>
              </a:rPr>
              <a:t>is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obtained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from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plant known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as hevea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brasiliensis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which is 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originally </a:t>
            </a:r>
            <a:r>
              <a:rPr dirty="0" sz="2000" spc="-10" b="1">
                <a:solidFill>
                  <a:srgbClr val="00AF50"/>
                </a:solidFill>
                <a:latin typeface="Times New Roman"/>
                <a:cs typeface="Times New Roman"/>
              </a:rPr>
              <a:t>from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brazil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and is cultivated </a:t>
            </a:r>
            <a:r>
              <a:rPr dirty="0" sz="2000" spc="-10" b="1">
                <a:solidFill>
                  <a:srgbClr val="00AF50"/>
                </a:solidFill>
                <a:latin typeface="Times New Roman"/>
                <a:cs typeface="Times New Roman"/>
              </a:rPr>
              <a:t>in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plantations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mainly </a:t>
            </a:r>
            <a:r>
              <a:rPr dirty="0" sz="2000" spc="-10" b="1">
                <a:solidFill>
                  <a:srgbClr val="00AF50"/>
                </a:solidFill>
                <a:latin typeface="Times New Roman"/>
                <a:cs typeface="Times New Roman"/>
              </a:rPr>
              <a:t>in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tropical  regions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in south east,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specially </a:t>
            </a:r>
            <a:r>
              <a:rPr dirty="0" sz="2000" spc="-10" b="1">
                <a:solidFill>
                  <a:srgbClr val="00AF50"/>
                </a:solidFill>
                <a:latin typeface="Times New Roman"/>
                <a:cs typeface="Times New Roman"/>
              </a:rPr>
              <a:t>in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Malaysia ,Indonesia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,india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,</a:t>
            </a:r>
            <a:r>
              <a:rPr dirty="0" sz="2000" spc="-24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Thailand</a:t>
            </a:r>
            <a:endParaRPr sz="2000">
              <a:latin typeface="Times New Roman"/>
              <a:cs typeface="Times New Roman"/>
            </a:endParaRPr>
          </a:p>
          <a:p>
            <a:pPr marL="12700" marR="12700">
              <a:lnSpc>
                <a:spcPct val="100000"/>
              </a:lnSpc>
            </a:pP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,etc. The </a:t>
            </a:r>
            <a:r>
              <a:rPr dirty="0" sz="2000" spc="-10" b="1">
                <a:solidFill>
                  <a:srgbClr val="00AF50"/>
                </a:solidFill>
                <a:latin typeface="Times New Roman"/>
                <a:cs typeface="Times New Roman"/>
              </a:rPr>
              <a:t>source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of natural rubber </a:t>
            </a:r>
            <a:r>
              <a:rPr dirty="0" sz="2000" spc="-10" b="1">
                <a:solidFill>
                  <a:srgbClr val="00AF50"/>
                </a:solidFill>
                <a:latin typeface="Times New Roman"/>
                <a:cs typeface="Times New Roman"/>
              </a:rPr>
              <a:t>is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milky liquid known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as latex,</a:t>
            </a:r>
            <a:r>
              <a:rPr dirty="0" sz="2000" spc="-16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which 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is a suspension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containing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very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small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particles of</a:t>
            </a:r>
            <a:r>
              <a:rPr dirty="0" sz="2000" spc="-18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spc="-30" b="1">
                <a:solidFill>
                  <a:srgbClr val="00AF50"/>
                </a:solidFill>
                <a:latin typeface="Times New Roman"/>
                <a:cs typeface="Times New Roman"/>
              </a:rPr>
              <a:t>rubber.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2083" y="3744467"/>
            <a:ext cx="8572500" cy="2357755"/>
            <a:chOff x="672083" y="3744467"/>
            <a:chExt cx="8572500" cy="2357755"/>
          </a:xfrm>
        </p:grpSpPr>
        <p:sp>
          <p:nvSpPr>
            <p:cNvPr id="5" name="object 5"/>
            <p:cNvSpPr/>
            <p:nvPr/>
          </p:nvSpPr>
          <p:spPr>
            <a:xfrm>
              <a:off x="672083" y="3744467"/>
              <a:ext cx="8572500" cy="1417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72083" y="3886199"/>
              <a:ext cx="8572500" cy="22158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03779" y="6871236"/>
            <a:ext cx="22415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5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4586" y="6842166"/>
            <a:ext cx="39547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Prof. Rupal Agme-Jadhav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PROPERTIES </a:t>
            </a:r>
            <a:r>
              <a:rPr dirty="0" spc="5"/>
              <a:t>AND </a:t>
            </a:r>
            <a:r>
              <a:rPr dirty="0" spc="-35"/>
              <a:t>DRAWBACKS</a:t>
            </a:r>
            <a:r>
              <a:rPr dirty="0" spc="-229"/>
              <a:t> </a:t>
            </a:r>
            <a:r>
              <a:rPr dirty="0" spc="5"/>
              <a:t>OF</a:t>
            </a:r>
          </a:p>
          <a:p>
            <a:pPr marL="13970">
              <a:lnSpc>
                <a:spcPct val="100000"/>
              </a:lnSpc>
              <a:tabLst>
                <a:tab pos="8367395" algn="l"/>
              </a:tabLst>
            </a:pPr>
            <a:r>
              <a:rPr dirty="0" u="sng" b="0">
                <a:uFill>
                  <a:solidFill>
                    <a:srgbClr val="3F3F3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pc="-254" b="0">
                <a:uFill>
                  <a:solidFill>
                    <a:srgbClr val="3F3F3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pc="-30">
                <a:uFill>
                  <a:solidFill>
                    <a:srgbClr val="3F3F3F"/>
                  </a:solidFill>
                </a:uFill>
              </a:rPr>
              <a:t>NATURAL</a:t>
            </a:r>
            <a:r>
              <a:rPr dirty="0" u="sng" spc="-240">
                <a:uFill>
                  <a:solidFill>
                    <a:srgbClr val="3F3F3F"/>
                  </a:solidFill>
                </a:uFill>
              </a:rPr>
              <a:t> </a:t>
            </a:r>
            <a:r>
              <a:rPr dirty="0" u="sng" spc="-5">
                <a:uFill>
                  <a:solidFill>
                    <a:srgbClr val="3F3F3F"/>
                  </a:solidFill>
                </a:uFill>
              </a:rPr>
              <a:t>RUBBER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5490" y="1931907"/>
            <a:ext cx="7797165" cy="3780154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354965" marR="225425" indent="-342900">
              <a:lnSpc>
                <a:spcPts val="2380"/>
              </a:lnSpc>
              <a:spcBef>
                <a:spcPts val="3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As it becomes soft at higher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temperature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and brittle at lower 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temperature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,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can be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used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in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temperature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range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of</a:t>
            </a:r>
            <a:r>
              <a:rPr dirty="0" sz="2200" spc="9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10-60’C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It is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weak with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very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low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tensile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strength</a:t>
            </a:r>
            <a:r>
              <a:rPr dirty="0" sz="2200" spc="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It has large water absorption capacity</a:t>
            </a:r>
            <a:r>
              <a:rPr dirty="0" sz="2200" spc="-2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54965" marR="582295" indent="-342900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It is non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–resistant to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non polar solvent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like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vegetable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and 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mineral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oil, gasoline,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benzene</a:t>
            </a:r>
            <a:r>
              <a:rPr dirty="0" sz="2200" spc="6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etc.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ts val="2510"/>
              </a:lnSpc>
              <a:spcBef>
                <a:spcPts val="2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It is attacked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by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oxidizing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agent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like nitric acid, sulphuric</a:t>
            </a:r>
            <a:r>
              <a:rPr dirty="0" sz="2200" spc="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acid</a:t>
            </a:r>
            <a:endParaRPr sz="2200">
              <a:latin typeface="Times New Roman"/>
              <a:cs typeface="Times New Roman"/>
            </a:endParaRPr>
          </a:p>
          <a:p>
            <a:pPr marL="354965">
              <a:lnSpc>
                <a:spcPts val="2510"/>
              </a:lnSpc>
            </a:pP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,chromic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acid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,etc.</a:t>
            </a: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It has light</a:t>
            </a:r>
            <a:r>
              <a:rPr dirty="0" sz="2200" spc="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200" spc="-15" b="1">
                <a:solidFill>
                  <a:srgbClr val="001F60"/>
                </a:solidFill>
                <a:latin typeface="Times New Roman"/>
                <a:cs typeface="Times New Roman"/>
              </a:rPr>
              <a:t>durability.</a:t>
            </a:r>
            <a:endParaRPr sz="2200">
              <a:latin typeface="Times New Roman"/>
              <a:cs typeface="Times New Roman"/>
            </a:endParaRPr>
          </a:p>
          <a:p>
            <a:pPr marL="354965" marR="134620" indent="-342900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If </a:t>
            </a:r>
            <a:r>
              <a:rPr dirty="0" sz="2200" spc="-15" b="1">
                <a:solidFill>
                  <a:srgbClr val="001F60"/>
                </a:solidFill>
                <a:latin typeface="Times New Roman"/>
                <a:cs typeface="Times New Roman"/>
              </a:rPr>
              <a:t>stretched </a:t>
            </a:r>
            <a:r>
              <a:rPr dirty="0" sz="2200" spc="5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a </a:t>
            </a:r>
            <a:r>
              <a:rPr dirty="0" sz="2200" spc="-15" b="1">
                <a:solidFill>
                  <a:srgbClr val="001F60"/>
                </a:solidFill>
                <a:latin typeface="Times New Roman"/>
                <a:cs typeface="Times New Roman"/>
              </a:rPr>
              <a:t>great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extent ,suffers permanent deformation,  because of sliding of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some </a:t>
            </a:r>
            <a:r>
              <a:rPr dirty="0" sz="2200" spc="-5" b="1">
                <a:solidFill>
                  <a:srgbClr val="001F60"/>
                </a:solidFill>
                <a:latin typeface="Times New Roman"/>
                <a:cs typeface="Times New Roman"/>
              </a:rPr>
              <a:t>molecular chains </a:t>
            </a:r>
            <a:r>
              <a:rPr dirty="0" sz="2200" b="1">
                <a:solidFill>
                  <a:srgbClr val="001F60"/>
                </a:solidFill>
                <a:latin typeface="Times New Roman"/>
                <a:cs typeface="Times New Roman"/>
              </a:rPr>
              <a:t>over </a:t>
            </a:r>
            <a:r>
              <a:rPr dirty="0" sz="2200" spc="-10" b="1">
                <a:solidFill>
                  <a:srgbClr val="001F60"/>
                </a:solidFill>
                <a:latin typeface="Times New Roman"/>
                <a:cs typeface="Times New Roman"/>
              </a:rPr>
              <a:t>each</a:t>
            </a:r>
            <a:r>
              <a:rPr dirty="0" sz="2200" spc="-2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200" spc="-35" b="1">
                <a:solidFill>
                  <a:srgbClr val="001F60"/>
                </a:solidFill>
                <a:latin typeface="Times New Roman"/>
                <a:cs typeface="Times New Roman"/>
              </a:rPr>
              <a:t>other.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3779" y="6871236"/>
            <a:ext cx="22415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5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64586" y="6842166"/>
            <a:ext cx="391985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Mrs. Rupal Agme-Jadhav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53" y="1029689"/>
            <a:ext cx="49104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5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000" spc="-210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2000" spc="204" b="1">
                <a:solidFill>
                  <a:srgbClr val="FFFFFF"/>
                </a:solidFill>
                <a:latin typeface="Georgia"/>
                <a:cs typeface="Georgia"/>
              </a:rPr>
              <a:t>1 </a:t>
            </a:r>
            <a:r>
              <a:rPr dirty="0" sz="2000" spc="-155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000" spc="-135" b="1">
                <a:solidFill>
                  <a:srgbClr val="FFFFFF"/>
                </a:solidFill>
                <a:latin typeface="Georgia"/>
                <a:cs typeface="Georgia"/>
              </a:rPr>
              <a:t>name:Applied</a:t>
            </a:r>
            <a:r>
              <a:rPr dirty="0" sz="2000" spc="-21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0" b="1">
                <a:solidFill>
                  <a:srgbClr val="FFFFFF"/>
                </a:solidFill>
                <a:latin typeface="Georgia"/>
                <a:cs typeface="Georgia"/>
              </a:rPr>
              <a:t>Chemistry-1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82367" y="2875168"/>
            <a:ext cx="6737984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Lecture </a:t>
            </a:r>
            <a:r>
              <a:rPr dirty="0" sz="4800" spc="-505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4800" spc="-405" b="1">
                <a:solidFill>
                  <a:srgbClr val="FFFFFF"/>
                </a:solidFill>
                <a:latin typeface="Georgia"/>
                <a:cs typeface="Georgia"/>
              </a:rPr>
              <a:t>8  </a:t>
            </a:r>
            <a:r>
              <a:rPr dirty="0" sz="4800" spc="-330" b="1">
                <a:solidFill>
                  <a:srgbClr val="FFFFFF"/>
                </a:solidFill>
                <a:latin typeface="Georgia"/>
                <a:cs typeface="Georgia"/>
              </a:rPr>
              <a:t>Vulcanisation </a:t>
            </a: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dirty="0" sz="4800" spc="-6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355" b="1">
                <a:solidFill>
                  <a:srgbClr val="FFFFFF"/>
                </a:solidFill>
                <a:latin typeface="Georgia"/>
                <a:cs typeface="Georgia"/>
              </a:rPr>
              <a:t>Rubber</a:t>
            </a:r>
            <a:endParaRPr sz="4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77" y="767603"/>
            <a:ext cx="54603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">
                <a:solidFill>
                  <a:srgbClr val="FF0000"/>
                </a:solidFill>
              </a:rPr>
              <a:t>DRAWBACKS </a:t>
            </a:r>
            <a:r>
              <a:rPr dirty="0" sz="2400">
                <a:solidFill>
                  <a:srgbClr val="FF0000"/>
                </a:solidFill>
              </a:rPr>
              <a:t>OF </a:t>
            </a:r>
            <a:r>
              <a:rPr dirty="0" sz="2400" spc="-30">
                <a:solidFill>
                  <a:srgbClr val="FF0000"/>
                </a:solidFill>
              </a:rPr>
              <a:t>NATURAL</a:t>
            </a:r>
            <a:r>
              <a:rPr dirty="0" sz="2400" spc="-220">
                <a:solidFill>
                  <a:srgbClr val="FF0000"/>
                </a:solidFill>
              </a:rPr>
              <a:t> </a:t>
            </a:r>
            <a:r>
              <a:rPr dirty="0" sz="2400" spc="-10">
                <a:solidFill>
                  <a:srgbClr val="FF0000"/>
                </a:solidFill>
              </a:rPr>
              <a:t>RUBBER.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64205" y="1764243"/>
            <a:ext cx="7695565" cy="339090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400" spc="-35" b="1">
                <a:solidFill>
                  <a:srgbClr val="001F60"/>
                </a:solidFill>
                <a:latin typeface="Times New Roman"/>
                <a:cs typeface="Times New Roman"/>
              </a:rPr>
              <a:t>DRAWBACKS </a:t>
            </a:r>
            <a:r>
              <a:rPr dirty="0" sz="2400" spc="10" b="1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dirty="0" sz="2400" spc="-35" b="1">
                <a:solidFill>
                  <a:srgbClr val="001F60"/>
                </a:solidFill>
                <a:latin typeface="Times New Roman"/>
                <a:cs typeface="Times New Roman"/>
              </a:rPr>
              <a:t>NATURAL</a:t>
            </a:r>
            <a:r>
              <a:rPr dirty="0" sz="2400" spc="-19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RUBBER.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355600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It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has large water absorption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capacity.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355600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It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has little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durability.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Georgia"/>
              <a:buChar char=""/>
              <a:tabLst>
                <a:tab pos="355600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It is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non-resistant to non-polar</a:t>
            </a:r>
            <a:r>
              <a:rPr dirty="0" sz="2400" spc="-7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solvents.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355600" algn="l"/>
              </a:tabLst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It is attacked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by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oxidizing agents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like nitric acid,</a:t>
            </a:r>
            <a:r>
              <a:rPr dirty="0" sz="2400" spc="-7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conc.</a:t>
            </a:r>
            <a:endParaRPr sz="24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tabLst>
                <a:tab pos="2488565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Sulphuric</a:t>
            </a:r>
            <a:r>
              <a:rPr dirty="0" sz="24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acid,	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chromic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acid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Font typeface="Georgia"/>
              <a:buChar char=""/>
              <a:tabLst>
                <a:tab pos="429895" algn="l"/>
                <a:tab pos="430530" algn="l"/>
              </a:tabLst>
            </a:pPr>
            <a:r>
              <a:rPr dirty="0"/>
              <a:t>	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It is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non-resistant </a:t>
            </a:r>
            <a:r>
              <a:rPr dirty="0" sz="2400" spc="5" b="1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non-polar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solvents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like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vegetable</a:t>
            </a:r>
            <a:r>
              <a:rPr dirty="0" sz="2400" spc="-1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&amp;  mineral</a:t>
            </a:r>
            <a:r>
              <a:rPr dirty="0" sz="2400" spc="-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oils.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5</a:t>
            </a:r>
            <a:r>
              <a:rPr dirty="0" spc="75"/>
              <a:t>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77" y="767603"/>
            <a:ext cx="46126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8185" algn="l"/>
              </a:tabLst>
            </a:pPr>
            <a:r>
              <a:rPr dirty="0" sz="2400" spc="-10">
                <a:solidFill>
                  <a:srgbClr val="FF0000"/>
                </a:solidFill>
              </a:rPr>
              <a:t>VU</a:t>
            </a:r>
            <a:r>
              <a:rPr dirty="0" sz="2400" spc="-20">
                <a:solidFill>
                  <a:srgbClr val="FF0000"/>
                </a:solidFill>
              </a:rPr>
              <a:t>L</a:t>
            </a:r>
            <a:r>
              <a:rPr dirty="0" sz="2400" spc="15">
                <a:solidFill>
                  <a:srgbClr val="FF0000"/>
                </a:solidFill>
              </a:rPr>
              <a:t>C</a:t>
            </a:r>
            <a:r>
              <a:rPr dirty="0" sz="2400" spc="-10">
                <a:solidFill>
                  <a:srgbClr val="FF0000"/>
                </a:solidFill>
              </a:rPr>
              <a:t>AN</a:t>
            </a:r>
            <a:r>
              <a:rPr dirty="0" sz="2400">
                <a:solidFill>
                  <a:srgbClr val="FF0000"/>
                </a:solidFill>
              </a:rPr>
              <a:t>I</a:t>
            </a:r>
            <a:r>
              <a:rPr dirty="0" sz="2400" spc="5">
                <a:solidFill>
                  <a:srgbClr val="FF0000"/>
                </a:solidFill>
              </a:rPr>
              <a:t>Z</a:t>
            </a:r>
            <a:r>
              <a:rPr dirty="0" sz="2400" spc="-200">
                <a:solidFill>
                  <a:srgbClr val="FF0000"/>
                </a:solidFill>
              </a:rPr>
              <a:t>A</a:t>
            </a:r>
            <a:r>
              <a:rPr dirty="0" sz="2400" spc="5">
                <a:solidFill>
                  <a:srgbClr val="FF0000"/>
                </a:solidFill>
              </a:rPr>
              <a:t>T</a:t>
            </a:r>
            <a:r>
              <a:rPr dirty="0" sz="2400">
                <a:solidFill>
                  <a:srgbClr val="FF0000"/>
                </a:solidFill>
              </a:rPr>
              <a:t>I</a:t>
            </a:r>
            <a:r>
              <a:rPr dirty="0" sz="2400" spc="5">
                <a:solidFill>
                  <a:srgbClr val="FF0000"/>
                </a:solidFill>
              </a:rPr>
              <a:t>O</a:t>
            </a:r>
            <a:r>
              <a:rPr dirty="0" sz="2400">
                <a:solidFill>
                  <a:srgbClr val="FF0000"/>
                </a:solidFill>
              </a:rPr>
              <a:t>N</a:t>
            </a:r>
            <a:r>
              <a:rPr dirty="0" sz="2400" spc="40">
                <a:solidFill>
                  <a:srgbClr val="FF0000"/>
                </a:solidFill>
              </a:rPr>
              <a:t> </a:t>
            </a:r>
            <a:r>
              <a:rPr dirty="0" sz="2400" spc="5">
                <a:solidFill>
                  <a:srgbClr val="FF0000"/>
                </a:solidFill>
              </a:rPr>
              <a:t>O</a:t>
            </a:r>
            <a:r>
              <a:rPr dirty="0" sz="2400">
                <a:solidFill>
                  <a:srgbClr val="FF0000"/>
                </a:solidFill>
              </a:rPr>
              <a:t>F	</a:t>
            </a:r>
            <a:r>
              <a:rPr dirty="0" sz="2400" spc="-10">
                <a:solidFill>
                  <a:srgbClr val="FF0000"/>
                </a:solidFill>
              </a:rPr>
              <a:t>R</a:t>
            </a:r>
            <a:r>
              <a:rPr dirty="0" sz="2400" spc="-30">
                <a:solidFill>
                  <a:srgbClr val="FF0000"/>
                </a:solidFill>
              </a:rPr>
              <a:t>U</a:t>
            </a:r>
            <a:r>
              <a:rPr dirty="0" sz="2400" spc="5">
                <a:solidFill>
                  <a:srgbClr val="FF0000"/>
                </a:solidFill>
              </a:rPr>
              <a:t>BB</a:t>
            </a:r>
            <a:r>
              <a:rPr dirty="0" sz="2400" spc="-20">
                <a:solidFill>
                  <a:srgbClr val="FF0000"/>
                </a:solidFill>
              </a:rPr>
              <a:t>E</a:t>
            </a:r>
            <a:r>
              <a:rPr dirty="0" sz="2400" spc="-10">
                <a:solidFill>
                  <a:srgbClr val="FF0000"/>
                </a:solidFill>
              </a:rPr>
              <a:t>R</a:t>
            </a:r>
            <a:r>
              <a:rPr dirty="0" sz="2400">
                <a:solidFill>
                  <a:srgbClr val="FF0000"/>
                </a:solidFill>
              </a:rPr>
              <a:t>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964205" y="1837377"/>
            <a:ext cx="7969250" cy="1927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422909" indent="-342900">
              <a:lnSpc>
                <a:spcPct val="100000"/>
              </a:lnSpc>
              <a:spcBef>
                <a:spcPts val="100"/>
              </a:spcBef>
              <a:buFont typeface="Georgia"/>
              <a:buChar char=""/>
              <a:tabLst>
                <a:tab pos="355600" algn="l"/>
              </a:tabLst>
            </a:pP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Vulcanization </a:t>
            </a:r>
            <a:r>
              <a:rPr dirty="0" sz="2400" spc="10" b="1">
                <a:solidFill>
                  <a:srgbClr val="001F60"/>
                </a:solidFill>
                <a:latin typeface="Times New Roman"/>
                <a:cs typeface="Times New Roman"/>
              </a:rPr>
              <a:t>is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used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in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rubber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technology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to</a:t>
            </a:r>
            <a:r>
              <a:rPr dirty="0" sz="2400" spc="-9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overcome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the drawbacks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rubber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&amp;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make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it 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more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&amp; 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more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commercially</a:t>
            </a:r>
            <a:r>
              <a:rPr dirty="0" sz="2400" spc="-5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usable.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Font typeface="Georgia"/>
              <a:buChar char=""/>
              <a:tabLst>
                <a:tab pos="355600" algn="l"/>
              </a:tabLst>
            </a:pPr>
            <a:r>
              <a:rPr dirty="0" sz="2400" spc="-120" b="1">
                <a:solidFill>
                  <a:srgbClr val="001F60"/>
                </a:solidFill>
                <a:latin typeface="Times New Roman"/>
                <a:cs typeface="Times New Roman"/>
              </a:rPr>
              <a:t>To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improve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properties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dirty="0" sz="2400" spc="-35" b="1">
                <a:solidFill>
                  <a:srgbClr val="001F60"/>
                </a:solidFill>
                <a:latin typeface="Times New Roman"/>
                <a:cs typeface="Times New Roman"/>
              </a:rPr>
              <a:t>rubber,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it 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compounded with 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certain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chemicals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like </a:t>
            </a:r>
            <a:r>
              <a:rPr dirty="0" sz="2400" spc="-35" b="1">
                <a:solidFill>
                  <a:srgbClr val="001F60"/>
                </a:solidFill>
                <a:latin typeface="Times New Roman"/>
                <a:cs typeface="Times New Roman"/>
              </a:rPr>
              <a:t>sulphur,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benzoyl chloride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5</a:t>
            </a:r>
            <a:r>
              <a:rPr dirty="0" spc="75"/>
              <a:t>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3" name="object 3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92619" y="950513"/>
            <a:ext cx="8000365" cy="5233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solidFill>
                  <a:srgbClr val="9E1C33"/>
                </a:solidFill>
                <a:latin typeface="Times New Roman"/>
                <a:cs typeface="Times New Roman"/>
              </a:rPr>
              <a:t>VULCANIATION </a:t>
            </a:r>
            <a:r>
              <a:rPr dirty="0" sz="2400" b="1">
                <a:solidFill>
                  <a:srgbClr val="9E1C33"/>
                </a:solidFill>
                <a:latin typeface="Times New Roman"/>
                <a:cs typeface="Times New Roman"/>
              </a:rPr>
              <a:t>OF</a:t>
            </a:r>
            <a:r>
              <a:rPr dirty="0" sz="2400" spc="-45" b="1">
                <a:solidFill>
                  <a:srgbClr val="9E1C33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9E1C33"/>
                </a:solidFill>
                <a:latin typeface="Times New Roman"/>
                <a:cs typeface="Times New Roman"/>
              </a:rPr>
              <a:t>RUBBER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354965" marR="205104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  <a:tab pos="3040380" algn="l"/>
                <a:tab pos="4701540" algn="l"/>
              </a:tabLst>
            </a:pP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Vulcanization </a:t>
            </a:r>
            <a:r>
              <a:rPr dirty="0" sz="2400" spc="10" b="1">
                <a:solidFill>
                  <a:srgbClr val="001F60"/>
                </a:solidFill>
                <a:latin typeface="Times New Roman"/>
                <a:cs typeface="Times New Roman"/>
              </a:rPr>
              <a:t>is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very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widely used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in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rubber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technology</a:t>
            </a:r>
            <a:r>
              <a:rPr dirty="0" sz="2400" spc="-1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to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effect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cross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linking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for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removing	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drawbacks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natural  rubber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for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imparting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properties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to rubber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, various  additives</a:t>
            </a:r>
            <a:r>
              <a:rPr dirty="0" sz="2400" spc="-2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are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added	as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 follows:-</a:t>
            </a:r>
            <a:endParaRPr sz="24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57505" algn="l"/>
                <a:tab pos="5711825" algn="l"/>
              </a:tabLst>
            </a:pP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Vulcanising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agent: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most</a:t>
            </a:r>
            <a:r>
              <a:rPr dirty="0" sz="2400" spc="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commonly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used	vulcanizing</a:t>
            </a:r>
            <a:r>
              <a:rPr dirty="0" sz="2400" spc="-5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agent 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is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sulphur and benzoyl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chloride.</a:t>
            </a:r>
            <a:endParaRPr sz="2400">
              <a:latin typeface="Times New Roman"/>
              <a:cs typeface="Times New Roman"/>
            </a:endParaRPr>
          </a:p>
          <a:p>
            <a:pPr marL="354965" marR="205104" indent="-3429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57505" algn="l"/>
              </a:tabLst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Accelerator: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They </a:t>
            </a:r>
            <a:r>
              <a:rPr dirty="0" sz="2400" spc="-20" b="1">
                <a:solidFill>
                  <a:srgbClr val="001F60"/>
                </a:solidFill>
                <a:latin typeface="Times New Roman"/>
                <a:cs typeface="Times New Roman"/>
              </a:rPr>
              <a:t>are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meant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for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catalising the  vulcanization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process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thus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reducing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the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time </a:t>
            </a:r>
            <a:r>
              <a:rPr dirty="0" sz="2400" spc="-15" b="1">
                <a:solidFill>
                  <a:srgbClr val="001F60"/>
                </a:solidFill>
                <a:latin typeface="Times New Roman"/>
                <a:cs typeface="Times New Roman"/>
              </a:rPr>
              <a:t>required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for  vulcanization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.the inorganic accelerator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include </a:t>
            </a:r>
            <a:r>
              <a:rPr dirty="0" sz="2400" spc="5" b="1">
                <a:solidFill>
                  <a:srgbClr val="001F60"/>
                </a:solidFill>
                <a:latin typeface="Times New Roman"/>
                <a:cs typeface="Times New Roman"/>
              </a:rPr>
              <a:t>lime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,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magnesia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,litharge and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white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lead </a:t>
            </a:r>
            <a:r>
              <a:rPr dirty="0" sz="2400" spc="-10" b="1">
                <a:solidFill>
                  <a:srgbClr val="001F60"/>
                </a:solidFill>
                <a:latin typeface="Times New Roman"/>
                <a:cs typeface="Times New Roman"/>
              </a:rPr>
              <a:t>whereas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organic  accelerators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include aldehyde </a:t>
            </a:r>
            <a:r>
              <a:rPr dirty="0" sz="2400" b="1">
                <a:solidFill>
                  <a:srgbClr val="001F60"/>
                </a:solidFill>
                <a:latin typeface="Times New Roman"/>
                <a:cs typeface="Times New Roman"/>
              </a:rPr>
              <a:t>, amines , thiocarbamates  </a:t>
            </a:r>
            <a:r>
              <a:rPr dirty="0" sz="2400" spc="-5" b="1">
                <a:solidFill>
                  <a:srgbClr val="001F60"/>
                </a:solidFill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5</a:t>
            </a:r>
            <a:r>
              <a:rPr dirty="0" spc="75"/>
              <a:t>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77" y="950513"/>
            <a:ext cx="42602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VULCANIATION </a:t>
            </a:r>
            <a:r>
              <a:rPr dirty="0" sz="2400"/>
              <a:t>OF</a:t>
            </a:r>
            <a:r>
              <a:rPr dirty="0" sz="2400" spc="-120"/>
              <a:t> </a:t>
            </a:r>
            <a:r>
              <a:rPr dirty="0" sz="2400" spc="-5"/>
              <a:t>RUBBER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75503" y="1962343"/>
            <a:ext cx="7904480" cy="32753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528320" algn="l"/>
                <a:tab pos="528955" algn="l"/>
              </a:tabLst>
            </a:pP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Antioxidants: </a:t>
            </a:r>
            <a:r>
              <a:rPr dirty="0" sz="2600" spc="-5" b="1">
                <a:latin typeface="Times New Roman"/>
                <a:cs typeface="Times New Roman"/>
              </a:rPr>
              <a:t>these </a:t>
            </a:r>
            <a:r>
              <a:rPr dirty="0" sz="2600" spc="-15" b="1">
                <a:latin typeface="Times New Roman"/>
                <a:cs typeface="Times New Roman"/>
              </a:rPr>
              <a:t>are </a:t>
            </a:r>
            <a:r>
              <a:rPr dirty="0" sz="2600" b="1">
                <a:latin typeface="Times New Roman"/>
                <a:cs typeface="Times New Roman"/>
              </a:rPr>
              <a:t>the substances </a:t>
            </a:r>
            <a:r>
              <a:rPr dirty="0" sz="2600" spc="-5" b="1">
                <a:latin typeface="Times New Roman"/>
                <a:cs typeface="Times New Roman"/>
              </a:rPr>
              <a:t>when </a:t>
            </a:r>
            <a:r>
              <a:rPr dirty="0" sz="2600" spc="-10" b="1">
                <a:latin typeface="Times New Roman"/>
                <a:cs typeface="Times New Roman"/>
              </a:rPr>
              <a:t>used </a:t>
            </a:r>
            <a:r>
              <a:rPr dirty="0" sz="2600" b="1">
                <a:latin typeface="Times New Roman"/>
                <a:cs typeface="Times New Roman"/>
              </a:rPr>
              <a:t>in  small </a:t>
            </a:r>
            <a:r>
              <a:rPr dirty="0" sz="2600" spc="-5" b="1">
                <a:latin typeface="Times New Roman"/>
                <a:cs typeface="Times New Roman"/>
              </a:rPr>
              <a:t>quantities retardthe </a:t>
            </a:r>
            <a:r>
              <a:rPr dirty="0" sz="2600" b="1">
                <a:latin typeface="Times New Roman"/>
                <a:cs typeface="Times New Roman"/>
              </a:rPr>
              <a:t>deterioration of rubber  </a:t>
            </a:r>
            <a:r>
              <a:rPr dirty="0" sz="2600" spc="5" b="1">
                <a:latin typeface="Times New Roman"/>
                <a:cs typeface="Times New Roman"/>
              </a:rPr>
              <a:t>by </a:t>
            </a:r>
            <a:r>
              <a:rPr dirty="0" sz="2600" spc="-5" b="1">
                <a:latin typeface="Times New Roman"/>
                <a:cs typeface="Times New Roman"/>
              </a:rPr>
              <a:t>light </a:t>
            </a:r>
            <a:r>
              <a:rPr dirty="0" sz="2600" b="1">
                <a:latin typeface="Times New Roman"/>
                <a:cs typeface="Times New Roman"/>
              </a:rPr>
              <a:t>and air . They </a:t>
            </a:r>
            <a:r>
              <a:rPr dirty="0" sz="2600" spc="-20" b="1">
                <a:latin typeface="Times New Roman"/>
                <a:cs typeface="Times New Roman"/>
              </a:rPr>
              <a:t>are </a:t>
            </a:r>
            <a:r>
              <a:rPr dirty="0" sz="2600" spc="-5" b="1">
                <a:latin typeface="Times New Roman"/>
                <a:cs typeface="Times New Roman"/>
              </a:rPr>
              <a:t>complex </a:t>
            </a:r>
            <a:r>
              <a:rPr dirty="0" sz="2600" spc="5" b="1">
                <a:latin typeface="Times New Roman"/>
                <a:cs typeface="Times New Roman"/>
              </a:rPr>
              <a:t>organic </a:t>
            </a:r>
            <a:r>
              <a:rPr dirty="0" sz="2600" b="1">
                <a:latin typeface="Times New Roman"/>
                <a:cs typeface="Times New Roman"/>
              </a:rPr>
              <a:t>amines  </a:t>
            </a:r>
            <a:r>
              <a:rPr dirty="0" sz="2600" spc="-5" b="1">
                <a:latin typeface="Times New Roman"/>
                <a:cs typeface="Times New Roman"/>
              </a:rPr>
              <a:t>like </a:t>
            </a:r>
            <a:r>
              <a:rPr dirty="0" sz="2600" spc="5" b="1">
                <a:latin typeface="Times New Roman"/>
                <a:cs typeface="Times New Roman"/>
              </a:rPr>
              <a:t>phenyl </a:t>
            </a:r>
            <a:r>
              <a:rPr dirty="0" sz="2600" b="1">
                <a:latin typeface="Times New Roman"/>
                <a:cs typeface="Times New Roman"/>
              </a:rPr>
              <a:t>naphthyl amine , phenolic </a:t>
            </a:r>
            <a:r>
              <a:rPr dirty="0" sz="2600" spc="-5" b="1">
                <a:latin typeface="Times New Roman"/>
                <a:cs typeface="Times New Roman"/>
              </a:rPr>
              <a:t>substance</a:t>
            </a:r>
            <a:r>
              <a:rPr dirty="0" sz="2600" spc="-90" b="1">
                <a:latin typeface="Times New Roman"/>
                <a:cs typeface="Times New Roman"/>
              </a:rPr>
              <a:t> </a:t>
            </a:r>
            <a:r>
              <a:rPr dirty="0" sz="2600" spc="5" b="1">
                <a:latin typeface="Times New Roman"/>
                <a:cs typeface="Times New Roman"/>
              </a:rPr>
              <a:t>and  </a:t>
            </a:r>
            <a:r>
              <a:rPr dirty="0" sz="2600" b="1">
                <a:latin typeface="Times New Roman"/>
                <a:cs typeface="Times New Roman"/>
              </a:rPr>
              <a:t>phosphites</a:t>
            </a:r>
            <a:r>
              <a:rPr dirty="0" sz="260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527685" marR="209550" indent="-515620">
              <a:lnSpc>
                <a:spcPct val="100000"/>
              </a:lnSpc>
              <a:spcBef>
                <a:spcPts val="625"/>
              </a:spcBef>
              <a:buAutoNum type="arabicPeriod" startAt="3"/>
              <a:tabLst>
                <a:tab pos="528320" algn="l"/>
                <a:tab pos="528955" algn="l"/>
              </a:tabLst>
            </a:pP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4.Reinforcing agents: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this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substances </a:t>
            </a:r>
            <a:r>
              <a:rPr dirty="0" sz="2600" spc="-20" b="1">
                <a:solidFill>
                  <a:srgbClr val="001F60"/>
                </a:solidFill>
                <a:latin typeface="Times New Roman"/>
                <a:cs typeface="Times New Roman"/>
              </a:rPr>
              <a:t>are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added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to 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give </a:t>
            </a:r>
            <a:r>
              <a:rPr dirty="0" sz="2600" spc="-10" b="1">
                <a:solidFill>
                  <a:srgbClr val="001F60"/>
                </a:solidFill>
                <a:latin typeface="Times New Roman"/>
                <a:cs typeface="Times New Roman"/>
              </a:rPr>
              <a:t>strength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,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rigidity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and </a:t>
            </a:r>
            <a:r>
              <a:rPr dirty="0" sz="2600" spc="-10" b="1">
                <a:solidFill>
                  <a:srgbClr val="001F60"/>
                </a:solidFill>
                <a:latin typeface="Times New Roman"/>
                <a:cs typeface="Times New Roman"/>
              </a:rPr>
              <a:t>retard </a:t>
            </a:r>
            <a:r>
              <a:rPr dirty="0" sz="2600" b="1">
                <a:solidFill>
                  <a:srgbClr val="001F60"/>
                </a:solidFill>
                <a:latin typeface="Times New Roman"/>
                <a:cs typeface="Times New Roman"/>
              </a:rPr>
              <a:t>the deterioration  of rubber </a:t>
            </a:r>
            <a:r>
              <a:rPr dirty="0" sz="2600" spc="5" b="1">
                <a:solidFill>
                  <a:srgbClr val="001F60"/>
                </a:solidFill>
                <a:latin typeface="Times New Roman"/>
                <a:cs typeface="Times New Roman"/>
              </a:rPr>
              <a:t>by </a:t>
            </a:r>
            <a:r>
              <a:rPr dirty="0" sz="2600" spc="-5" b="1">
                <a:solidFill>
                  <a:srgbClr val="001F60"/>
                </a:solidFill>
                <a:latin typeface="Times New Roman"/>
                <a:cs typeface="Times New Roman"/>
              </a:rPr>
              <a:t>light </a:t>
            </a:r>
            <a:r>
              <a:rPr dirty="0" sz="2600" spc="5" b="1">
                <a:solidFill>
                  <a:srgbClr val="001F60"/>
                </a:solidFill>
                <a:latin typeface="Times New Roman"/>
                <a:cs typeface="Times New Roman"/>
              </a:rPr>
              <a:t>and</a:t>
            </a:r>
            <a:r>
              <a:rPr dirty="0" sz="2600" spc="-135" b="1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dirty="0" sz="2600" spc="-60" b="1">
                <a:solidFill>
                  <a:srgbClr val="001F60"/>
                </a:solidFill>
                <a:latin typeface="Times New Roman"/>
                <a:cs typeface="Times New Roman"/>
              </a:rPr>
              <a:t>air.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3779" y="6880117"/>
            <a:ext cx="224154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6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077" y="950513"/>
            <a:ext cx="42602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/>
              <a:t>VULCANIATION </a:t>
            </a:r>
            <a:r>
              <a:rPr dirty="0" sz="2400"/>
              <a:t>OF</a:t>
            </a:r>
            <a:r>
              <a:rPr dirty="0" sz="2400" spc="-120"/>
              <a:t> </a:t>
            </a:r>
            <a:r>
              <a:rPr dirty="0" sz="2400" spc="-5"/>
              <a:t>RUBBER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75503" y="1883638"/>
            <a:ext cx="7330440" cy="216535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528320" algn="l"/>
              </a:tabLst>
            </a:pP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5.	</a:t>
            </a:r>
            <a:r>
              <a:rPr dirty="0" sz="2600" spc="-5" b="1">
                <a:solidFill>
                  <a:srgbClr val="FF0000"/>
                </a:solidFill>
                <a:latin typeface="Times New Roman"/>
                <a:cs typeface="Times New Roman"/>
              </a:rPr>
              <a:t>Inert filler</a:t>
            </a:r>
            <a:r>
              <a:rPr dirty="0" sz="2600" spc="-1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527685" marR="5080" indent="-21590">
              <a:lnSpc>
                <a:spcPct val="100000"/>
              </a:lnSpc>
              <a:spcBef>
                <a:spcPts val="625"/>
              </a:spcBef>
            </a:pPr>
            <a:r>
              <a:rPr dirty="0" sz="2600" spc="5" b="1">
                <a:latin typeface="Times New Roman"/>
                <a:cs typeface="Times New Roman"/>
              </a:rPr>
              <a:t>The </a:t>
            </a:r>
            <a:r>
              <a:rPr dirty="0" sz="2600" b="1">
                <a:latin typeface="Times New Roman"/>
                <a:cs typeface="Times New Roman"/>
              </a:rPr>
              <a:t>main function </a:t>
            </a:r>
            <a:r>
              <a:rPr dirty="0" sz="2600" spc="10" b="1">
                <a:latin typeface="Times New Roman"/>
                <a:cs typeface="Times New Roman"/>
              </a:rPr>
              <a:t>of </a:t>
            </a:r>
            <a:r>
              <a:rPr dirty="0" sz="2600" b="1">
                <a:latin typeface="Times New Roman"/>
                <a:cs typeface="Times New Roman"/>
              </a:rPr>
              <a:t>the inert </a:t>
            </a:r>
            <a:r>
              <a:rPr dirty="0" sz="2600" spc="-5" b="1">
                <a:latin typeface="Times New Roman"/>
                <a:cs typeface="Times New Roman"/>
              </a:rPr>
              <a:t>fillers </a:t>
            </a:r>
            <a:r>
              <a:rPr dirty="0" sz="2600" b="1">
                <a:latin typeface="Times New Roman"/>
                <a:cs typeface="Times New Roman"/>
              </a:rPr>
              <a:t>is </a:t>
            </a:r>
            <a:r>
              <a:rPr dirty="0" sz="2600" spc="-5" b="1">
                <a:latin typeface="Times New Roman"/>
                <a:cs typeface="Times New Roman"/>
              </a:rPr>
              <a:t>to </a:t>
            </a:r>
            <a:r>
              <a:rPr dirty="0" sz="2600" b="1">
                <a:latin typeface="Times New Roman"/>
                <a:cs typeface="Times New Roman"/>
              </a:rPr>
              <a:t>alter  physical </a:t>
            </a:r>
            <a:r>
              <a:rPr dirty="0" sz="2600" spc="-10" b="1">
                <a:latin typeface="Times New Roman"/>
                <a:cs typeface="Times New Roman"/>
              </a:rPr>
              <a:t>properties </a:t>
            </a:r>
            <a:r>
              <a:rPr dirty="0" sz="2600" spc="10" b="1">
                <a:latin typeface="Times New Roman"/>
                <a:cs typeface="Times New Roman"/>
              </a:rPr>
              <a:t>of </a:t>
            </a:r>
            <a:r>
              <a:rPr dirty="0" sz="2600" b="1">
                <a:latin typeface="Times New Roman"/>
                <a:cs typeface="Times New Roman"/>
              </a:rPr>
              <a:t>the </a:t>
            </a:r>
            <a:r>
              <a:rPr dirty="0" sz="2600" spc="-5" b="1">
                <a:latin typeface="Times New Roman"/>
                <a:cs typeface="Times New Roman"/>
              </a:rPr>
              <a:t>mix to </a:t>
            </a:r>
            <a:r>
              <a:rPr dirty="0" sz="2600" b="1">
                <a:latin typeface="Times New Roman"/>
                <a:cs typeface="Times New Roman"/>
              </a:rPr>
              <a:t>achieve  </a:t>
            </a:r>
            <a:r>
              <a:rPr dirty="0" sz="2600" spc="-5" b="1">
                <a:latin typeface="Times New Roman"/>
                <a:cs typeface="Times New Roman"/>
              </a:rPr>
              <a:t>simplification </a:t>
            </a:r>
            <a:r>
              <a:rPr dirty="0" sz="2600" spc="10" b="1">
                <a:latin typeface="Times New Roman"/>
                <a:cs typeface="Times New Roman"/>
              </a:rPr>
              <a:t>of </a:t>
            </a:r>
            <a:r>
              <a:rPr dirty="0" sz="2600" b="1">
                <a:latin typeface="Times New Roman"/>
                <a:cs typeface="Times New Roman"/>
              </a:rPr>
              <a:t>manufacturing operations </a:t>
            </a:r>
            <a:r>
              <a:rPr dirty="0" sz="2600" spc="10" b="1">
                <a:latin typeface="Times New Roman"/>
                <a:cs typeface="Times New Roman"/>
              </a:rPr>
              <a:t>or</a:t>
            </a:r>
            <a:r>
              <a:rPr dirty="0" sz="2600" spc="-180" b="1">
                <a:latin typeface="Times New Roman"/>
                <a:cs typeface="Times New Roman"/>
              </a:rPr>
              <a:t> </a:t>
            </a:r>
            <a:r>
              <a:rPr dirty="0" sz="2600" spc="-5" b="1">
                <a:latin typeface="Times New Roman"/>
                <a:cs typeface="Times New Roman"/>
              </a:rPr>
              <a:t>to  lower </a:t>
            </a:r>
            <a:r>
              <a:rPr dirty="0" sz="2600" b="1">
                <a:latin typeface="Times New Roman"/>
                <a:cs typeface="Times New Roman"/>
              </a:rPr>
              <a:t>the </a:t>
            </a:r>
            <a:r>
              <a:rPr dirty="0" sz="2600" spc="-5" b="1">
                <a:latin typeface="Times New Roman"/>
                <a:cs typeface="Times New Roman"/>
              </a:rPr>
              <a:t>cost </a:t>
            </a:r>
            <a:r>
              <a:rPr dirty="0" sz="2600" b="1">
                <a:latin typeface="Times New Roman"/>
                <a:cs typeface="Times New Roman"/>
              </a:rPr>
              <a:t>of</a:t>
            </a:r>
            <a:r>
              <a:rPr dirty="0" sz="2600" spc="-9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product.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3779" y="6880117"/>
            <a:ext cx="224154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6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4859" y="792480"/>
            <a:ext cx="8638032" cy="5326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45452" y="6039611"/>
            <a:ext cx="2555748" cy="12755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3429000"/>
            <a:chOff x="457200" y="457200"/>
            <a:chExt cx="9144000" cy="3429000"/>
          </a:xfrm>
        </p:grpSpPr>
        <p:sp>
          <p:nvSpPr>
            <p:cNvPr id="3" name="object 3"/>
            <p:cNvSpPr/>
            <p:nvPr/>
          </p:nvSpPr>
          <p:spPr>
            <a:xfrm>
              <a:off x="457200" y="457200"/>
              <a:ext cx="9144000" cy="3429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53440" y="1577339"/>
              <a:ext cx="8353425" cy="12700"/>
            </a:xfrm>
            <a:custGeom>
              <a:avLst/>
              <a:gdLst/>
              <a:ahLst/>
              <a:cxnLst/>
              <a:rect l="l" t="t" r="r" b="b"/>
              <a:pathLst>
                <a:path w="8353425" h="12700">
                  <a:moveTo>
                    <a:pt x="8353044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8353044" y="0"/>
                  </a:lnTo>
                  <a:lnTo>
                    <a:pt x="8353044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3153" y="1029689"/>
            <a:ext cx="491045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5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000" spc="-210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2000" spc="204">
                <a:solidFill>
                  <a:srgbClr val="FFFFFF"/>
                </a:solidFill>
                <a:latin typeface="Georgia"/>
                <a:cs typeface="Georgia"/>
              </a:rPr>
              <a:t>1 </a:t>
            </a:r>
            <a:r>
              <a:rPr dirty="0" sz="2000" spc="-155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000" spc="-135">
                <a:solidFill>
                  <a:srgbClr val="FFFFFF"/>
                </a:solidFill>
                <a:latin typeface="Georgia"/>
                <a:cs typeface="Georgia"/>
              </a:rPr>
              <a:t>name:Applied</a:t>
            </a:r>
            <a:r>
              <a:rPr dirty="0" sz="2000" spc="-21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0">
                <a:solidFill>
                  <a:srgbClr val="FFFFFF"/>
                </a:solidFill>
                <a:latin typeface="Georgia"/>
                <a:cs typeface="Georgia"/>
              </a:rPr>
              <a:t>Chemistry-1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" y="3886200"/>
            <a:ext cx="9144000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82367" y="2875168"/>
            <a:ext cx="691959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Lecture </a:t>
            </a:r>
            <a:r>
              <a:rPr dirty="0" sz="4800" spc="-505" b="1">
                <a:solidFill>
                  <a:srgbClr val="FFFFFF"/>
                </a:solidFill>
                <a:latin typeface="Georgia"/>
                <a:cs typeface="Georgia"/>
              </a:rPr>
              <a:t>No:</a:t>
            </a:r>
            <a:r>
              <a:rPr dirty="0" sz="4800" spc="-2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270" b="1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endParaRPr sz="4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4800" spc="-540" b="1">
                <a:solidFill>
                  <a:srgbClr val="FFFFFF"/>
                </a:solidFill>
                <a:latin typeface="Georgia"/>
                <a:cs typeface="Georgia"/>
              </a:rPr>
              <a:t>Buna–S </a:t>
            </a:r>
            <a:r>
              <a:rPr dirty="0" sz="4800" spc="-290" b="1">
                <a:solidFill>
                  <a:srgbClr val="FFFFFF"/>
                </a:solidFill>
                <a:latin typeface="Georgia"/>
                <a:cs typeface="Georgia"/>
              </a:rPr>
              <a:t>&amp; </a:t>
            </a:r>
            <a:r>
              <a:rPr dirty="0" sz="4800" spc="-330" b="1">
                <a:solidFill>
                  <a:srgbClr val="FFFFFF"/>
                </a:solidFill>
                <a:latin typeface="Georgia"/>
                <a:cs typeface="Georgia"/>
              </a:rPr>
              <a:t>Silicon</a:t>
            </a:r>
            <a:r>
              <a:rPr dirty="0" sz="4800" spc="-37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355" b="1">
                <a:solidFill>
                  <a:srgbClr val="FFFFFF"/>
                </a:solidFill>
                <a:latin typeface="Georgia"/>
                <a:cs typeface="Georgia"/>
              </a:rPr>
              <a:t>Rubber</a:t>
            </a:r>
            <a:endParaRPr sz="4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583435"/>
            <a:ext cx="9144000" cy="4364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1893" y="770580"/>
            <a:ext cx="5054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" b="0">
                <a:solidFill>
                  <a:srgbClr val="000000"/>
                </a:solidFill>
                <a:latin typeface="Times New Roman"/>
                <a:cs typeface="Times New Roman"/>
              </a:rPr>
              <a:t>Buna-S </a:t>
            </a:r>
            <a:r>
              <a:rPr dirty="0" sz="2400" spc="5" b="0">
                <a:solidFill>
                  <a:srgbClr val="000000"/>
                </a:solidFill>
                <a:latin typeface="Times New Roman"/>
                <a:cs typeface="Times New Roman"/>
              </a:rPr>
              <a:t>Or </a:t>
            </a:r>
            <a:r>
              <a:rPr dirty="0" sz="2400" spc="70" b="0">
                <a:solidFill>
                  <a:srgbClr val="000000"/>
                </a:solidFill>
                <a:latin typeface="Times New Roman"/>
                <a:cs typeface="Times New Roman"/>
              </a:rPr>
              <a:t>Styrene </a:t>
            </a:r>
            <a:r>
              <a:rPr dirty="0" sz="2400" spc="75" b="0">
                <a:solidFill>
                  <a:srgbClr val="000000"/>
                </a:solidFill>
                <a:latin typeface="Times New Roman"/>
                <a:cs typeface="Times New Roman"/>
              </a:rPr>
              <a:t>Rubber</a:t>
            </a:r>
            <a:r>
              <a:rPr dirty="0" sz="2400" spc="-42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400" spc="105" b="0">
                <a:solidFill>
                  <a:srgbClr val="000000"/>
                </a:solidFill>
                <a:latin typeface="Times New Roman"/>
                <a:cs typeface="Times New Roman"/>
              </a:rPr>
              <a:t>Preperation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6</a:t>
            </a:r>
            <a:r>
              <a:rPr dirty="0" spc="75"/>
              <a:t>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41" y="1594205"/>
            <a:ext cx="7861300" cy="356107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56235" indent="-34417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55600" algn="l"/>
                <a:tab pos="356870" algn="l"/>
              </a:tabLst>
            </a:pPr>
            <a:r>
              <a:rPr dirty="0" sz="2000" spc="-5">
                <a:latin typeface="Arial"/>
                <a:cs typeface="Arial"/>
              </a:rPr>
              <a:t>Properties</a:t>
            </a:r>
            <a:r>
              <a:rPr dirty="0" sz="2000" spc="-1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54965" marR="5080" indent="-3429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355600" algn="l"/>
                <a:tab pos="356870" algn="l"/>
              </a:tabLst>
            </a:pPr>
            <a:r>
              <a:rPr dirty="0" sz="2000" spc="-10">
                <a:latin typeface="Arial"/>
                <a:cs typeface="Arial"/>
              </a:rPr>
              <a:t>It </a:t>
            </a:r>
            <a:r>
              <a:rPr dirty="0" sz="2000">
                <a:latin typeface="Arial"/>
                <a:cs typeface="Arial"/>
              </a:rPr>
              <a:t>posses </a:t>
            </a:r>
            <a:r>
              <a:rPr dirty="0" sz="2000" spc="-5">
                <a:latin typeface="Arial"/>
                <a:cs typeface="Arial"/>
              </a:rPr>
              <a:t>high </a:t>
            </a:r>
            <a:r>
              <a:rPr dirty="0" sz="2000">
                <a:latin typeface="Arial"/>
                <a:cs typeface="Arial"/>
              </a:rPr>
              <a:t>abrasion resistance , </a:t>
            </a:r>
            <a:r>
              <a:rPr dirty="0" sz="2000" spc="-5">
                <a:latin typeface="Arial"/>
                <a:cs typeface="Arial"/>
              </a:rPr>
              <a:t>high load bearing </a:t>
            </a:r>
            <a:r>
              <a:rPr dirty="0" sz="2000">
                <a:latin typeface="Arial"/>
                <a:cs typeface="Arial"/>
              </a:rPr>
              <a:t>capacity</a:t>
            </a:r>
            <a:r>
              <a:rPr dirty="0" sz="2000" spc="-145">
                <a:latin typeface="Arial"/>
                <a:cs typeface="Arial"/>
              </a:rPr>
              <a:t> </a:t>
            </a:r>
            <a:r>
              <a:rPr dirty="0" sz="2000" spc="5">
                <a:latin typeface="Arial"/>
                <a:cs typeface="Arial"/>
              </a:rPr>
              <a:t>and  </a:t>
            </a:r>
            <a:r>
              <a:rPr dirty="0" sz="2000">
                <a:latin typeface="Arial"/>
                <a:cs typeface="Arial"/>
              </a:rPr>
              <a:t>resilience.</a:t>
            </a:r>
            <a:endParaRPr sz="2000">
              <a:latin typeface="Arial"/>
              <a:cs typeface="Arial"/>
            </a:endParaRPr>
          </a:p>
          <a:p>
            <a:pPr marL="356235" indent="-34417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355600" algn="l"/>
                <a:tab pos="356870" algn="l"/>
              </a:tabLst>
            </a:pPr>
            <a:r>
              <a:rPr dirty="0" sz="2000" spc="-10">
                <a:latin typeface="Arial"/>
                <a:cs typeface="Arial"/>
              </a:rPr>
              <a:t>It </a:t>
            </a:r>
            <a:r>
              <a:rPr dirty="0" sz="2000" spc="-5">
                <a:latin typeface="Arial"/>
                <a:cs typeface="Arial"/>
              </a:rPr>
              <a:t>gets </a:t>
            </a:r>
            <a:r>
              <a:rPr dirty="0" sz="2000">
                <a:latin typeface="Arial"/>
                <a:cs typeface="Arial"/>
              </a:rPr>
              <a:t>oxidized </a:t>
            </a:r>
            <a:r>
              <a:rPr dirty="0" sz="2000" spc="-5">
                <a:latin typeface="Arial"/>
                <a:cs typeface="Arial"/>
              </a:rPr>
              <a:t>in the </a:t>
            </a:r>
            <a:r>
              <a:rPr dirty="0" sz="2000">
                <a:latin typeface="Arial"/>
                <a:cs typeface="Arial"/>
              </a:rPr>
              <a:t>presence of traces of</a:t>
            </a:r>
            <a:r>
              <a:rPr dirty="0" sz="2000" spc="-1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ozone.</a:t>
            </a:r>
            <a:endParaRPr sz="2000">
              <a:latin typeface="Arial"/>
              <a:cs typeface="Arial"/>
            </a:endParaRPr>
          </a:p>
          <a:p>
            <a:pPr marL="356235" indent="-344170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355600" algn="l"/>
                <a:tab pos="356870" algn="l"/>
              </a:tabLst>
            </a:pPr>
            <a:r>
              <a:rPr dirty="0" sz="2000" spc="-10">
                <a:latin typeface="Arial"/>
                <a:cs typeface="Arial"/>
              </a:rPr>
              <a:t>It </a:t>
            </a:r>
            <a:r>
              <a:rPr dirty="0" sz="2000">
                <a:latin typeface="Arial"/>
                <a:cs typeface="Arial"/>
              </a:rPr>
              <a:t>swells </a:t>
            </a:r>
            <a:r>
              <a:rPr dirty="0" sz="2000" spc="-5">
                <a:latin typeface="Arial"/>
                <a:cs typeface="Arial"/>
              </a:rPr>
              <a:t>in </a:t>
            </a:r>
            <a:r>
              <a:rPr dirty="0" sz="2000">
                <a:latin typeface="Arial"/>
                <a:cs typeface="Arial"/>
              </a:rPr>
              <a:t>oil </a:t>
            </a:r>
            <a:r>
              <a:rPr dirty="0" sz="2000" spc="-5">
                <a:latin typeface="Arial"/>
                <a:cs typeface="Arial"/>
              </a:rPr>
              <a:t>and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solvents.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Arial"/>
                <a:cs typeface="Arial"/>
              </a:rPr>
              <a:t>Uses</a:t>
            </a:r>
            <a:endParaRPr sz="2000">
              <a:latin typeface="Arial"/>
              <a:cs typeface="Arial"/>
            </a:endParaRPr>
          </a:p>
          <a:p>
            <a:pPr marL="356235" indent="-34417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355600" algn="l"/>
                <a:tab pos="356870" algn="l"/>
              </a:tabLst>
            </a:pPr>
            <a:r>
              <a:rPr dirty="0" sz="2000" spc="-10">
                <a:latin typeface="Arial"/>
                <a:cs typeface="Arial"/>
              </a:rPr>
              <a:t>It </a:t>
            </a:r>
            <a:r>
              <a:rPr dirty="0" sz="2000" spc="-5">
                <a:latin typeface="Arial"/>
                <a:cs typeface="Arial"/>
              </a:rPr>
              <a:t>is </a:t>
            </a:r>
            <a:r>
              <a:rPr dirty="0" sz="2000">
                <a:latin typeface="Arial"/>
                <a:cs typeface="Arial"/>
              </a:rPr>
              <a:t>used </a:t>
            </a:r>
            <a:r>
              <a:rPr dirty="0" sz="2000" spc="-5">
                <a:latin typeface="Arial"/>
                <a:cs typeface="Arial"/>
              </a:rPr>
              <a:t>in the manufacturing </a:t>
            </a:r>
            <a:r>
              <a:rPr dirty="0" sz="2000">
                <a:latin typeface="Arial"/>
                <a:cs typeface="Arial"/>
              </a:rPr>
              <a:t>of </a:t>
            </a:r>
            <a:r>
              <a:rPr dirty="0" sz="2000" spc="-5">
                <a:latin typeface="Arial"/>
                <a:cs typeface="Arial"/>
              </a:rPr>
              <a:t>motor</a:t>
            </a:r>
            <a:r>
              <a:rPr dirty="0" sz="2000" spc="-1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tyres.</a:t>
            </a:r>
            <a:endParaRPr sz="2000">
              <a:latin typeface="Arial"/>
              <a:cs typeface="Arial"/>
            </a:endParaRPr>
          </a:p>
          <a:p>
            <a:pPr marL="354965" marR="546735" indent="-34290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355600" algn="l"/>
                <a:tab pos="356870" algn="l"/>
              </a:tabLst>
            </a:pPr>
            <a:r>
              <a:rPr dirty="0" sz="2000" spc="-10">
                <a:latin typeface="Arial"/>
                <a:cs typeface="Arial"/>
              </a:rPr>
              <a:t>It </a:t>
            </a:r>
            <a:r>
              <a:rPr dirty="0" sz="2000" spc="-5">
                <a:latin typeface="Arial"/>
                <a:cs typeface="Arial"/>
              </a:rPr>
              <a:t>is </a:t>
            </a:r>
            <a:r>
              <a:rPr dirty="0" sz="2000">
                <a:latin typeface="Arial"/>
                <a:cs typeface="Arial"/>
              </a:rPr>
              <a:t>used </a:t>
            </a:r>
            <a:r>
              <a:rPr dirty="0" sz="2000" spc="-5">
                <a:latin typeface="Arial"/>
                <a:cs typeface="Arial"/>
              </a:rPr>
              <a:t>for floor </a:t>
            </a:r>
            <a:r>
              <a:rPr dirty="0" sz="2000">
                <a:latin typeface="Arial"/>
                <a:cs typeface="Arial"/>
              </a:rPr>
              <a:t>tiles , shoe soles, </a:t>
            </a:r>
            <a:r>
              <a:rPr dirty="0" sz="2000" spc="5">
                <a:latin typeface="Arial"/>
                <a:cs typeface="Arial"/>
              </a:rPr>
              <a:t>wire and </a:t>
            </a:r>
            <a:r>
              <a:rPr dirty="0" sz="2000">
                <a:latin typeface="Arial"/>
                <a:cs typeface="Arial"/>
              </a:rPr>
              <a:t>cable insulation</a:t>
            </a:r>
            <a:r>
              <a:rPr dirty="0" sz="2000" spc="-2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,  </a:t>
            </a:r>
            <a:r>
              <a:rPr dirty="0" sz="2000" spc="-5">
                <a:latin typeface="Arial"/>
                <a:cs typeface="Arial"/>
              </a:rPr>
              <a:t>footwear </a:t>
            </a:r>
            <a:r>
              <a:rPr dirty="0" sz="2000">
                <a:latin typeface="Arial"/>
                <a:cs typeface="Arial"/>
              </a:rPr>
              <a:t>components , </a:t>
            </a:r>
            <a:r>
              <a:rPr dirty="0" sz="2000" spc="-5">
                <a:latin typeface="Arial"/>
                <a:cs typeface="Arial"/>
              </a:rPr>
              <a:t>adhesives 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etc.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6</a:t>
            </a:r>
            <a:r>
              <a:rPr dirty="0" spc="75"/>
              <a:t>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584959"/>
            <a:ext cx="9144000" cy="4533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3726" y="921501"/>
            <a:ext cx="2987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70">
                <a:latin typeface="Georgia"/>
                <a:cs typeface="Georgia"/>
              </a:rPr>
              <a:t>SILICONE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385">
                <a:latin typeface="Georgia"/>
                <a:cs typeface="Georgia"/>
              </a:rPr>
              <a:t>RUBBER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6</a:t>
            </a:r>
            <a:r>
              <a:rPr dirty="0" spc="75"/>
              <a:t>6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64649" y="6888126"/>
            <a:ext cx="2629535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400">
                <a:latin typeface="Arial"/>
                <a:cs typeface="Arial"/>
              </a:rPr>
              <a:t>Mrs. </a:t>
            </a:r>
            <a:r>
              <a:rPr dirty="0" sz="1400" spc="-5">
                <a:latin typeface="Arial"/>
                <a:cs typeface="Arial"/>
              </a:rPr>
              <a:t>Rupal </a:t>
            </a:r>
            <a:r>
              <a:rPr dirty="0" sz="1400">
                <a:latin typeface="Arial"/>
                <a:cs typeface="Arial"/>
              </a:rPr>
              <a:t>Agme-Jadhav</a:t>
            </a:r>
            <a:r>
              <a:rPr dirty="0" sz="1400" spc="-2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(Ph.D.)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53" y="1029689"/>
            <a:ext cx="49104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5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000" spc="-210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2000" spc="204" b="1">
                <a:solidFill>
                  <a:srgbClr val="FFFFFF"/>
                </a:solidFill>
                <a:latin typeface="Georgia"/>
                <a:cs typeface="Georgia"/>
              </a:rPr>
              <a:t>1 </a:t>
            </a:r>
            <a:r>
              <a:rPr dirty="0" sz="2000" spc="-155" b="1">
                <a:solidFill>
                  <a:srgbClr val="FFFFFF"/>
                </a:solidFill>
                <a:latin typeface="Georgia"/>
                <a:cs typeface="Georgia"/>
              </a:rPr>
              <a:t>Unit </a:t>
            </a:r>
            <a:r>
              <a:rPr dirty="0" sz="2000" spc="-135" b="1">
                <a:solidFill>
                  <a:srgbClr val="FFFFFF"/>
                </a:solidFill>
                <a:latin typeface="Georgia"/>
                <a:cs typeface="Georgia"/>
              </a:rPr>
              <a:t>name:Applied</a:t>
            </a:r>
            <a:r>
              <a:rPr dirty="0" sz="2000" spc="-210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000" spc="-100" b="1">
                <a:solidFill>
                  <a:srgbClr val="FFFFFF"/>
                </a:solidFill>
                <a:latin typeface="Georgia"/>
                <a:cs typeface="Georgia"/>
              </a:rPr>
              <a:t>Chemistry-1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82367" y="2875168"/>
            <a:ext cx="600646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Lecture </a:t>
            </a:r>
            <a:r>
              <a:rPr dirty="0" sz="4800" spc="-505" b="1">
                <a:solidFill>
                  <a:srgbClr val="FFFFFF"/>
                </a:solidFill>
                <a:latin typeface="Georgia"/>
                <a:cs typeface="Georgia"/>
              </a:rPr>
              <a:t>No: </a:t>
            </a:r>
            <a:r>
              <a:rPr dirty="0" sz="4800" spc="-25" b="1">
                <a:solidFill>
                  <a:srgbClr val="FFFFFF"/>
                </a:solidFill>
                <a:latin typeface="Georgia"/>
                <a:cs typeface="Georgia"/>
              </a:rPr>
              <a:t>10  </a:t>
            </a:r>
            <a:r>
              <a:rPr dirty="0" sz="4800" spc="-320" b="1">
                <a:solidFill>
                  <a:srgbClr val="FFFFFF"/>
                </a:solidFill>
                <a:latin typeface="Georgia"/>
                <a:cs typeface="Georgia"/>
              </a:rPr>
              <a:t>Polyurathane</a:t>
            </a:r>
            <a:r>
              <a:rPr dirty="0" sz="4800" spc="-235" b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4800" spc="-360" b="1">
                <a:solidFill>
                  <a:srgbClr val="FFFFFF"/>
                </a:solidFill>
                <a:latin typeface="Georgia"/>
                <a:cs typeface="Georgia"/>
              </a:rPr>
              <a:t>Rubber</a:t>
            </a:r>
            <a:endParaRPr sz="4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5720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7200" y="3886200"/>
            <a:ext cx="9144000" cy="21595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64586" y="6861366"/>
            <a:ext cx="3465829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Rupal Agme-Jadhav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6</a:t>
            </a:r>
            <a:r>
              <a:rPr dirty="0" spc="75"/>
              <a:t>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3" name="object 3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88116" y="1924349"/>
            <a:ext cx="7455534" cy="37973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280"/>
              </a:spcBef>
              <a:buChar char="•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Properties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They are stable to heat </a:t>
            </a:r>
            <a:r>
              <a:rPr dirty="0" sz="1500" spc="-5">
                <a:latin typeface="Arial"/>
                <a:cs typeface="Arial"/>
              </a:rPr>
              <a:t>in </a:t>
            </a:r>
            <a:r>
              <a:rPr dirty="0" sz="1500">
                <a:latin typeface="Arial"/>
                <a:cs typeface="Arial"/>
              </a:rPr>
              <a:t>temperature </a:t>
            </a:r>
            <a:r>
              <a:rPr dirty="0" sz="1500" spc="5">
                <a:latin typeface="Arial"/>
                <a:cs typeface="Arial"/>
              </a:rPr>
              <a:t>range 50-300 </a:t>
            </a:r>
            <a:r>
              <a:rPr dirty="0" sz="1500">
                <a:latin typeface="Arial"/>
                <a:cs typeface="Arial"/>
              </a:rPr>
              <a:t>C</a:t>
            </a:r>
            <a:r>
              <a:rPr dirty="0" sz="1500" spc="-19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They are chemically inert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They </a:t>
            </a:r>
            <a:r>
              <a:rPr dirty="0" sz="1500" spc="5">
                <a:latin typeface="Arial"/>
                <a:cs typeface="Arial"/>
              </a:rPr>
              <a:t>posses </a:t>
            </a:r>
            <a:r>
              <a:rPr dirty="0" sz="1500">
                <a:latin typeface="Arial"/>
                <a:cs typeface="Arial"/>
              </a:rPr>
              <a:t>electrical</a:t>
            </a:r>
            <a:r>
              <a:rPr dirty="0" sz="1500" spc="-10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insulation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They </a:t>
            </a:r>
            <a:r>
              <a:rPr dirty="0" sz="1500" spc="5">
                <a:latin typeface="Arial"/>
                <a:cs typeface="Arial"/>
              </a:rPr>
              <a:t>posses </a:t>
            </a:r>
            <a:r>
              <a:rPr dirty="0" sz="1500">
                <a:latin typeface="Arial"/>
                <a:cs typeface="Arial"/>
              </a:rPr>
              <a:t>water repellent</a:t>
            </a:r>
            <a:r>
              <a:rPr dirty="0" sz="1500" spc="-114">
                <a:latin typeface="Arial"/>
                <a:cs typeface="Arial"/>
              </a:rPr>
              <a:t> </a:t>
            </a:r>
            <a:r>
              <a:rPr dirty="0" sz="1500" spc="-5">
                <a:latin typeface="Arial"/>
                <a:cs typeface="Arial"/>
              </a:rPr>
              <a:t>character.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They are abrasion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resistant.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They are resistant to </a:t>
            </a:r>
            <a:r>
              <a:rPr dirty="0" sz="1500" spc="5">
                <a:latin typeface="Arial"/>
                <a:cs typeface="Arial"/>
              </a:rPr>
              <a:t>ozone </a:t>
            </a:r>
            <a:r>
              <a:rPr dirty="0" sz="1500">
                <a:latin typeface="Arial"/>
                <a:cs typeface="Arial"/>
              </a:rPr>
              <a:t>, </a:t>
            </a:r>
            <a:r>
              <a:rPr dirty="0" sz="1500" spc="-35">
                <a:latin typeface="Arial"/>
                <a:cs typeface="Arial"/>
              </a:rPr>
              <a:t>U.V. </a:t>
            </a:r>
            <a:r>
              <a:rPr dirty="0" sz="1500">
                <a:latin typeface="Arial"/>
                <a:cs typeface="Arial"/>
              </a:rPr>
              <a:t>light,</a:t>
            </a:r>
            <a:r>
              <a:rPr dirty="0" sz="1500" spc="-1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solvents.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3535" algn="l"/>
              </a:tabLst>
            </a:pPr>
            <a:r>
              <a:rPr dirty="0" sz="1500">
                <a:latin typeface="Arial"/>
                <a:cs typeface="Arial"/>
              </a:rPr>
              <a:t>They are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costly.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Their tensile strength can be increased by vulcanization</a:t>
            </a:r>
            <a:r>
              <a:rPr dirty="0" sz="1500" spc="-12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Char char="•"/>
              <a:tabLst>
                <a:tab pos="342265" algn="l"/>
                <a:tab pos="342900" algn="l"/>
              </a:tabLst>
            </a:pPr>
            <a:r>
              <a:rPr dirty="0" sz="1500" spc="-5">
                <a:latin typeface="Arial"/>
                <a:cs typeface="Arial"/>
              </a:rPr>
              <a:t>USES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 spc="-10">
                <a:latin typeface="Arial"/>
                <a:cs typeface="Arial"/>
              </a:rPr>
              <a:t>As </a:t>
            </a:r>
            <a:r>
              <a:rPr dirty="0" sz="1500">
                <a:latin typeface="Arial"/>
                <a:cs typeface="Arial"/>
              </a:rPr>
              <a:t>a </a:t>
            </a:r>
            <a:r>
              <a:rPr dirty="0" sz="1500" spc="5">
                <a:latin typeface="Arial"/>
                <a:cs typeface="Arial"/>
              </a:rPr>
              <a:t>sealing </a:t>
            </a:r>
            <a:r>
              <a:rPr dirty="0" sz="1500">
                <a:latin typeface="Arial"/>
                <a:cs typeface="Arial"/>
              </a:rPr>
              <a:t>material </a:t>
            </a:r>
            <a:r>
              <a:rPr dirty="0" sz="1500" spc="-5">
                <a:latin typeface="Arial"/>
                <a:cs typeface="Arial"/>
              </a:rPr>
              <a:t>in </a:t>
            </a:r>
            <a:r>
              <a:rPr dirty="0" sz="1500" spc="5">
                <a:latin typeface="Arial"/>
                <a:cs typeface="Arial"/>
              </a:rPr>
              <a:t>search </a:t>
            </a:r>
            <a:r>
              <a:rPr dirty="0" sz="1500">
                <a:latin typeface="Arial"/>
                <a:cs typeface="Arial"/>
              </a:rPr>
              <a:t>light </a:t>
            </a:r>
            <a:r>
              <a:rPr dirty="0" sz="1500" spc="5">
                <a:latin typeface="Arial"/>
                <a:cs typeface="Arial"/>
              </a:rPr>
              <a:t>in </a:t>
            </a:r>
            <a:r>
              <a:rPr dirty="0" sz="1500">
                <a:latin typeface="Arial"/>
                <a:cs typeface="Arial"/>
              </a:rPr>
              <a:t>aircraft</a:t>
            </a:r>
            <a:r>
              <a:rPr dirty="0" sz="1500" spc="-1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engines.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For insulating the electrical wiring </a:t>
            </a:r>
            <a:r>
              <a:rPr dirty="0" sz="1500" spc="-5">
                <a:latin typeface="Arial"/>
                <a:cs typeface="Arial"/>
              </a:rPr>
              <a:t>in </a:t>
            </a:r>
            <a:r>
              <a:rPr dirty="0" sz="1500">
                <a:latin typeface="Arial"/>
                <a:cs typeface="Arial"/>
              </a:rPr>
              <a:t>ships</a:t>
            </a:r>
            <a:r>
              <a:rPr dirty="0" sz="1500" spc="-9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 spc="-10">
                <a:latin typeface="Arial"/>
                <a:cs typeface="Arial"/>
              </a:rPr>
              <a:t>An </a:t>
            </a:r>
            <a:r>
              <a:rPr dirty="0" sz="1500">
                <a:latin typeface="Arial"/>
                <a:cs typeface="Arial"/>
              </a:rPr>
              <a:t>adhesive </a:t>
            </a:r>
            <a:r>
              <a:rPr dirty="0" sz="1500" spc="5">
                <a:latin typeface="Arial"/>
                <a:cs typeface="Arial"/>
              </a:rPr>
              <a:t>in </a:t>
            </a:r>
            <a:r>
              <a:rPr dirty="0" sz="1500">
                <a:latin typeface="Arial"/>
                <a:cs typeface="Arial"/>
              </a:rPr>
              <a:t>electronics industry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For making artificial </a:t>
            </a:r>
            <a:r>
              <a:rPr dirty="0" sz="1500" spc="5">
                <a:latin typeface="Arial"/>
                <a:cs typeface="Arial"/>
              </a:rPr>
              <a:t>heart </a:t>
            </a:r>
            <a:r>
              <a:rPr dirty="0" sz="1500" spc="-5">
                <a:latin typeface="Arial"/>
                <a:cs typeface="Arial"/>
              </a:rPr>
              <a:t>valves </a:t>
            </a:r>
            <a:r>
              <a:rPr dirty="0" sz="1500">
                <a:latin typeface="Arial"/>
                <a:cs typeface="Arial"/>
              </a:rPr>
              <a:t>, transfusion tubing and </a:t>
            </a:r>
            <a:r>
              <a:rPr dirty="0" sz="1500" spc="5">
                <a:latin typeface="Arial"/>
                <a:cs typeface="Arial"/>
              </a:rPr>
              <a:t>padding </a:t>
            </a:r>
            <a:r>
              <a:rPr dirty="0" sz="1500">
                <a:latin typeface="Arial"/>
                <a:cs typeface="Arial"/>
              </a:rPr>
              <a:t>for plastic</a:t>
            </a:r>
            <a:r>
              <a:rPr dirty="0" sz="1500" spc="-170">
                <a:latin typeface="Arial"/>
                <a:cs typeface="Arial"/>
              </a:rPr>
              <a:t> </a:t>
            </a:r>
            <a:r>
              <a:rPr dirty="0" sz="1500" spc="-15">
                <a:latin typeface="Arial"/>
                <a:cs typeface="Arial"/>
              </a:rPr>
              <a:t>surgery.</a:t>
            </a:r>
            <a:endParaRPr sz="15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0"/>
              </a:spcBef>
              <a:buAutoNum type="arabicPeriod"/>
              <a:tabLst>
                <a:tab pos="342265" algn="l"/>
                <a:tab pos="342900" algn="l"/>
              </a:tabLst>
            </a:pPr>
            <a:r>
              <a:rPr dirty="0" sz="1500">
                <a:latin typeface="Arial"/>
                <a:cs typeface="Arial"/>
              </a:rPr>
              <a:t>For manufacturing of tires for fighter</a:t>
            </a:r>
            <a:r>
              <a:rPr dirty="0" sz="1500" spc="-1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aircrafts.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586" y="6861366"/>
            <a:ext cx="3465829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latin typeface="Arial"/>
                <a:cs typeface="Arial"/>
              </a:rPr>
              <a:t>Notes </a:t>
            </a:r>
            <a:r>
              <a:rPr dirty="0" sz="1600" spc="-15">
                <a:latin typeface="Arial"/>
                <a:cs typeface="Arial"/>
              </a:rPr>
              <a:t>by: </a:t>
            </a:r>
            <a:r>
              <a:rPr dirty="0" sz="1600" spc="-5">
                <a:latin typeface="Arial"/>
                <a:cs typeface="Arial"/>
              </a:rPr>
              <a:t>Rupal Agme-Jadhav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(Ph.D.)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pc="75"/>
              <a:t>6</a:t>
            </a:r>
            <a:r>
              <a:rPr dirty="0" spc="75"/>
              <a:t>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577339"/>
            <a:ext cx="9144000" cy="4468495"/>
            <a:chOff x="457200" y="1577339"/>
            <a:chExt cx="9144000" cy="4468495"/>
          </a:xfrm>
        </p:grpSpPr>
        <p:sp>
          <p:nvSpPr>
            <p:cNvPr id="3" name="object 3"/>
            <p:cNvSpPr/>
            <p:nvPr/>
          </p:nvSpPr>
          <p:spPr>
            <a:xfrm>
              <a:off x="457200" y="1583435"/>
              <a:ext cx="9144000" cy="23027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85973" y="3886200"/>
              <a:ext cx="8815226" cy="215950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93153" y="983957"/>
            <a:ext cx="19418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4" b="1">
                <a:solidFill>
                  <a:srgbClr val="9E1C33"/>
                </a:solidFill>
                <a:latin typeface="Georgia"/>
                <a:cs typeface="Georgia"/>
              </a:rPr>
              <a:t>P</a:t>
            </a:r>
            <a:r>
              <a:rPr dirty="0" sz="2000" spc="-245" b="1">
                <a:solidFill>
                  <a:srgbClr val="9E1C33"/>
                </a:solidFill>
                <a:latin typeface="Georgia"/>
                <a:cs typeface="Georgia"/>
              </a:rPr>
              <a:t>O</a:t>
            </a:r>
            <a:r>
              <a:rPr dirty="0" sz="2000" spc="-495" b="1">
                <a:solidFill>
                  <a:srgbClr val="9E1C33"/>
                </a:solidFill>
                <a:latin typeface="Georgia"/>
                <a:cs typeface="Georgia"/>
              </a:rPr>
              <a:t>L</a:t>
            </a:r>
            <a:r>
              <a:rPr dirty="0" sz="2000" spc="-245" b="1">
                <a:solidFill>
                  <a:srgbClr val="9E1C33"/>
                </a:solidFill>
                <a:latin typeface="Georgia"/>
                <a:cs typeface="Georgia"/>
              </a:rPr>
              <a:t>Y</a:t>
            </a:r>
            <a:r>
              <a:rPr dirty="0" sz="2000" spc="-330" b="1">
                <a:solidFill>
                  <a:srgbClr val="9E1C33"/>
                </a:solidFill>
                <a:latin typeface="Georgia"/>
                <a:cs typeface="Georgia"/>
              </a:rPr>
              <a:t>U</a:t>
            </a:r>
            <a:r>
              <a:rPr dirty="0" sz="2000" spc="-275" b="1">
                <a:solidFill>
                  <a:srgbClr val="9E1C33"/>
                </a:solidFill>
                <a:latin typeface="Georgia"/>
                <a:cs typeface="Georgia"/>
              </a:rPr>
              <a:t>R</a:t>
            </a:r>
            <a:r>
              <a:rPr dirty="0" sz="2000" spc="-285" b="1">
                <a:solidFill>
                  <a:srgbClr val="9E1C33"/>
                </a:solidFill>
                <a:latin typeface="Georgia"/>
                <a:cs typeface="Georgia"/>
              </a:rPr>
              <a:t>E</a:t>
            </a:r>
            <a:r>
              <a:rPr dirty="0" sz="2000" spc="-90" b="1">
                <a:solidFill>
                  <a:srgbClr val="9E1C33"/>
                </a:solidFill>
                <a:latin typeface="Georgia"/>
                <a:cs typeface="Georgia"/>
              </a:rPr>
              <a:t>T</a:t>
            </a:r>
            <a:r>
              <a:rPr dirty="0" sz="2000" spc="-385" b="1">
                <a:solidFill>
                  <a:srgbClr val="9E1C33"/>
                </a:solidFill>
                <a:latin typeface="Georgia"/>
                <a:cs typeface="Georgia"/>
              </a:rPr>
              <a:t>H</a:t>
            </a:r>
            <a:r>
              <a:rPr dirty="0" sz="2000" spc="-220" b="1">
                <a:solidFill>
                  <a:srgbClr val="9E1C33"/>
                </a:solidFill>
                <a:latin typeface="Georgia"/>
                <a:cs typeface="Georgia"/>
              </a:rPr>
              <a:t>A</a:t>
            </a:r>
            <a:r>
              <a:rPr dirty="0" sz="2000" spc="-320" b="1">
                <a:solidFill>
                  <a:srgbClr val="9E1C33"/>
                </a:solidFill>
                <a:latin typeface="Georgia"/>
                <a:cs typeface="Georgia"/>
              </a:rPr>
              <a:t>N</a:t>
            </a:r>
            <a:r>
              <a:rPr dirty="0" sz="2000" spc="-285" b="1">
                <a:solidFill>
                  <a:srgbClr val="9E1C33"/>
                </a:solidFill>
                <a:latin typeface="Georgia"/>
                <a:cs typeface="Georgia"/>
              </a:rPr>
              <a:t>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3439" y="6760464"/>
            <a:ext cx="6192520" cy="12700"/>
          </a:xfrm>
          <a:custGeom>
            <a:avLst/>
            <a:gdLst/>
            <a:ahLst/>
            <a:cxnLst/>
            <a:rect l="l" t="t" r="r" b="b"/>
            <a:pathLst>
              <a:path w="6192520" h="12700">
                <a:moveTo>
                  <a:pt x="6192012" y="12192"/>
                </a:moveTo>
                <a:lnTo>
                  <a:pt x="0" y="12192"/>
                </a:lnTo>
                <a:lnTo>
                  <a:pt x="0" y="0"/>
                </a:lnTo>
                <a:lnTo>
                  <a:pt x="6192012" y="0"/>
                </a:lnTo>
                <a:lnTo>
                  <a:pt x="6192012" y="12192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23416" y="6839711"/>
            <a:ext cx="12700" cy="360045"/>
          </a:xfrm>
          <a:custGeom>
            <a:avLst/>
            <a:gdLst/>
            <a:ahLst/>
            <a:cxnLst/>
            <a:rect l="l" t="t" r="r" b="b"/>
            <a:pathLst>
              <a:path w="12700" h="360045">
                <a:moveTo>
                  <a:pt x="12191" y="359663"/>
                </a:moveTo>
                <a:lnTo>
                  <a:pt x="0" y="359663"/>
                </a:lnTo>
                <a:lnTo>
                  <a:pt x="0" y="0"/>
                </a:lnTo>
                <a:lnTo>
                  <a:pt x="12191" y="0"/>
                </a:lnTo>
                <a:lnTo>
                  <a:pt x="12191" y="359663"/>
                </a:lnTo>
                <a:close/>
              </a:path>
            </a:pathLst>
          </a:custGeom>
          <a:solidFill>
            <a:srgbClr val="0C0C0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11415" y="6338772"/>
            <a:ext cx="1762011" cy="731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64586" y="6861366"/>
            <a:ext cx="824230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latin typeface="Arial"/>
                <a:cs typeface="Arial"/>
              </a:rPr>
              <a:t>Notes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by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3779" y="6880117"/>
            <a:ext cx="224154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7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3" name="object 3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53440" y="6760464"/>
              <a:ext cx="6192520" cy="12700"/>
            </a:xfrm>
            <a:custGeom>
              <a:avLst/>
              <a:gdLst/>
              <a:ahLst/>
              <a:cxnLst/>
              <a:rect l="l" t="t" r="r" b="b"/>
              <a:pathLst>
                <a:path w="6192520" h="12700">
                  <a:moveTo>
                    <a:pt x="6192012" y="12192"/>
                  </a:moveTo>
                  <a:lnTo>
                    <a:pt x="0" y="12192"/>
                  </a:lnTo>
                  <a:lnTo>
                    <a:pt x="0" y="0"/>
                  </a:lnTo>
                  <a:lnTo>
                    <a:pt x="6192012" y="0"/>
                  </a:lnTo>
                  <a:lnTo>
                    <a:pt x="6192012" y="12192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23416" y="6839711"/>
              <a:ext cx="12700" cy="360045"/>
            </a:xfrm>
            <a:custGeom>
              <a:avLst/>
              <a:gdLst/>
              <a:ahLst/>
              <a:cxnLst/>
              <a:rect l="l" t="t" r="r" b="b"/>
              <a:pathLst>
                <a:path w="12700" h="360045">
                  <a:moveTo>
                    <a:pt x="12191" y="359663"/>
                  </a:moveTo>
                  <a:lnTo>
                    <a:pt x="0" y="359663"/>
                  </a:lnTo>
                  <a:lnTo>
                    <a:pt x="0" y="0"/>
                  </a:lnTo>
                  <a:lnTo>
                    <a:pt x="12191" y="0"/>
                  </a:lnTo>
                  <a:lnTo>
                    <a:pt x="12191" y="359663"/>
                  </a:lnTo>
                  <a:close/>
                </a:path>
              </a:pathLst>
            </a:custGeom>
            <a:solidFill>
              <a:srgbClr val="0C0C0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75355" y="1872397"/>
            <a:ext cx="7884795" cy="3582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dirty="0" sz="2900" spc="-10" b="1">
                <a:solidFill>
                  <a:srgbClr val="FF0000"/>
                </a:solidFill>
                <a:latin typeface="Times New Roman"/>
                <a:cs typeface="Times New Roman"/>
              </a:rPr>
              <a:t>Properties:</a:t>
            </a:r>
            <a:endParaRPr sz="2900">
              <a:latin typeface="Times New Roman"/>
              <a:cs typeface="Times New Roman"/>
            </a:endParaRPr>
          </a:p>
          <a:p>
            <a:pPr marL="356235" indent="-34417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356235" algn="l"/>
                <a:tab pos="356870" algn="l"/>
              </a:tabLst>
            </a:pPr>
            <a:r>
              <a:rPr dirty="0" sz="2000" spc="-5">
                <a:latin typeface="Times New Roman"/>
                <a:cs typeface="Times New Roman"/>
              </a:rPr>
              <a:t>Because </a:t>
            </a:r>
            <a:r>
              <a:rPr dirty="0" sz="2000">
                <a:latin typeface="Times New Roman"/>
                <a:cs typeface="Times New Roman"/>
              </a:rPr>
              <a:t>of </a:t>
            </a:r>
            <a:r>
              <a:rPr dirty="0" sz="2000" spc="-5">
                <a:latin typeface="Times New Roman"/>
                <a:cs typeface="Times New Roman"/>
              </a:rPr>
              <a:t>their saturated character they </a:t>
            </a:r>
            <a:r>
              <a:rPr dirty="0" sz="2000">
                <a:latin typeface="Times New Roman"/>
                <a:cs typeface="Times New Roman"/>
              </a:rPr>
              <a:t>are highly </a:t>
            </a:r>
            <a:r>
              <a:rPr dirty="0" sz="2000" spc="-5">
                <a:latin typeface="Times New Roman"/>
                <a:cs typeface="Times New Roman"/>
              </a:rPr>
              <a:t>resistant </a:t>
            </a:r>
            <a:r>
              <a:rPr dirty="0" sz="2000">
                <a:latin typeface="Times New Roman"/>
                <a:cs typeface="Times New Roman"/>
              </a:rPr>
              <a:t>to oxidation</a:t>
            </a:r>
            <a:r>
              <a:rPr dirty="0" sz="2000" spc="-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356235" indent="-344170">
              <a:lnSpc>
                <a:spcPct val="100000"/>
              </a:lnSpc>
              <a:buAutoNum type="arabicPeriod"/>
              <a:tabLst>
                <a:tab pos="356235" algn="l"/>
                <a:tab pos="356870" algn="l"/>
              </a:tabLst>
            </a:pPr>
            <a:r>
              <a:rPr dirty="0" sz="2000" spc="-5">
                <a:latin typeface="Times New Roman"/>
                <a:cs typeface="Times New Roman"/>
              </a:rPr>
              <a:t>They </a:t>
            </a:r>
            <a:r>
              <a:rPr dirty="0" sz="2000">
                <a:latin typeface="Times New Roman"/>
                <a:cs typeface="Times New Roman"/>
              </a:rPr>
              <a:t>are </a:t>
            </a:r>
            <a:r>
              <a:rPr dirty="0" sz="2000" spc="-5">
                <a:latin typeface="Times New Roman"/>
                <a:cs typeface="Times New Roman"/>
              </a:rPr>
              <a:t>less stable at elevated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temp.</a:t>
            </a:r>
            <a:endParaRPr sz="2000">
              <a:latin typeface="Times New Roman"/>
              <a:cs typeface="Times New Roman"/>
            </a:endParaRPr>
          </a:p>
          <a:p>
            <a:pPr marL="356235" indent="-344170">
              <a:lnSpc>
                <a:spcPct val="100000"/>
              </a:lnSpc>
              <a:buAutoNum type="arabicPeriod"/>
              <a:tabLst>
                <a:tab pos="356235" algn="l"/>
                <a:tab pos="356870" algn="l"/>
              </a:tabLst>
            </a:pPr>
            <a:r>
              <a:rPr dirty="0" sz="2000" spc="-5">
                <a:latin typeface="Times New Roman"/>
                <a:cs typeface="Times New Roman"/>
              </a:rPr>
              <a:t>They </a:t>
            </a:r>
            <a:r>
              <a:rPr dirty="0" sz="2000">
                <a:latin typeface="Times New Roman"/>
                <a:cs typeface="Times New Roman"/>
              </a:rPr>
              <a:t>are </a:t>
            </a:r>
            <a:r>
              <a:rPr dirty="0" sz="2000" spc="5">
                <a:latin typeface="Times New Roman"/>
                <a:cs typeface="Times New Roman"/>
              </a:rPr>
              <a:t>good </a:t>
            </a:r>
            <a:r>
              <a:rPr dirty="0" sz="2000" spc="-5">
                <a:latin typeface="Times New Roman"/>
                <a:cs typeface="Times New Roman"/>
              </a:rPr>
              <a:t>resistance </a:t>
            </a:r>
            <a:r>
              <a:rPr dirty="0" sz="2000" spc="-10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abrasion </a:t>
            </a:r>
            <a:r>
              <a:rPr dirty="0" sz="2000" spc="5">
                <a:latin typeface="Times New Roman"/>
                <a:cs typeface="Times New Roman"/>
              </a:rPr>
              <a:t>and </a:t>
            </a:r>
            <a:r>
              <a:rPr dirty="0" sz="2000" spc="-5">
                <a:latin typeface="Times New Roman"/>
                <a:cs typeface="Times New Roman"/>
              </a:rPr>
              <a:t>organic</a:t>
            </a:r>
            <a:r>
              <a:rPr dirty="0" sz="2000" spc="-1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solvents.</a:t>
            </a:r>
            <a:endParaRPr sz="2000">
              <a:latin typeface="Times New Roman"/>
              <a:cs typeface="Times New Roman"/>
            </a:endParaRPr>
          </a:p>
          <a:p>
            <a:pPr marL="356235" indent="-344170">
              <a:lnSpc>
                <a:spcPts val="2385"/>
              </a:lnSpc>
              <a:buAutoNum type="arabicPeriod"/>
              <a:tabLst>
                <a:tab pos="356235" algn="l"/>
                <a:tab pos="356870" algn="l"/>
              </a:tabLst>
            </a:pPr>
            <a:r>
              <a:rPr dirty="0" sz="2000" spc="-5">
                <a:latin typeface="Times New Roman"/>
                <a:cs typeface="Times New Roman"/>
              </a:rPr>
              <a:t>They </a:t>
            </a:r>
            <a:r>
              <a:rPr dirty="0" sz="2000">
                <a:latin typeface="Times New Roman"/>
                <a:cs typeface="Times New Roman"/>
              </a:rPr>
              <a:t>are </a:t>
            </a:r>
            <a:r>
              <a:rPr dirty="0" sz="2000" spc="-5">
                <a:latin typeface="Times New Roman"/>
                <a:cs typeface="Times New Roman"/>
              </a:rPr>
              <a:t>attacked </a:t>
            </a:r>
            <a:r>
              <a:rPr dirty="0" sz="2000">
                <a:latin typeface="Times New Roman"/>
                <a:cs typeface="Times New Roman"/>
              </a:rPr>
              <a:t>by conc. </a:t>
            </a:r>
            <a:r>
              <a:rPr dirty="0" sz="2000" spc="5">
                <a:latin typeface="Times New Roman"/>
                <a:cs typeface="Times New Roman"/>
              </a:rPr>
              <a:t>And hot </a:t>
            </a:r>
            <a:r>
              <a:rPr dirty="0" sz="2000">
                <a:latin typeface="Times New Roman"/>
                <a:cs typeface="Times New Roman"/>
              </a:rPr>
              <a:t>acids </a:t>
            </a:r>
            <a:r>
              <a:rPr dirty="0" sz="2000" spc="5">
                <a:latin typeface="Times New Roman"/>
                <a:cs typeface="Times New Roman"/>
              </a:rPr>
              <a:t>and</a:t>
            </a:r>
            <a:r>
              <a:rPr dirty="0" sz="2000" spc="-27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alkali.</a:t>
            </a:r>
            <a:endParaRPr sz="2000">
              <a:latin typeface="Times New Roman"/>
              <a:cs typeface="Times New Roman"/>
            </a:endParaRPr>
          </a:p>
          <a:p>
            <a:pPr marL="481965" indent="-469900">
              <a:lnSpc>
                <a:spcPts val="3345"/>
              </a:lnSpc>
              <a:buClr>
                <a:srgbClr val="000000"/>
              </a:buClr>
              <a:buSzPct val="71428"/>
              <a:buFont typeface="Arial"/>
              <a:buChar char="•"/>
              <a:tabLst>
                <a:tab pos="481965" algn="l"/>
                <a:tab pos="482600" algn="l"/>
              </a:tabLst>
            </a:pP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Uses:</a:t>
            </a:r>
            <a:endParaRPr sz="2800">
              <a:latin typeface="Times New Roman"/>
              <a:cs typeface="Times New Roman"/>
            </a:endParaRPr>
          </a:p>
          <a:p>
            <a:pPr marL="356235" indent="-344170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356235" algn="l"/>
                <a:tab pos="356870" algn="l"/>
              </a:tabLst>
            </a:pPr>
            <a:r>
              <a:rPr dirty="0" sz="2000" spc="-5">
                <a:latin typeface="Times New Roman"/>
                <a:cs typeface="Times New Roman"/>
              </a:rPr>
              <a:t>Used as substitute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15">
                <a:latin typeface="Times New Roman"/>
                <a:cs typeface="Times New Roman"/>
              </a:rPr>
              <a:t>leather.</a:t>
            </a:r>
            <a:endParaRPr sz="2000">
              <a:latin typeface="Times New Roman"/>
              <a:cs typeface="Times New Roman"/>
            </a:endParaRPr>
          </a:p>
          <a:p>
            <a:pPr marL="356235" indent="-344170">
              <a:lnSpc>
                <a:spcPct val="100000"/>
              </a:lnSpc>
              <a:buAutoNum type="arabicPeriod"/>
              <a:tabLst>
                <a:tab pos="356235" algn="l"/>
                <a:tab pos="356870" algn="l"/>
              </a:tabLst>
            </a:pPr>
            <a:r>
              <a:rPr dirty="0" sz="2000" spc="-5">
                <a:latin typeface="Times New Roman"/>
                <a:cs typeface="Times New Roman"/>
              </a:rPr>
              <a:t>Used </a:t>
            </a:r>
            <a:r>
              <a:rPr dirty="0" sz="2000">
                <a:latin typeface="Times New Roman"/>
                <a:cs typeface="Times New Roman"/>
              </a:rPr>
              <a:t>to </a:t>
            </a:r>
            <a:r>
              <a:rPr dirty="0" sz="2000" spc="5">
                <a:latin typeface="Times New Roman"/>
                <a:cs typeface="Times New Roman"/>
              </a:rPr>
              <a:t>produce </a:t>
            </a:r>
            <a:r>
              <a:rPr dirty="0" sz="2000" spc="-5">
                <a:latin typeface="Times New Roman"/>
                <a:cs typeface="Times New Roman"/>
              </a:rPr>
              <a:t>gaskets, and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Times New Roman"/>
                <a:cs typeface="Times New Roman"/>
              </a:rPr>
              <a:t>seals.</a:t>
            </a:r>
            <a:endParaRPr sz="2000">
              <a:latin typeface="Times New Roman"/>
              <a:cs typeface="Times New Roman"/>
            </a:endParaRPr>
          </a:p>
          <a:p>
            <a:pPr marL="355600" marR="135255" indent="-342900">
              <a:lnSpc>
                <a:spcPct val="80000"/>
              </a:lnSpc>
              <a:spcBef>
                <a:spcPts val="480"/>
              </a:spcBef>
              <a:buAutoNum type="arabicPeriod"/>
              <a:tabLst>
                <a:tab pos="356235" algn="l"/>
                <a:tab pos="356870" algn="l"/>
              </a:tabLst>
            </a:pPr>
            <a:r>
              <a:rPr dirty="0" sz="2000" spc="-5">
                <a:latin typeface="Times New Roman"/>
                <a:cs typeface="Times New Roman"/>
              </a:rPr>
              <a:t>Resilient </a:t>
            </a:r>
            <a:r>
              <a:rPr dirty="0" sz="2000">
                <a:latin typeface="Times New Roman"/>
                <a:cs typeface="Times New Roman"/>
              </a:rPr>
              <a:t>polyurethane </a:t>
            </a:r>
            <a:r>
              <a:rPr dirty="0" sz="2000" spc="-5">
                <a:latin typeface="Times New Roman"/>
                <a:cs typeface="Times New Roman"/>
              </a:rPr>
              <a:t>fibres are used </a:t>
            </a:r>
            <a:r>
              <a:rPr dirty="0" sz="2000">
                <a:latin typeface="Times New Roman"/>
                <a:cs typeface="Times New Roman"/>
              </a:rPr>
              <a:t>for foundation </a:t>
            </a:r>
            <a:r>
              <a:rPr dirty="0" sz="2000" spc="-5">
                <a:latin typeface="Times New Roman"/>
                <a:cs typeface="Times New Roman"/>
              </a:rPr>
              <a:t>garments </a:t>
            </a:r>
            <a:r>
              <a:rPr dirty="0" sz="2000" spc="5">
                <a:latin typeface="Times New Roman"/>
                <a:cs typeface="Times New Roman"/>
              </a:rPr>
              <a:t>and</a:t>
            </a:r>
            <a:r>
              <a:rPr dirty="0" sz="2000" spc="-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swim  </a:t>
            </a:r>
            <a:r>
              <a:rPr dirty="0" sz="2000" spc="-5">
                <a:latin typeface="Times New Roman"/>
                <a:cs typeface="Times New Roman"/>
              </a:rPr>
              <a:t>suits.</a:t>
            </a:r>
            <a:endParaRPr sz="2000">
              <a:latin typeface="Times New Roman"/>
              <a:cs typeface="Times New Roman"/>
            </a:endParaRPr>
          </a:p>
          <a:p>
            <a:pPr marL="356235" indent="-344170">
              <a:lnSpc>
                <a:spcPct val="100000"/>
              </a:lnSpc>
              <a:buAutoNum type="arabicPeriod"/>
              <a:tabLst>
                <a:tab pos="356235" algn="l"/>
                <a:tab pos="356870" algn="l"/>
                <a:tab pos="4593590" algn="l"/>
              </a:tabLst>
            </a:pPr>
            <a:r>
              <a:rPr dirty="0" sz="2000" spc="-5">
                <a:latin typeface="Times New Roman"/>
                <a:cs typeface="Times New Roman"/>
              </a:rPr>
              <a:t>Used as </a:t>
            </a:r>
            <a:r>
              <a:rPr dirty="0" sz="2000">
                <a:latin typeface="Times New Roman"/>
                <a:cs typeface="Times New Roman"/>
              </a:rPr>
              <a:t>adhesive , </a:t>
            </a:r>
            <a:r>
              <a:rPr dirty="0" sz="2000" spc="-5">
                <a:latin typeface="Times New Roman"/>
                <a:cs typeface="Times New Roman"/>
              </a:rPr>
              <a:t>coatings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films,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foams	</a:t>
            </a:r>
            <a:r>
              <a:rPr dirty="0" sz="2000" spc="-5"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pc="-5"/>
              <a:t>Notes </a:t>
            </a:r>
            <a:r>
              <a:rPr dirty="0" spc="-15"/>
              <a:t>by: </a:t>
            </a:r>
            <a:r>
              <a:rPr dirty="0" spc="-5"/>
              <a:t>Mrs. Rupal Agme-Jadhav</a:t>
            </a:r>
            <a:r>
              <a:rPr dirty="0" spc="-20"/>
              <a:t> </a:t>
            </a:r>
            <a:r>
              <a:rPr dirty="0" spc="-5"/>
              <a:t>(Ph.D.)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3779" y="6880117"/>
            <a:ext cx="224154" cy="2349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00" spc="80">
                <a:solidFill>
                  <a:srgbClr val="3F3F3F"/>
                </a:solidFill>
                <a:latin typeface="Times New Roman"/>
                <a:cs typeface="Times New Roman"/>
              </a:rPr>
              <a:t>7</a:t>
            </a:r>
            <a:r>
              <a:rPr dirty="0" sz="1400" spc="75">
                <a:solidFill>
                  <a:srgbClr val="3F3F3F"/>
                </a:solidFill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457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3429000"/>
                </a:lnTo>
                <a:close/>
              </a:path>
            </a:pathLst>
          </a:custGeom>
          <a:solidFill>
            <a:srgbClr val="9E1C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0364" y="3515410"/>
            <a:ext cx="23164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3600" spc="-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95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9E1C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45452" y="6039611"/>
              <a:ext cx="2555748" cy="12755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Microsoft PowerPoint - FE_APPLIED_CHEMISTRY_-I_POLYMER_L-2_Rupal Agme-Jadhav [Compatibility Mode]</dc:title>
  <dcterms:created xsi:type="dcterms:W3CDTF">2020-01-10T05:36:11Z</dcterms:created>
  <dcterms:modified xsi:type="dcterms:W3CDTF">2020-01-10T05:36:11Z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2017-10-23T00:00:00Z</vt:filetime>
  </property>
  <property fmtid="{D5CDD505-2E9C-101B-9397-08002B2CF9AE}" pid="3" name="LastSaved">
    <vt:filetime>2020-01-10T00:00:00Z</vt:filetime>
  </property>
</Properties>
</file>